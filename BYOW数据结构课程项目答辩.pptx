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12192000"/>
  <p:embeddedFontLst>
    <p:embeddedFont>
      <p:font typeface="MiSans" pitchFamily="34" charset="-122"/>
      <p:regular r:id="rId34"/>
    </p:embeddedFont>
    <p:embeddedFont>
      <p:font typeface="MiSans" pitchFamily="34" charset="-120"/>
      <p:regular r:id="rId35"/>
    </p:embeddedFont>
    <p:embeddedFont>
      <p:font typeface="阿里妈妈数黑体" pitchFamily="34" charset="-122"/>
      <p:bold r:id="rId36"/>
    </p:embeddedFont>
    <p:embeddedFont>
      <p:font typeface="阿里妈妈数黑体" pitchFamily="34" charset="-120"/>
      <p:bold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  <p:embeddedFont>
      <p:font typeface="Liter" panose="02000503030000020004" pitchFamily="34" charset="0"/>
      <p:regular r:id="rId42"/>
    </p:embeddedFont>
    <p:embeddedFont>
      <p:font typeface="Liter" panose="02000503030000020004" pitchFamily="34" charset="-122"/>
      <p:regular r:id="rId43"/>
    </p:embeddedFont>
    <p:embeddedFont>
      <p:font typeface="Liter" panose="02000503030000020004" pitchFamily="34" charset="-120"/>
      <p:regular r:id="rId4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17.svg"/><Relationship Id="rId16" Type="http://schemas.openxmlformats.org/officeDocument/2006/relationships/image" Target="../media/image16.sv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svg"/><Relationship Id="rId7" Type="http://schemas.openxmlformats.org/officeDocument/2006/relationships/image" Target="../media/image48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58.png"/><Relationship Id="rId16" Type="http://schemas.openxmlformats.org/officeDocument/2006/relationships/image" Target="../media/image57.svg"/><Relationship Id="rId15" Type="http://schemas.openxmlformats.org/officeDocument/2006/relationships/image" Target="../media/image56.png"/><Relationship Id="rId14" Type="http://schemas.openxmlformats.org/officeDocument/2006/relationships/image" Target="../media/image55.svg"/><Relationship Id="rId13" Type="http://schemas.openxmlformats.org/officeDocument/2006/relationships/image" Target="../media/image54.png"/><Relationship Id="rId12" Type="http://schemas.openxmlformats.org/officeDocument/2006/relationships/image" Target="../media/image53.svg"/><Relationship Id="rId11" Type="http://schemas.openxmlformats.org/officeDocument/2006/relationships/image" Target="../media/image52.png"/><Relationship Id="rId10" Type="http://schemas.openxmlformats.org/officeDocument/2006/relationships/image" Target="../media/image51.svg"/><Relationship Id="rId1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svg"/><Relationship Id="rId7" Type="http://schemas.openxmlformats.org/officeDocument/2006/relationships/image" Target="../media/image48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58.png"/><Relationship Id="rId16" Type="http://schemas.openxmlformats.org/officeDocument/2006/relationships/image" Target="../media/image57.svg"/><Relationship Id="rId15" Type="http://schemas.openxmlformats.org/officeDocument/2006/relationships/image" Target="../media/image56.png"/><Relationship Id="rId14" Type="http://schemas.openxmlformats.org/officeDocument/2006/relationships/image" Target="../media/image55.svg"/><Relationship Id="rId13" Type="http://schemas.openxmlformats.org/officeDocument/2006/relationships/image" Target="../media/image54.png"/><Relationship Id="rId12" Type="http://schemas.openxmlformats.org/officeDocument/2006/relationships/image" Target="../media/image53.svg"/><Relationship Id="rId11" Type="http://schemas.openxmlformats.org/officeDocument/2006/relationships/image" Target="../media/image52.png"/><Relationship Id="rId10" Type="http://schemas.openxmlformats.org/officeDocument/2006/relationships/image" Target="../media/image51.svg"/><Relationship Id="rId1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7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9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image" Target="../media/image39.sv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svg"/><Relationship Id="rId7" Type="http://schemas.openxmlformats.org/officeDocument/2006/relationships/image" Target="../media/image48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0" Type="http://schemas.openxmlformats.org/officeDocument/2006/relationships/notesSlide" Target="../notesSlides/notesSlide10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58.png"/><Relationship Id="rId16" Type="http://schemas.openxmlformats.org/officeDocument/2006/relationships/image" Target="../media/image57.svg"/><Relationship Id="rId15" Type="http://schemas.openxmlformats.org/officeDocument/2006/relationships/image" Target="../media/image56.png"/><Relationship Id="rId14" Type="http://schemas.openxmlformats.org/officeDocument/2006/relationships/image" Target="../media/image55.svg"/><Relationship Id="rId13" Type="http://schemas.openxmlformats.org/officeDocument/2006/relationships/image" Target="../media/image54.png"/><Relationship Id="rId12" Type="http://schemas.openxmlformats.org/officeDocument/2006/relationships/image" Target="../media/image53.svg"/><Relationship Id="rId11" Type="http://schemas.openxmlformats.org/officeDocument/2006/relationships/image" Target="../media/image52.png"/><Relationship Id="rId10" Type="http://schemas.openxmlformats.org/officeDocument/2006/relationships/image" Target="../media/image51.svg"/><Relationship Id="rId1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63.png"/><Relationship Id="rId7" Type="http://schemas.openxmlformats.org/officeDocument/2006/relationships/image" Target="../media/image25.svg"/><Relationship Id="rId6" Type="http://schemas.openxmlformats.org/officeDocument/2006/relationships/image" Target="../media/image62.png"/><Relationship Id="rId5" Type="http://schemas.openxmlformats.org/officeDocument/2006/relationships/image" Target="../media/image23.svg"/><Relationship Id="rId4" Type="http://schemas.openxmlformats.org/officeDocument/2006/relationships/image" Target="../media/image61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70.png"/><Relationship Id="rId21" Type="http://schemas.openxmlformats.org/officeDocument/2006/relationships/image" Target="../media/image39.svg"/><Relationship Id="rId20" Type="http://schemas.openxmlformats.org/officeDocument/2006/relationships/image" Target="../media/image69.png"/><Relationship Id="rId2" Type="http://schemas.openxmlformats.org/officeDocument/2006/relationships/image" Target="../media/image60.png"/><Relationship Id="rId19" Type="http://schemas.openxmlformats.org/officeDocument/2006/relationships/image" Target="../media/image37.svg"/><Relationship Id="rId18" Type="http://schemas.openxmlformats.org/officeDocument/2006/relationships/image" Target="../media/image68.png"/><Relationship Id="rId17" Type="http://schemas.openxmlformats.org/officeDocument/2006/relationships/image" Target="../media/image35.svg"/><Relationship Id="rId16" Type="http://schemas.openxmlformats.org/officeDocument/2006/relationships/image" Target="../media/image67.png"/><Relationship Id="rId15" Type="http://schemas.openxmlformats.org/officeDocument/2006/relationships/image" Target="../media/image33.svg"/><Relationship Id="rId14" Type="http://schemas.openxmlformats.org/officeDocument/2006/relationships/image" Target="../media/image66.png"/><Relationship Id="rId13" Type="http://schemas.openxmlformats.org/officeDocument/2006/relationships/image" Target="../media/image31.svg"/><Relationship Id="rId12" Type="http://schemas.openxmlformats.org/officeDocument/2006/relationships/image" Target="../media/image65.png"/><Relationship Id="rId11" Type="http://schemas.openxmlformats.org/officeDocument/2006/relationships/image" Target="../media/image29.svg"/><Relationship Id="rId10" Type="http://schemas.openxmlformats.org/officeDocument/2006/relationships/image" Target="../media/image64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74.png"/><Relationship Id="rId7" Type="http://schemas.openxmlformats.org/officeDocument/2006/relationships/image" Target="../media/image25.svg"/><Relationship Id="rId6" Type="http://schemas.openxmlformats.org/officeDocument/2006/relationships/image" Target="../media/image73.png"/><Relationship Id="rId5" Type="http://schemas.openxmlformats.org/officeDocument/2006/relationships/image" Target="../media/image23.svg"/><Relationship Id="rId4" Type="http://schemas.openxmlformats.org/officeDocument/2006/relationships/image" Target="../media/image72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81.png"/><Relationship Id="rId21" Type="http://schemas.openxmlformats.org/officeDocument/2006/relationships/image" Target="../media/image39.svg"/><Relationship Id="rId20" Type="http://schemas.openxmlformats.org/officeDocument/2006/relationships/image" Target="../media/image80.png"/><Relationship Id="rId2" Type="http://schemas.openxmlformats.org/officeDocument/2006/relationships/image" Target="../media/image71.png"/><Relationship Id="rId19" Type="http://schemas.openxmlformats.org/officeDocument/2006/relationships/image" Target="../media/image37.svg"/><Relationship Id="rId18" Type="http://schemas.openxmlformats.org/officeDocument/2006/relationships/image" Target="../media/image79.png"/><Relationship Id="rId17" Type="http://schemas.openxmlformats.org/officeDocument/2006/relationships/image" Target="../media/image35.svg"/><Relationship Id="rId16" Type="http://schemas.openxmlformats.org/officeDocument/2006/relationships/image" Target="../media/image78.png"/><Relationship Id="rId15" Type="http://schemas.openxmlformats.org/officeDocument/2006/relationships/image" Target="../media/image33.svg"/><Relationship Id="rId14" Type="http://schemas.openxmlformats.org/officeDocument/2006/relationships/image" Target="../media/image77.png"/><Relationship Id="rId13" Type="http://schemas.openxmlformats.org/officeDocument/2006/relationships/image" Target="../media/image31.svg"/><Relationship Id="rId12" Type="http://schemas.openxmlformats.org/officeDocument/2006/relationships/image" Target="../media/image76.png"/><Relationship Id="rId11" Type="http://schemas.openxmlformats.org/officeDocument/2006/relationships/image" Target="../media/image29.svg"/><Relationship Id="rId10" Type="http://schemas.openxmlformats.org/officeDocument/2006/relationships/image" Target="../media/image75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85.png"/><Relationship Id="rId7" Type="http://schemas.openxmlformats.org/officeDocument/2006/relationships/image" Target="../media/image25.svg"/><Relationship Id="rId6" Type="http://schemas.openxmlformats.org/officeDocument/2006/relationships/image" Target="../media/image84.png"/><Relationship Id="rId5" Type="http://schemas.openxmlformats.org/officeDocument/2006/relationships/image" Target="../media/image23.svg"/><Relationship Id="rId4" Type="http://schemas.openxmlformats.org/officeDocument/2006/relationships/image" Target="../media/image83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3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92.png"/><Relationship Id="rId21" Type="http://schemas.openxmlformats.org/officeDocument/2006/relationships/image" Target="../media/image39.svg"/><Relationship Id="rId20" Type="http://schemas.openxmlformats.org/officeDocument/2006/relationships/image" Target="../media/image91.png"/><Relationship Id="rId2" Type="http://schemas.openxmlformats.org/officeDocument/2006/relationships/image" Target="../media/image82.png"/><Relationship Id="rId19" Type="http://schemas.openxmlformats.org/officeDocument/2006/relationships/image" Target="../media/image37.svg"/><Relationship Id="rId18" Type="http://schemas.openxmlformats.org/officeDocument/2006/relationships/image" Target="../media/image90.png"/><Relationship Id="rId17" Type="http://schemas.openxmlformats.org/officeDocument/2006/relationships/image" Target="../media/image35.svg"/><Relationship Id="rId16" Type="http://schemas.openxmlformats.org/officeDocument/2006/relationships/image" Target="../media/image89.png"/><Relationship Id="rId15" Type="http://schemas.openxmlformats.org/officeDocument/2006/relationships/image" Target="../media/image33.svg"/><Relationship Id="rId14" Type="http://schemas.openxmlformats.org/officeDocument/2006/relationships/image" Target="../media/image88.png"/><Relationship Id="rId13" Type="http://schemas.openxmlformats.org/officeDocument/2006/relationships/image" Target="../media/image31.svg"/><Relationship Id="rId12" Type="http://schemas.openxmlformats.org/officeDocument/2006/relationships/image" Target="../media/image87.png"/><Relationship Id="rId11" Type="http://schemas.openxmlformats.org/officeDocument/2006/relationships/image" Target="../media/image29.svg"/><Relationship Id="rId10" Type="http://schemas.openxmlformats.org/officeDocument/2006/relationships/image" Target="../media/image86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96.png"/><Relationship Id="rId7" Type="http://schemas.openxmlformats.org/officeDocument/2006/relationships/image" Target="../media/image25.svg"/><Relationship Id="rId6" Type="http://schemas.openxmlformats.org/officeDocument/2006/relationships/image" Target="../media/image95.png"/><Relationship Id="rId5" Type="http://schemas.openxmlformats.org/officeDocument/2006/relationships/image" Target="../media/image23.svg"/><Relationship Id="rId4" Type="http://schemas.openxmlformats.org/officeDocument/2006/relationships/image" Target="../media/image94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4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03.png"/><Relationship Id="rId21" Type="http://schemas.openxmlformats.org/officeDocument/2006/relationships/image" Target="../media/image39.svg"/><Relationship Id="rId20" Type="http://schemas.openxmlformats.org/officeDocument/2006/relationships/image" Target="../media/image102.png"/><Relationship Id="rId2" Type="http://schemas.openxmlformats.org/officeDocument/2006/relationships/image" Target="../media/image93.png"/><Relationship Id="rId19" Type="http://schemas.openxmlformats.org/officeDocument/2006/relationships/image" Target="../media/image37.svg"/><Relationship Id="rId18" Type="http://schemas.openxmlformats.org/officeDocument/2006/relationships/image" Target="../media/image101.png"/><Relationship Id="rId17" Type="http://schemas.openxmlformats.org/officeDocument/2006/relationships/image" Target="../media/image35.svg"/><Relationship Id="rId16" Type="http://schemas.openxmlformats.org/officeDocument/2006/relationships/image" Target="../media/image100.png"/><Relationship Id="rId15" Type="http://schemas.openxmlformats.org/officeDocument/2006/relationships/image" Target="../media/image33.svg"/><Relationship Id="rId14" Type="http://schemas.openxmlformats.org/officeDocument/2006/relationships/image" Target="../media/image99.png"/><Relationship Id="rId13" Type="http://schemas.openxmlformats.org/officeDocument/2006/relationships/image" Target="../media/image31.svg"/><Relationship Id="rId12" Type="http://schemas.openxmlformats.org/officeDocument/2006/relationships/image" Target="../media/image98.png"/><Relationship Id="rId11" Type="http://schemas.openxmlformats.org/officeDocument/2006/relationships/image" Target="../media/image29.svg"/><Relationship Id="rId10" Type="http://schemas.openxmlformats.org/officeDocument/2006/relationships/image" Target="../media/image97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png"/><Relationship Id="rId8" Type="http://schemas.openxmlformats.org/officeDocument/2006/relationships/image" Target="../media/image49.svg"/><Relationship Id="rId7" Type="http://schemas.openxmlformats.org/officeDocument/2006/relationships/image" Target="../media/image107.png"/><Relationship Id="rId6" Type="http://schemas.openxmlformats.org/officeDocument/2006/relationships/image" Target="../media/image47.svg"/><Relationship Id="rId5" Type="http://schemas.openxmlformats.org/officeDocument/2006/relationships/image" Target="../media/image106.png"/><Relationship Id="rId4" Type="http://schemas.openxmlformats.org/officeDocument/2006/relationships/image" Target="../media/image45.svg"/><Relationship Id="rId3" Type="http://schemas.openxmlformats.org/officeDocument/2006/relationships/image" Target="../media/image105.png"/><Relationship Id="rId20" Type="http://schemas.openxmlformats.org/officeDocument/2006/relationships/notesSlide" Target="../notesSlides/notesSlide15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112.png"/><Relationship Id="rId16" Type="http://schemas.openxmlformats.org/officeDocument/2006/relationships/image" Target="../media/image57.svg"/><Relationship Id="rId15" Type="http://schemas.openxmlformats.org/officeDocument/2006/relationships/image" Target="../media/image111.png"/><Relationship Id="rId14" Type="http://schemas.openxmlformats.org/officeDocument/2006/relationships/image" Target="../media/image55.svg"/><Relationship Id="rId13" Type="http://schemas.openxmlformats.org/officeDocument/2006/relationships/image" Target="../media/image110.png"/><Relationship Id="rId12" Type="http://schemas.openxmlformats.org/officeDocument/2006/relationships/image" Target="../media/image53.svg"/><Relationship Id="rId11" Type="http://schemas.openxmlformats.org/officeDocument/2006/relationships/image" Target="../media/image109.png"/><Relationship Id="rId10" Type="http://schemas.openxmlformats.org/officeDocument/2006/relationships/image" Target="../media/image51.svg"/><Relationship Id="rId1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16.png"/><Relationship Id="rId7" Type="http://schemas.openxmlformats.org/officeDocument/2006/relationships/image" Target="../media/image25.svg"/><Relationship Id="rId6" Type="http://schemas.openxmlformats.org/officeDocument/2006/relationships/image" Target="../media/image115.png"/><Relationship Id="rId5" Type="http://schemas.openxmlformats.org/officeDocument/2006/relationships/image" Target="../media/image23.svg"/><Relationship Id="rId4" Type="http://schemas.openxmlformats.org/officeDocument/2006/relationships/image" Target="../media/image114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6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23.png"/><Relationship Id="rId21" Type="http://schemas.openxmlformats.org/officeDocument/2006/relationships/image" Target="../media/image39.svg"/><Relationship Id="rId20" Type="http://schemas.openxmlformats.org/officeDocument/2006/relationships/image" Target="../media/image122.png"/><Relationship Id="rId2" Type="http://schemas.openxmlformats.org/officeDocument/2006/relationships/image" Target="../media/image113.png"/><Relationship Id="rId19" Type="http://schemas.openxmlformats.org/officeDocument/2006/relationships/image" Target="../media/image37.svg"/><Relationship Id="rId18" Type="http://schemas.openxmlformats.org/officeDocument/2006/relationships/image" Target="../media/image121.png"/><Relationship Id="rId17" Type="http://schemas.openxmlformats.org/officeDocument/2006/relationships/image" Target="../media/image35.svg"/><Relationship Id="rId16" Type="http://schemas.openxmlformats.org/officeDocument/2006/relationships/image" Target="../media/image120.png"/><Relationship Id="rId15" Type="http://schemas.openxmlformats.org/officeDocument/2006/relationships/image" Target="../media/image33.svg"/><Relationship Id="rId14" Type="http://schemas.openxmlformats.org/officeDocument/2006/relationships/image" Target="../media/image119.png"/><Relationship Id="rId13" Type="http://schemas.openxmlformats.org/officeDocument/2006/relationships/image" Target="../media/image31.svg"/><Relationship Id="rId12" Type="http://schemas.openxmlformats.org/officeDocument/2006/relationships/image" Target="../media/image118.png"/><Relationship Id="rId11" Type="http://schemas.openxmlformats.org/officeDocument/2006/relationships/image" Target="../media/image29.svg"/><Relationship Id="rId10" Type="http://schemas.openxmlformats.org/officeDocument/2006/relationships/image" Target="../media/image117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27.png"/><Relationship Id="rId7" Type="http://schemas.openxmlformats.org/officeDocument/2006/relationships/image" Target="../media/image25.svg"/><Relationship Id="rId6" Type="http://schemas.openxmlformats.org/officeDocument/2006/relationships/image" Target="../media/image126.png"/><Relationship Id="rId5" Type="http://schemas.openxmlformats.org/officeDocument/2006/relationships/image" Target="../media/image23.svg"/><Relationship Id="rId4" Type="http://schemas.openxmlformats.org/officeDocument/2006/relationships/image" Target="../media/image125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7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34.png"/><Relationship Id="rId21" Type="http://schemas.openxmlformats.org/officeDocument/2006/relationships/image" Target="../media/image39.svg"/><Relationship Id="rId20" Type="http://schemas.openxmlformats.org/officeDocument/2006/relationships/image" Target="../media/image133.png"/><Relationship Id="rId2" Type="http://schemas.openxmlformats.org/officeDocument/2006/relationships/image" Target="../media/image124.png"/><Relationship Id="rId19" Type="http://schemas.openxmlformats.org/officeDocument/2006/relationships/image" Target="../media/image37.svg"/><Relationship Id="rId18" Type="http://schemas.openxmlformats.org/officeDocument/2006/relationships/image" Target="../media/image132.png"/><Relationship Id="rId17" Type="http://schemas.openxmlformats.org/officeDocument/2006/relationships/image" Target="../media/image35.svg"/><Relationship Id="rId16" Type="http://schemas.openxmlformats.org/officeDocument/2006/relationships/image" Target="../media/image131.png"/><Relationship Id="rId15" Type="http://schemas.openxmlformats.org/officeDocument/2006/relationships/image" Target="../media/image33.svg"/><Relationship Id="rId14" Type="http://schemas.openxmlformats.org/officeDocument/2006/relationships/image" Target="../media/image130.png"/><Relationship Id="rId13" Type="http://schemas.openxmlformats.org/officeDocument/2006/relationships/image" Target="../media/image31.svg"/><Relationship Id="rId12" Type="http://schemas.openxmlformats.org/officeDocument/2006/relationships/image" Target="../media/image129.png"/><Relationship Id="rId11" Type="http://schemas.openxmlformats.org/officeDocument/2006/relationships/image" Target="../media/image29.svg"/><Relationship Id="rId10" Type="http://schemas.openxmlformats.org/officeDocument/2006/relationships/image" Target="../media/image128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image" Target="../media/image49.svg"/><Relationship Id="rId7" Type="http://schemas.openxmlformats.org/officeDocument/2006/relationships/image" Target="../media/image138.png"/><Relationship Id="rId6" Type="http://schemas.openxmlformats.org/officeDocument/2006/relationships/image" Target="../media/image47.svg"/><Relationship Id="rId5" Type="http://schemas.openxmlformats.org/officeDocument/2006/relationships/image" Target="../media/image137.png"/><Relationship Id="rId4" Type="http://schemas.openxmlformats.org/officeDocument/2006/relationships/image" Target="../media/image45.svg"/><Relationship Id="rId3" Type="http://schemas.openxmlformats.org/officeDocument/2006/relationships/image" Target="../media/image136.png"/><Relationship Id="rId20" Type="http://schemas.openxmlformats.org/officeDocument/2006/relationships/notesSlide" Target="../notesSlides/notesSlide18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143.png"/><Relationship Id="rId16" Type="http://schemas.openxmlformats.org/officeDocument/2006/relationships/image" Target="../media/image57.svg"/><Relationship Id="rId15" Type="http://schemas.openxmlformats.org/officeDocument/2006/relationships/image" Target="../media/image142.png"/><Relationship Id="rId14" Type="http://schemas.openxmlformats.org/officeDocument/2006/relationships/image" Target="../media/image55.svg"/><Relationship Id="rId13" Type="http://schemas.openxmlformats.org/officeDocument/2006/relationships/image" Target="../media/image141.png"/><Relationship Id="rId12" Type="http://schemas.openxmlformats.org/officeDocument/2006/relationships/image" Target="../media/image53.svg"/><Relationship Id="rId11" Type="http://schemas.openxmlformats.org/officeDocument/2006/relationships/image" Target="../media/image140.png"/><Relationship Id="rId10" Type="http://schemas.openxmlformats.org/officeDocument/2006/relationships/image" Target="../media/image51.svg"/><Relationship Id="rId1" Type="http://schemas.openxmlformats.org/officeDocument/2006/relationships/image" Target="../media/image13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47.png"/><Relationship Id="rId7" Type="http://schemas.openxmlformats.org/officeDocument/2006/relationships/image" Target="../media/image25.svg"/><Relationship Id="rId6" Type="http://schemas.openxmlformats.org/officeDocument/2006/relationships/image" Target="../media/image146.png"/><Relationship Id="rId5" Type="http://schemas.openxmlformats.org/officeDocument/2006/relationships/image" Target="../media/image23.svg"/><Relationship Id="rId4" Type="http://schemas.openxmlformats.org/officeDocument/2006/relationships/image" Target="../media/image145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19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54.png"/><Relationship Id="rId21" Type="http://schemas.openxmlformats.org/officeDocument/2006/relationships/image" Target="../media/image39.svg"/><Relationship Id="rId20" Type="http://schemas.openxmlformats.org/officeDocument/2006/relationships/image" Target="../media/image153.png"/><Relationship Id="rId2" Type="http://schemas.openxmlformats.org/officeDocument/2006/relationships/image" Target="../media/image144.png"/><Relationship Id="rId19" Type="http://schemas.openxmlformats.org/officeDocument/2006/relationships/image" Target="../media/image37.svg"/><Relationship Id="rId18" Type="http://schemas.openxmlformats.org/officeDocument/2006/relationships/image" Target="../media/image152.png"/><Relationship Id="rId17" Type="http://schemas.openxmlformats.org/officeDocument/2006/relationships/image" Target="../media/image35.svg"/><Relationship Id="rId16" Type="http://schemas.openxmlformats.org/officeDocument/2006/relationships/image" Target="../media/image151.png"/><Relationship Id="rId15" Type="http://schemas.openxmlformats.org/officeDocument/2006/relationships/image" Target="../media/image33.svg"/><Relationship Id="rId14" Type="http://schemas.openxmlformats.org/officeDocument/2006/relationships/image" Target="../media/image150.png"/><Relationship Id="rId13" Type="http://schemas.openxmlformats.org/officeDocument/2006/relationships/image" Target="../media/image31.svg"/><Relationship Id="rId12" Type="http://schemas.openxmlformats.org/officeDocument/2006/relationships/image" Target="../media/image149.png"/><Relationship Id="rId11" Type="http://schemas.openxmlformats.org/officeDocument/2006/relationships/image" Target="../media/image29.svg"/><Relationship Id="rId10" Type="http://schemas.openxmlformats.org/officeDocument/2006/relationships/image" Target="../media/image148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58.png"/><Relationship Id="rId7" Type="http://schemas.openxmlformats.org/officeDocument/2006/relationships/image" Target="../media/image25.svg"/><Relationship Id="rId6" Type="http://schemas.openxmlformats.org/officeDocument/2006/relationships/image" Target="../media/image157.png"/><Relationship Id="rId5" Type="http://schemas.openxmlformats.org/officeDocument/2006/relationships/image" Target="../media/image23.svg"/><Relationship Id="rId4" Type="http://schemas.openxmlformats.org/officeDocument/2006/relationships/image" Target="../media/image156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0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65.png"/><Relationship Id="rId21" Type="http://schemas.openxmlformats.org/officeDocument/2006/relationships/image" Target="../media/image39.svg"/><Relationship Id="rId20" Type="http://schemas.openxmlformats.org/officeDocument/2006/relationships/image" Target="../media/image164.png"/><Relationship Id="rId2" Type="http://schemas.openxmlformats.org/officeDocument/2006/relationships/image" Target="../media/image155.png"/><Relationship Id="rId19" Type="http://schemas.openxmlformats.org/officeDocument/2006/relationships/image" Target="../media/image37.svg"/><Relationship Id="rId18" Type="http://schemas.openxmlformats.org/officeDocument/2006/relationships/image" Target="../media/image163.png"/><Relationship Id="rId17" Type="http://schemas.openxmlformats.org/officeDocument/2006/relationships/image" Target="../media/image35.svg"/><Relationship Id="rId16" Type="http://schemas.openxmlformats.org/officeDocument/2006/relationships/image" Target="../media/image162.png"/><Relationship Id="rId15" Type="http://schemas.openxmlformats.org/officeDocument/2006/relationships/image" Target="../media/image33.svg"/><Relationship Id="rId14" Type="http://schemas.openxmlformats.org/officeDocument/2006/relationships/image" Target="../media/image161.png"/><Relationship Id="rId13" Type="http://schemas.openxmlformats.org/officeDocument/2006/relationships/image" Target="../media/image31.svg"/><Relationship Id="rId12" Type="http://schemas.openxmlformats.org/officeDocument/2006/relationships/image" Target="../media/image160.png"/><Relationship Id="rId11" Type="http://schemas.openxmlformats.org/officeDocument/2006/relationships/image" Target="../media/image29.svg"/><Relationship Id="rId10" Type="http://schemas.openxmlformats.org/officeDocument/2006/relationships/image" Target="../media/image159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69.png"/><Relationship Id="rId7" Type="http://schemas.openxmlformats.org/officeDocument/2006/relationships/image" Target="../media/image25.svg"/><Relationship Id="rId6" Type="http://schemas.openxmlformats.org/officeDocument/2006/relationships/image" Target="../media/image168.png"/><Relationship Id="rId5" Type="http://schemas.openxmlformats.org/officeDocument/2006/relationships/image" Target="../media/image23.svg"/><Relationship Id="rId4" Type="http://schemas.openxmlformats.org/officeDocument/2006/relationships/image" Target="../media/image167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76.png"/><Relationship Id="rId21" Type="http://schemas.openxmlformats.org/officeDocument/2006/relationships/image" Target="../media/image39.svg"/><Relationship Id="rId20" Type="http://schemas.openxmlformats.org/officeDocument/2006/relationships/image" Target="../media/image175.png"/><Relationship Id="rId2" Type="http://schemas.openxmlformats.org/officeDocument/2006/relationships/image" Target="../media/image166.png"/><Relationship Id="rId19" Type="http://schemas.openxmlformats.org/officeDocument/2006/relationships/image" Target="../media/image37.svg"/><Relationship Id="rId18" Type="http://schemas.openxmlformats.org/officeDocument/2006/relationships/image" Target="../media/image174.png"/><Relationship Id="rId17" Type="http://schemas.openxmlformats.org/officeDocument/2006/relationships/image" Target="../media/image35.svg"/><Relationship Id="rId16" Type="http://schemas.openxmlformats.org/officeDocument/2006/relationships/image" Target="../media/image173.png"/><Relationship Id="rId15" Type="http://schemas.openxmlformats.org/officeDocument/2006/relationships/image" Target="../media/image33.svg"/><Relationship Id="rId14" Type="http://schemas.openxmlformats.org/officeDocument/2006/relationships/image" Target="../media/image172.png"/><Relationship Id="rId13" Type="http://schemas.openxmlformats.org/officeDocument/2006/relationships/image" Target="../media/image31.svg"/><Relationship Id="rId12" Type="http://schemas.openxmlformats.org/officeDocument/2006/relationships/image" Target="../media/image171.png"/><Relationship Id="rId11" Type="http://schemas.openxmlformats.org/officeDocument/2006/relationships/image" Target="../media/image29.svg"/><Relationship Id="rId10" Type="http://schemas.openxmlformats.org/officeDocument/2006/relationships/image" Target="../media/image170.pn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image" Target="../media/image49.svg"/><Relationship Id="rId7" Type="http://schemas.openxmlformats.org/officeDocument/2006/relationships/image" Target="../media/image180.png"/><Relationship Id="rId6" Type="http://schemas.openxmlformats.org/officeDocument/2006/relationships/image" Target="../media/image47.svg"/><Relationship Id="rId5" Type="http://schemas.openxmlformats.org/officeDocument/2006/relationships/image" Target="../media/image179.png"/><Relationship Id="rId4" Type="http://schemas.openxmlformats.org/officeDocument/2006/relationships/image" Target="../media/image45.svg"/><Relationship Id="rId3" Type="http://schemas.openxmlformats.org/officeDocument/2006/relationships/image" Target="../media/image178.png"/><Relationship Id="rId20" Type="http://schemas.openxmlformats.org/officeDocument/2006/relationships/notesSlide" Target="../notesSlides/notesSlide22.xml"/><Relationship Id="rId2" Type="http://schemas.openxmlformats.org/officeDocument/2006/relationships/image" Target="../media/image43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59.svg"/><Relationship Id="rId17" Type="http://schemas.openxmlformats.org/officeDocument/2006/relationships/image" Target="../media/image185.png"/><Relationship Id="rId16" Type="http://schemas.openxmlformats.org/officeDocument/2006/relationships/image" Target="../media/image57.svg"/><Relationship Id="rId15" Type="http://schemas.openxmlformats.org/officeDocument/2006/relationships/image" Target="../media/image184.png"/><Relationship Id="rId14" Type="http://schemas.openxmlformats.org/officeDocument/2006/relationships/image" Target="../media/image55.svg"/><Relationship Id="rId13" Type="http://schemas.openxmlformats.org/officeDocument/2006/relationships/image" Target="../media/image183.png"/><Relationship Id="rId12" Type="http://schemas.openxmlformats.org/officeDocument/2006/relationships/image" Target="../media/image53.svg"/><Relationship Id="rId11" Type="http://schemas.openxmlformats.org/officeDocument/2006/relationships/image" Target="../media/image182.png"/><Relationship Id="rId10" Type="http://schemas.openxmlformats.org/officeDocument/2006/relationships/image" Target="../media/image51.svg"/><Relationship Id="rId1" Type="http://schemas.openxmlformats.org/officeDocument/2006/relationships/image" Target="../media/image17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89.png"/><Relationship Id="rId7" Type="http://schemas.openxmlformats.org/officeDocument/2006/relationships/image" Target="../media/image25.svg"/><Relationship Id="rId6" Type="http://schemas.openxmlformats.org/officeDocument/2006/relationships/image" Target="../media/image188.png"/><Relationship Id="rId5" Type="http://schemas.openxmlformats.org/officeDocument/2006/relationships/image" Target="../media/image23.svg"/><Relationship Id="rId4" Type="http://schemas.openxmlformats.org/officeDocument/2006/relationships/image" Target="../media/image187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3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196.png"/><Relationship Id="rId21" Type="http://schemas.openxmlformats.org/officeDocument/2006/relationships/image" Target="../media/image39.svg"/><Relationship Id="rId20" Type="http://schemas.openxmlformats.org/officeDocument/2006/relationships/image" Target="../media/image195.png"/><Relationship Id="rId2" Type="http://schemas.openxmlformats.org/officeDocument/2006/relationships/image" Target="../media/image186.png"/><Relationship Id="rId19" Type="http://schemas.openxmlformats.org/officeDocument/2006/relationships/image" Target="../media/image37.svg"/><Relationship Id="rId18" Type="http://schemas.openxmlformats.org/officeDocument/2006/relationships/image" Target="../media/image194.png"/><Relationship Id="rId17" Type="http://schemas.openxmlformats.org/officeDocument/2006/relationships/image" Target="../media/image35.svg"/><Relationship Id="rId16" Type="http://schemas.openxmlformats.org/officeDocument/2006/relationships/image" Target="../media/image193.png"/><Relationship Id="rId15" Type="http://schemas.openxmlformats.org/officeDocument/2006/relationships/image" Target="../media/image33.svg"/><Relationship Id="rId14" Type="http://schemas.openxmlformats.org/officeDocument/2006/relationships/image" Target="../media/image192.png"/><Relationship Id="rId13" Type="http://schemas.openxmlformats.org/officeDocument/2006/relationships/image" Target="../media/image31.svg"/><Relationship Id="rId12" Type="http://schemas.openxmlformats.org/officeDocument/2006/relationships/image" Target="../media/image191.png"/><Relationship Id="rId11" Type="http://schemas.openxmlformats.org/officeDocument/2006/relationships/image" Target="../media/image29.svg"/><Relationship Id="rId10" Type="http://schemas.openxmlformats.org/officeDocument/2006/relationships/image" Target="../media/image19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00.png"/><Relationship Id="rId7" Type="http://schemas.openxmlformats.org/officeDocument/2006/relationships/image" Target="../media/image25.svg"/><Relationship Id="rId6" Type="http://schemas.openxmlformats.org/officeDocument/2006/relationships/image" Target="../media/image199.png"/><Relationship Id="rId5" Type="http://schemas.openxmlformats.org/officeDocument/2006/relationships/image" Target="../media/image23.svg"/><Relationship Id="rId4" Type="http://schemas.openxmlformats.org/officeDocument/2006/relationships/image" Target="../media/image198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4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207.png"/><Relationship Id="rId21" Type="http://schemas.openxmlformats.org/officeDocument/2006/relationships/image" Target="../media/image39.svg"/><Relationship Id="rId20" Type="http://schemas.openxmlformats.org/officeDocument/2006/relationships/image" Target="../media/image206.png"/><Relationship Id="rId2" Type="http://schemas.openxmlformats.org/officeDocument/2006/relationships/image" Target="../media/image197.png"/><Relationship Id="rId19" Type="http://schemas.openxmlformats.org/officeDocument/2006/relationships/image" Target="../media/image37.svg"/><Relationship Id="rId18" Type="http://schemas.openxmlformats.org/officeDocument/2006/relationships/image" Target="../media/image205.png"/><Relationship Id="rId17" Type="http://schemas.openxmlformats.org/officeDocument/2006/relationships/image" Target="../media/image35.svg"/><Relationship Id="rId16" Type="http://schemas.openxmlformats.org/officeDocument/2006/relationships/image" Target="../media/image204.png"/><Relationship Id="rId15" Type="http://schemas.openxmlformats.org/officeDocument/2006/relationships/image" Target="../media/image33.svg"/><Relationship Id="rId14" Type="http://schemas.openxmlformats.org/officeDocument/2006/relationships/image" Target="../media/image203.png"/><Relationship Id="rId13" Type="http://schemas.openxmlformats.org/officeDocument/2006/relationships/image" Target="../media/image31.svg"/><Relationship Id="rId12" Type="http://schemas.openxmlformats.org/officeDocument/2006/relationships/image" Target="../media/image202.png"/><Relationship Id="rId11" Type="http://schemas.openxmlformats.org/officeDocument/2006/relationships/image" Target="../media/image29.svg"/><Relationship Id="rId10" Type="http://schemas.openxmlformats.org/officeDocument/2006/relationships/image" Target="../media/image201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11.png"/><Relationship Id="rId7" Type="http://schemas.openxmlformats.org/officeDocument/2006/relationships/image" Target="../media/image25.svg"/><Relationship Id="rId6" Type="http://schemas.openxmlformats.org/officeDocument/2006/relationships/image" Target="../media/image210.png"/><Relationship Id="rId5" Type="http://schemas.openxmlformats.org/officeDocument/2006/relationships/image" Target="../media/image23.svg"/><Relationship Id="rId4" Type="http://schemas.openxmlformats.org/officeDocument/2006/relationships/image" Target="../media/image209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5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218.png"/><Relationship Id="rId21" Type="http://schemas.openxmlformats.org/officeDocument/2006/relationships/image" Target="../media/image39.svg"/><Relationship Id="rId20" Type="http://schemas.openxmlformats.org/officeDocument/2006/relationships/image" Target="../media/image217.png"/><Relationship Id="rId2" Type="http://schemas.openxmlformats.org/officeDocument/2006/relationships/image" Target="../media/image208.png"/><Relationship Id="rId19" Type="http://schemas.openxmlformats.org/officeDocument/2006/relationships/image" Target="../media/image37.svg"/><Relationship Id="rId18" Type="http://schemas.openxmlformats.org/officeDocument/2006/relationships/image" Target="../media/image216.png"/><Relationship Id="rId17" Type="http://schemas.openxmlformats.org/officeDocument/2006/relationships/image" Target="../media/image35.svg"/><Relationship Id="rId16" Type="http://schemas.openxmlformats.org/officeDocument/2006/relationships/image" Target="../media/image215.png"/><Relationship Id="rId15" Type="http://schemas.openxmlformats.org/officeDocument/2006/relationships/image" Target="../media/image33.svg"/><Relationship Id="rId14" Type="http://schemas.openxmlformats.org/officeDocument/2006/relationships/image" Target="../media/image214.png"/><Relationship Id="rId13" Type="http://schemas.openxmlformats.org/officeDocument/2006/relationships/image" Target="../media/image31.svg"/><Relationship Id="rId12" Type="http://schemas.openxmlformats.org/officeDocument/2006/relationships/image" Target="../media/image213.png"/><Relationship Id="rId11" Type="http://schemas.openxmlformats.org/officeDocument/2006/relationships/image" Target="../media/image29.svg"/><Relationship Id="rId10" Type="http://schemas.openxmlformats.org/officeDocument/2006/relationships/image" Target="../media/image212.png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22.png"/><Relationship Id="rId7" Type="http://schemas.openxmlformats.org/officeDocument/2006/relationships/image" Target="../media/image25.svg"/><Relationship Id="rId6" Type="http://schemas.openxmlformats.org/officeDocument/2006/relationships/image" Target="../media/image221.png"/><Relationship Id="rId5" Type="http://schemas.openxmlformats.org/officeDocument/2006/relationships/image" Target="../media/image23.svg"/><Relationship Id="rId4" Type="http://schemas.openxmlformats.org/officeDocument/2006/relationships/image" Target="../media/image220.png"/><Relationship Id="rId3" Type="http://schemas.openxmlformats.org/officeDocument/2006/relationships/image" Target="../media/image21.svg"/><Relationship Id="rId25" Type="http://schemas.openxmlformats.org/officeDocument/2006/relationships/notesSlide" Target="../notesSlides/notesSlide26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41.svg"/><Relationship Id="rId22" Type="http://schemas.openxmlformats.org/officeDocument/2006/relationships/image" Target="../media/image229.png"/><Relationship Id="rId21" Type="http://schemas.openxmlformats.org/officeDocument/2006/relationships/image" Target="../media/image39.svg"/><Relationship Id="rId20" Type="http://schemas.openxmlformats.org/officeDocument/2006/relationships/image" Target="../media/image228.png"/><Relationship Id="rId2" Type="http://schemas.openxmlformats.org/officeDocument/2006/relationships/image" Target="../media/image219.png"/><Relationship Id="rId19" Type="http://schemas.openxmlformats.org/officeDocument/2006/relationships/image" Target="../media/image37.svg"/><Relationship Id="rId18" Type="http://schemas.openxmlformats.org/officeDocument/2006/relationships/image" Target="../media/image227.png"/><Relationship Id="rId17" Type="http://schemas.openxmlformats.org/officeDocument/2006/relationships/image" Target="../media/image35.svg"/><Relationship Id="rId16" Type="http://schemas.openxmlformats.org/officeDocument/2006/relationships/image" Target="../media/image226.png"/><Relationship Id="rId15" Type="http://schemas.openxmlformats.org/officeDocument/2006/relationships/image" Target="../media/image33.svg"/><Relationship Id="rId14" Type="http://schemas.openxmlformats.org/officeDocument/2006/relationships/image" Target="../media/image225.png"/><Relationship Id="rId13" Type="http://schemas.openxmlformats.org/officeDocument/2006/relationships/image" Target="../media/image31.svg"/><Relationship Id="rId12" Type="http://schemas.openxmlformats.org/officeDocument/2006/relationships/image" Target="../media/image224.png"/><Relationship Id="rId11" Type="http://schemas.openxmlformats.org/officeDocument/2006/relationships/image" Target="../media/image29.svg"/><Relationship Id="rId10" Type="http://schemas.openxmlformats.org/officeDocument/2006/relationships/image" Target="../media/image223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33.png"/><Relationship Id="rId7" Type="http://schemas.openxmlformats.org/officeDocument/2006/relationships/image" Target="../media/image25.svg"/><Relationship Id="rId6" Type="http://schemas.openxmlformats.org/officeDocument/2006/relationships/image" Target="../media/image232.png"/><Relationship Id="rId5" Type="http://schemas.openxmlformats.org/officeDocument/2006/relationships/image" Target="../media/image23.svg"/><Relationship Id="rId4" Type="http://schemas.openxmlformats.org/officeDocument/2006/relationships/image" Target="../media/image231.png"/><Relationship Id="rId3" Type="http://schemas.openxmlformats.org/officeDocument/2006/relationships/image" Target="../media/image21.svg"/><Relationship Id="rId26" Type="http://schemas.openxmlformats.org/officeDocument/2006/relationships/notesSlide" Target="../notesSlides/notesSlide27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41.svg"/><Relationship Id="rId23" Type="http://schemas.openxmlformats.org/officeDocument/2006/relationships/image" Target="../media/image40.png"/><Relationship Id="rId22" Type="http://schemas.openxmlformats.org/officeDocument/2006/relationships/image" Target="../media/image39.svg"/><Relationship Id="rId21" Type="http://schemas.openxmlformats.org/officeDocument/2006/relationships/image" Target="../media/image38.png"/><Relationship Id="rId20" Type="http://schemas.openxmlformats.org/officeDocument/2006/relationships/image" Target="../media/image37.svg"/><Relationship Id="rId2" Type="http://schemas.openxmlformats.org/officeDocument/2006/relationships/image" Target="../media/image230.png"/><Relationship Id="rId19" Type="http://schemas.openxmlformats.org/officeDocument/2006/relationships/image" Target="../media/image36.png"/><Relationship Id="rId18" Type="http://schemas.openxmlformats.org/officeDocument/2006/relationships/image" Target="../media/image35.svg"/><Relationship Id="rId17" Type="http://schemas.openxmlformats.org/officeDocument/2006/relationships/image" Target="../media/image34.png"/><Relationship Id="rId16" Type="http://schemas.openxmlformats.org/officeDocument/2006/relationships/image" Target="../media/image33.svg"/><Relationship Id="rId15" Type="http://schemas.openxmlformats.org/officeDocument/2006/relationships/image" Target="../media/image32.png"/><Relationship Id="rId14" Type="http://schemas.openxmlformats.org/officeDocument/2006/relationships/image" Target="../media/image31.svg"/><Relationship Id="rId13" Type="http://schemas.openxmlformats.org/officeDocument/2006/relationships/image" Target="../media/image30.png"/><Relationship Id="rId12" Type="http://schemas.openxmlformats.org/officeDocument/2006/relationships/image" Target="../media/image235.jpeg"/><Relationship Id="rId11" Type="http://schemas.openxmlformats.org/officeDocument/2006/relationships/image" Target="../media/image29.svg"/><Relationship Id="rId10" Type="http://schemas.openxmlformats.org/officeDocument/2006/relationships/image" Target="../media/image234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6-d3jov50s8jdo4os5do9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4-d3jov4gs8jdo4os5dnv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" y="4936"/>
            <a:ext cx="12191936" cy="68571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232852" y="5282081"/>
            <a:ext cx="2482837" cy="507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汇报人：Kimi AI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9232852" y="5688428"/>
            <a:ext cx="2482837" cy="507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时间：2025/08/05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54095" y="4221732"/>
            <a:ext cx="8585155" cy="1841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BYOW数据结构课程项目答辩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10-09-18:33:54-d3jov4gs8jdo4os5do10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604" y="1608647"/>
            <a:ext cx="1825071" cy="1824843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10-09-18:33:54-d3jov4gs8jdo4os5do0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619" y="476635"/>
            <a:ext cx="55375" cy="153521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10-09-18:33:54-d3jov4gs8jdo4os5do0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564" y="605617"/>
            <a:ext cx="120367" cy="157492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10-09-18:33:55-d3jov4os8jdo4os5do4g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072" y="605617"/>
            <a:ext cx="120367" cy="157492"/>
          </a:xfrm>
          <a:prstGeom prst="rect">
            <a:avLst/>
          </a:prstGeom>
        </p:spPr>
      </p:pic>
      <p:pic>
        <p:nvPicPr>
          <p:cNvPr id="11" name="Image 6" descr="https://kimi-img.moonshot.cn/pub/slides/slides_tmpl/image/25-10-09-18:33:54-d3jov4gs8jdo4os5do1g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384" y="554655"/>
            <a:ext cx="161012" cy="88353"/>
          </a:xfrm>
          <a:prstGeom prst="rect">
            <a:avLst/>
          </a:prstGeom>
        </p:spPr>
      </p:pic>
      <p:pic>
        <p:nvPicPr>
          <p:cNvPr id="12" name="Image 7" descr="https://kimi-img.moonshot.cn/pub/slides/slides_tmpl/image/25-10-09-18:33:54-d3jov4gs8jdo4os5do20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6248" y="554655"/>
            <a:ext cx="161012" cy="88353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10-09-18:33:54-d3jov4gs8jdo4os5do2g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4619" y="6095652"/>
            <a:ext cx="55375" cy="153523"/>
          </a:xfrm>
          <a:prstGeom prst="rect">
            <a:avLst/>
          </a:prstGeom>
        </p:spPr>
      </p:pic>
      <p:pic>
        <p:nvPicPr>
          <p:cNvPr id="14" name="Image 9" descr="https://kimi-img.moonshot.cn/pub/slides/slides_tmpl/image/25-10-09-18:33:55-d3jov4os8jdo4os5do30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1564" y="6224636"/>
            <a:ext cx="120367" cy="157492"/>
          </a:xfrm>
          <a:prstGeom prst="rect">
            <a:avLst/>
          </a:prstGeom>
        </p:spPr>
      </p:pic>
      <p:pic>
        <p:nvPicPr>
          <p:cNvPr id="15" name="Image 10" descr="https://kimi-img.moonshot.cn/pub/slides/slides_tmpl/image/25-10-09-18:33:55-d3jov4os8jdo4os5do3g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4072" y="6224636"/>
            <a:ext cx="120367" cy="157492"/>
          </a:xfrm>
          <a:prstGeom prst="rect">
            <a:avLst/>
          </a:prstGeom>
        </p:spPr>
      </p:pic>
      <p:pic>
        <p:nvPicPr>
          <p:cNvPr id="16" name="Image 11" descr="https://kimi-img.moonshot.cn/pub/slides/slides_tmpl/image/25-10-09-18:33:54-d3jov4gs8jdo4os5do1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384" y="6173673"/>
            <a:ext cx="161012" cy="88353"/>
          </a:xfrm>
          <a:prstGeom prst="rect">
            <a:avLst/>
          </a:prstGeom>
        </p:spPr>
      </p:pic>
      <p:pic>
        <p:nvPicPr>
          <p:cNvPr id="17" name="Image 12" descr="https://kimi-img.moonshot.cn/pub/slides/slides_tmpl/image/25-10-09-18:33:54-d3jov4gs8jdo4os5do2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6248" y="6173673"/>
            <a:ext cx="161012" cy="883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答辩内容概览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7" name="Shape 3"/>
          <p:cNvSpPr/>
          <p:nvPr/>
        </p:nvSpPr>
        <p:spPr>
          <a:xfrm>
            <a:off x="400050" y="1638300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1466854"/>
                </a:lnTo>
                <a:cubicBezTo>
                  <a:pt x="5543550" y="1508936"/>
                  <a:pt x="5509436" y="1543050"/>
                  <a:pt x="5467354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6383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6477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576263" y="18669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1409700" y="18669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项目概述与目标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1409700" y="2247899"/>
            <a:ext cx="4381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BYOW世界生成系统的基本概念、核心目标、功能需求与系统特性</a:t>
            </a:r>
            <a:endParaRPr lang="en-US" sz="1600" dirty="0"/>
          </a:p>
        </p:txBody>
      </p:sp>
      <p:sp>
        <p:nvSpPr>
          <p:cNvPr id="23" name="Shape 9"/>
          <p:cNvSpPr/>
          <p:nvPr/>
        </p:nvSpPr>
        <p:spPr>
          <a:xfrm>
            <a:off x="6267450" y="1638300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1466854"/>
                </a:lnTo>
                <a:cubicBezTo>
                  <a:pt x="5543550" y="1508936"/>
                  <a:pt x="5509436" y="1543050"/>
                  <a:pt x="5467354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4" name="Shape 10"/>
          <p:cNvSpPr/>
          <p:nvPr/>
        </p:nvSpPr>
        <p:spPr>
          <a:xfrm>
            <a:off x="6267450" y="16383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5" name="Shape 11"/>
          <p:cNvSpPr/>
          <p:nvPr/>
        </p:nvSpPr>
        <p:spPr>
          <a:xfrm>
            <a:off x="6515101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6" name="Text 12"/>
          <p:cNvSpPr/>
          <p:nvPr/>
        </p:nvSpPr>
        <p:spPr>
          <a:xfrm>
            <a:off x="6443663" y="18669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7277101" y="18669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核心数据结构解析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7277101" y="2247899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图结构(邻接表)、并查集、队列的设计原理与代码实现</a:t>
            </a:r>
            <a:endParaRPr lang="en-US" sz="1600" dirty="0"/>
          </a:p>
        </p:txBody>
      </p:sp>
      <p:sp>
        <p:nvSpPr>
          <p:cNvPr id="29" name="Shape 15"/>
          <p:cNvSpPr/>
          <p:nvPr/>
        </p:nvSpPr>
        <p:spPr>
          <a:xfrm>
            <a:off x="400050" y="3409949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1466854"/>
                </a:lnTo>
                <a:cubicBezTo>
                  <a:pt x="5543550" y="1508936"/>
                  <a:pt x="5509436" y="1543050"/>
                  <a:pt x="5467354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0" name="Shape 16"/>
          <p:cNvSpPr/>
          <p:nvPr/>
        </p:nvSpPr>
        <p:spPr>
          <a:xfrm>
            <a:off x="400050" y="3409949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1" name="Shape 17"/>
          <p:cNvSpPr/>
          <p:nvPr/>
        </p:nvSpPr>
        <p:spPr>
          <a:xfrm>
            <a:off x="647700" y="363854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2" name="Text 18"/>
          <p:cNvSpPr/>
          <p:nvPr/>
        </p:nvSpPr>
        <p:spPr>
          <a:xfrm>
            <a:off x="576263" y="3638549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1409700" y="363854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算法实现详解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1409700" y="4019549"/>
            <a:ext cx="4381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LCG随机数生成、Kruskal MST算法、BFS路径查找、世界生成流程</a:t>
            </a:r>
            <a:endParaRPr lang="en-US" sz="1600" dirty="0"/>
          </a:p>
        </p:txBody>
      </p:sp>
      <p:sp>
        <p:nvSpPr>
          <p:cNvPr id="35" name="Shape 21"/>
          <p:cNvSpPr/>
          <p:nvPr/>
        </p:nvSpPr>
        <p:spPr>
          <a:xfrm>
            <a:off x="6267450" y="3409949"/>
            <a:ext cx="5543550" cy="1543050"/>
          </a:xfrm>
          <a:custGeom>
            <a:avLst/>
            <a:gdLst/>
            <a:ahLst/>
            <a:cxnLst/>
            <a:rect l="l" t="t" r="r" b="b"/>
            <a:pathLst>
              <a:path w="5543550" h="154305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1466854"/>
                </a:lnTo>
                <a:cubicBezTo>
                  <a:pt x="5543550" y="1508936"/>
                  <a:pt x="5509436" y="1543050"/>
                  <a:pt x="5467354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6" name="Shape 22"/>
          <p:cNvSpPr/>
          <p:nvPr/>
        </p:nvSpPr>
        <p:spPr>
          <a:xfrm>
            <a:off x="6267450" y="3409949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7" name="Shape 23"/>
          <p:cNvSpPr/>
          <p:nvPr/>
        </p:nvSpPr>
        <p:spPr>
          <a:xfrm>
            <a:off x="6515101" y="363854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8" name="Text 24"/>
          <p:cNvSpPr/>
          <p:nvPr/>
        </p:nvSpPr>
        <p:spPr>
          <a:xfrm>
            <a:off x="6443663" y="3638549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7277101" y="363854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系统架构与接口设计</a:t>
            </a:r>
            <a:endParaRPr lang="en-US" sz="1600" dirty="0"/>
          </a:p>
        </p:txBody>
      </p:sp>
      <p:sp>
        <p:nvSpPr>
          <p:cNvPr id="40" name="Text 26"/>
          <p:cNvSpPr/>
          <p:nvPr/>
        </p:nvSpPr>
        <p:spPr>
          <a:xfrm>
            <a:off x="7277101" y="4019549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接口与实现分离、文件组织、核心数据结构定义、函数调用关系</a:t>
            </a:r>
            <a:endParaRPr lang="en-US" sz="1600" dirty="0"/>
          </a:p>
        </p:txBody>
      </p:sp>
      <p:sp>
        <p:nvSpPr>
          <p:cNvPr id="41" name="Shape 27"/>
          <p:cNvSpPr/>
          <p:nvPr/>
        </p:nvSpPr>
        <p:spPr>
          <a:xfrm>
            <a:off x="400050" y="5181599"/>
            <a:ext cx="5543550" cy="1295400"/>
          </a:xfrm>
          <a:custGeom>
            <a:avLst/>
            <a:gdLst/>
            <a:ahLst/>
            <a:cxnLst/>
            <a:rect l="l" t="t" r="r" b="b"/>
            <a:pathLst>
              <a:path w="5543550" h="1295400">
                <a:moveTo>
                  <a:pt x="38100" y="0"/>
                </a:moveTo>
                <a:lnTo>
                  <a:pt x="5467355" y="0"/>
                </a:lnTo>
                <a:cubicBezTo>
                  <a:pt x="5509408" y="0"/>
                  <a:pt x="5543550" y="34142"/>
                  <a:pt x="5543550" y="76195"/>
                </a:cubicBezTo>
                <a:lnTo>
                  <a:pt x="5543550" y="1219205"/>
                </a:lnTo>
                <a:cubicBezTo>
                  <a:pt x="5543550" y="1261286"/>
                  <a:pt x="5509436" y="1295400"/>
                  <a:pt x="54673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2" name="Shape 28"/>
          <p:cNvSpPr/>
          <p:nvPr/>
        </p:nvSpPr>
        <p:spPr>
          <a:xfrm>
            <a:off x="400050" y="5181599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3" name="Shape 29"/>
          <p:cNvSpPr/>
          <p:nvPr/>
        </p:nvSpPr>
        <p:spPr>
          <a:xfrm>
            <a:off x="647700" y="54101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4" name="Text 30"/>
          <p:cNvSpPr/>
          <p:nvPr/>
        </p:nvSpPr>
        <p:spPr>
          <a:xfrm>
            <a:off x="576263" y="5410199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1409700" y="541019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功能展示与代码演示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1409700" y="5791201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世界生成效果、玩家交互、核心代码剖析、数据结构对比分析</a:t>
            </a:r>
            <a:endParaRPr lang="en-US" sz="1600" dirty="0"/>
          </a:p>
        </p:txBody>
      </p:sp>
      <p:sp>
        <p:nvSpPr>
          <p:cNvPr id="47" name="Shape 33"/>
          <p:cNvSpPr/>
          <p:nvPr/>
        </p:nvSpPr>
        <p:spPr>
          <a:xfrm>
            <a:off x="6267450" y="5181599"/>
            <a:ext cx="5543550" cy="1295400"/>
          </a:xfrm>
          <a:custGeom>
            <a:avLst/>
            <a:gdLst/>
            <a:ahLst/>
            <a:cxnLst/>
            <a:rect l="l" t="t" r="r" b="b"/>
            <a:pathLst>
              <a:path w="5543550" h="1295400">
                <a:moveTo>
                  <a:pt x="38100" y="0"/>
                </a:moveTo>
                <a:lnTo>
                  <a:pt x="5467355" y="0"/>
                </a:lnTo>
                <a:cubicBezTo>
                  <a:pt x="5509408" y="0"/>
                  <a:pt x="5543550" y="34142"/>
                  <a:pt x="5543550" y="76195"/>
                </a:cubicBezTo>
                <a:lnTo>
                  <a:pt x="5543550" y="1219205"/>
                </a:lnTo>
                <a:cubicBezTo>
                  <a:pt x="5543550" y="1261286"/>
                  <a:pt x="5509436" y="1295400"/>
                  <a:pt x="54673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8" name="Shape 34"/>
          <p:cNvSpPr/>
          <p:nvPr/>
        </p:nvSpPr>
        <p:spPr>
          <a:xfrm>
            <a:off x="6267450" y="5181599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9" name="Shape 35"/>
          <p:cNvSpPr/>
          <p:nvPr/>
        </p:nvSpPr>
        <p:spPr>
          <a:xfrm>
            <a:off x="6515101" y="54101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0" name="Text 36"/>
          <p:cNvSpPr/>
          <p:nvPr/>
        </p:nvSpPr>
        <p:spPr>
          <a:xfrm>
            <a:off x="6443663" y="5410199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51" name="Text 37"/>
          <p:cNvSpPr/>
          <p:nvPr/>
        </p:nvSpPr>
        <p:spPr>
          <a:xfrm>
            <a:off x="7277101" y="5410199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总结与收获</a:t>
            </a:r>
            <a:endParaRPr lang="en-US" sz="1600" dirty="0"/>
          </a:p>
        </p:txBody>
      </p:sp>
      <p:sp>
        <p:nvSpPr>
          <p:cNvPr id="52" name="Text 38"/>
          <p:cNvSpPr/>
          <p:nvPr/>
        </p:nvSpPr>
        <p:spPr>
          <a:xfrm>
            <a:off x="7277101" y="5791201"/>
            <a:ext cx="43815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项目核心成果、数据结构学习收获、未来优化方向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项目简介与核心目标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7" name="Shape 3"/>
          <p:cNvSpPr/>
          <p:nvPr/>
        </p:nvSpPr>
        <p:spPr>
          <a:xfrm>
            <a:off x="381000" y="1409700"/>
            <a:ext cx="5905500" cy="2743200"/>
          </a:xfrm>
          <a:custGeom>
            <a:avLst/>
            <a:gdLst/>
            <a:ahLst/>
            <a:cxnLst/>
            <a:rect l="l" t="t" r="r" b="b"/>
            <a:pathLst>
              <a:path w="5905500" h="2743200">
                <a:moveTo>
                  <a:pt x="76206" y="0"/>
                </a:moveTo>
                <a:lnTo>
                  <a:pt x="5829294" y="0"/>
                </a:lnTo>
                <a:cubicBezTo>
                  <a:pt x="5871381" y="0"/>
                  <a:pt x="5905500" y="34119"/>
                  <a:pt x="5905500" y="76206"/>
                </a:cubicBezTo>
                <a:lnTo>
                  <a:pt x="5905500" y="2666994"/>
                </a:lnTo>
                <a:cubicBezTo>
                  <a:pt x="5905500" y="2709081"/>
                  <a:pt x="5871381" y="2743200"/>
                  <a:pt x="5829294" y="2743200"/>
                </a:cubicBezTo>
                <a:lnTo>
                  <a:pt x="76206" y="2743200"/>
                </a:lnTo>
                <a:cubicBezTo>
                  <a:pt x="34119" y="2743200"/>
                  <a:pt x="0" y="2709081"/>
                  <a:pt x="0" y="26669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638175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Text 5"/>
          <p:cNvSpPr/>
          <p:nvPr/>
        </p:nvSpPr>
        <p:spPr>
          <a:xfrm>
            <a:off x="1009650" y="16383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BYOW项目概念</a:t>
            </a:r>
            <a:endParaRPr lang="en-US" sz="1600" dirty="0"/>
          </a:p>
        </p:txBody>
      </p:sp>
      <p:sp>
        <p:nvSpPr>
          <p:cNvPr id="20" name="Text 6"/>
          <p:cNvSpPr/>
          <p:nvPr/>
        </p:nvSpPr>
        <p:spPr>
          <a:xfrm>
            <a:off x="609600" y="2095500"/>
            <a:ext cx="55245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Build Your Own World (BYOW)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是一个基于C语言的世界生成系统,综合运用图、并查集、队列等多种数据结构,实现随机世界生成、房间连接、路径查找等核心功能。项目通过控制台界面展示数据结构的实际应用,深入理解多种数据结构在实际场景中的综合使用。</a:t>
            </a:r>
            <a:endParaRPr lang="en-US" sz="1600" dirty="0"/>
          </a:p>
        </p:txBody>
      </p:sp>
      <p:sp>
        <p:nvSpPr>
          <p:cNvPr id="21" name="Shape 7"/>
          <p:cNvSpPr/>
          <p:nvPr/>
        </p:nvSpPr>
        <p:spPr>
          <a:xfrm>
            <a:off x="609600" y="3238500"/>
            <a:ext cx="1743075" cy="685800"/>
          </a:xfrm>
          <a:custGeom>
            <a:avLst/>
            <a:gdLst/>
            <a:ahLst/>
            <a:cxnLst/>
            <a:rect l="l" t="t" r="r" b="b"/>
            <a:pathLst>
              <a:path w="1743075" h="685800">
                <a:moveTo>
                  <a:pt x="38103" y="0"/>
                </a:moveTo>
                <a:lnTo>
                  <a:pt x="1704972" y="0"/>
                </a:lnTo>
                <a:cubicBezTo>
                  <a:pt x="1726016" y="0"/>
                  <a:pt x="1743075" y="17059"/>
                  <a:pt x="1743075" y="38103"/>
                </a:cubicBezTo>
                <a:lnTo>
                  <a:pt x="1743075" y="647697"/>
                </a:lnTo>
                <a:cubicBezTo>
                  <a:pt x="1743075" y="668741"/>
                  <a:pt x="1726016" y="685800"/>
                  <a:pt x="17049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2" name="Shape 8"/>
          <p:cNvSpPr/>
          <p:nvPr/>
        </p:nvSpPr>
        <p:spPr>
          <a:xfrm>
            <a:off x="1384867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23" name="Text 9"/>
          <p:cNvSpPr/>
          <p:nvPr/>
        </p:nvSpPr>
        <p:spPr>
          <a:xfrm>
            <a:off x="576263" y="36195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图结构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2465019" y="3238500"/>
            <a:ext cx="1743075" cy="685800"/>
          </a:xfrm>
          <a:custGeom>
            <a:avLst/>
            <a:gdLst/>
            <a:ahLst/>
            <a:cxnLst/>
            <a:rect l="l" t="t" r="r" b="b"/>
            <a:pathLst>
              <a:path w="1743075" h="685800">
                <a:moveTo>
                  <a:pt x="38103" y="0"/>
                </a:moveTo>
                <a:lnTo>
                  <a:pt x="1704972" y="0"/>
                </a:lnTo>
                <a:cubicBezTo>
                  <a:pt x="1726016" y="0"/>
                  <a:pt x="1743075" y="17059"/>
                  <a:pt x="1743075" y="38103"/>
                </a:cubicBezTo>
                <a:lnTo>
                  <a:pt x="1743075" y="647697"/>
                </a:lnTo>
                <a:cubicBezTo>
                  <a:pt x="1743075" y="668741"/>
                  <a:pt x="1726016" y="685800"/>
                  <a:pt x="17049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5" name="Shape 11"/>
          <p:cNvSpPr/>
          <p:nvPr/>
        </p:nvSpPr>
        <p:spPr>
          <a:xfrm>
            <a:off x="3240371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26" name="Text 12"/>
          <p:cNvSpPr/>
          <p:nvPr/>
        </p:nvSpPr>
        <p:spPr>
          <a:xfrm>
            <a:off x="2431682" y="36195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4320523" y="3238500"/>
            <a:ext cx="1743075" cy="685800"/>
          </a:xfrm>
          <a:custGeom>
            <a:avLst/>
            <a:gdLst/>
            <a:ahLst/>
            <a:cxnLst/>
            <a:rect l="l" t="t" r="r" b="b"/>
            <a:pathLst>
              <a:path w="1743075" h="685800">
                <a:moveTo>
                  <a:pt x="38103" y="0"/>
                </a:moveTo>
                <a:lnTo>
                  <a:pt x="1704972" y="0"/>
                </a:lnTo>
                <a:cubicBezTo>
                  <a:pt x="1726016" y="0"/>
                  <a:pt x="1743075" y="17059"/>
                  <a:pt x="1743075" y="38103"/>
                </a:cubicBezTo>
                <a:lnTo>
                  <a:pt x="1743075" y="647697"/>
                </a:lnTo>
                <a:cubicBezTo>
                  <a:pt x="1743075" y="668741"/>
                  <a:pt x="1726016" y="685800"/>
                  <a:pt x="1704972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8" name="Shape 14"/>
          <p:cNvSpPr/>
          <p:nvPr/>
        </p:nvSpPr>
        <p:spPr>
          <a:xfrm>
            <a:off x="509579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29" name="Text 15"/>
          <p:cNvSpPr/>
          <p:nvPr/>
        </p:nvSpPr>
        <p:spPr>
          <a:xfrm>
            <a:off x="4287186" y="36195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</a:t>
            </a:r>
            <a:endParaRPr lang="en-US" sz="1600" dirty="0"/>
          </a:p>
        </p:txBody>
      </p:sp>
      <p:sp>
        <p:nvSpPr>
          <p:cNvPr id="30" name="Shape 16"/>
          <p:cNvSpPr/>
          <p:nvPr/>
        </p:nvSpPr>
        <p:spPr>
          <a:xfrm>
            <a:off x="381000" y="4343402"/>
            <a:ext cx="5905500" cy="2133600"/>
          </a:xfrm>
          <a:custGeom>
            <a:avLst/>
            <a:gdLst/>
            <a:ahLst/>
            <a:cxnLst/>
            <a:rect l="l" t="t" r="r" b="b"/>
            <a:pathLst>
              <a:path w="5905500" h="2133600">
                <a:moveTo>
                  <a:pt x="76191" y="0"/>
                </a:moveTo>
                <a:lnTo>
                  <a:pt x="5829309" y="0"/>
                </a:lnTo>
                <a:cubicBezTo>
                  <a:pt x="5871360" y="0"/>
                  <a:pt x="5905500" y="34140"/>
                  <a:pt x="5905500" y="76191"/>
                </a:cubicBezTo>
                <a:lnTo>
                  <a:pt x="5905500" y="2057409"/>
                </a:lnTo>
                <a:cubicBezTo>
                  <a:pt x="5905500" y="2099460"/>
                  <a:pt x="5871360" y="2133600"/>
                  <a:pt x="5829309" y="2133600"/>
                </a:cubicBezTo>
                <a:lnTo>
                  <a:pt x="76191" y="2133600"/>
                </a:lnTo>
                <a:cubicBezTo>
                  <a:pt x="34140" y="2133600"/>
                  <a:pt x="0" y="2099460"/>
                  <a:pt x="0" y="205740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1" name="Shape 17"/>
          <p:cNvSpPr/>
          <p:nvPr/>
        </p:nvSpPr>
        <p:spPr>
          <a:xfrm>
            <a:off x="638175" y="46101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2" name="Text 18"/>
          <p:cNvSpPr/>
          <p:nvPr/>
        </p:nvSpPr>
        <p:spPr>
          <a:xfrm>
            <a:off x="1009650" y="4572002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609600" y="5029202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76200" y="0"/>
                </a:moveTo>
                <a:lnTo>
                  <a:pt x="2590800" y="0"/>
                </a:lnTo>
                <a:cubicBezTo>
                  <a:pt x="2632856" y="0"/>
                  <a:pt x="2667000" y="34144"/>
                  <a:pt x="2667000" y="76200"/>
                </a:cubicBezTo>
                <a:lnTo>
                  <a:pt x="2667000" y="304800"/>
                </a:lnTo>
                <a:cubicBezTo>
                  <a:pt x="2667000" y="346856"/>
                  <a:pt x="2632856" y="381000"/>
                  <a:pt x="259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4" name="Text 20"/>
          <p:cNvSpPr/>
          <p:nvPr/>
        </p:nvSpPr>
        <p:spPr>
          <a:xfrm>
            <a:off x="762000" y="5116288"/>
            <a:ext cx="7227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编程语言: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1528763" y="5116288"/>
            <a:ext cx="487306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C语言</a:t>
            </a:r>
            <a:endParaRPr lang="en-US" sz="1600" dirty="0"/>
          </a:p>
        </p:txBody>
      </p:sp>
      <p:sp>
        <p:nvSpPr>
          <p:cNvPr id="36" name="Shape 22"/>
          <p:cNvSpPr/>
          <p:nvPr/>
        </p:nvSpPr>
        <p:spPr>
          <a:xfrm>
            <a:off x="3392771" y="5029202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76200" y="0"/>
                </a:moveTo>
                <a:lnTo>
                  <a:pt x="2590800" y="0"/>
                </a:lnTo>
                <a:cubicBezTo>
                  <a:pt x="2632856" y="0"/>
                  <a:pt x="2667000" y="34144"/>
                  <a:pt x="2667000" y="76200"/>
                </a:cubicBezTo>
                <a:lnTo>
                  <a:pt x="2667000" y="304800"/>
                </a:lnTo>
                <a:cubicBezTo>
                  <a:pt x="2667000" y="346856"/>
                  <a:pt x="2632856" y="381000"/>
                  <a:pt x="259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7" name="Text 23"/>
          <p:cNvSpPr/>
          <p:nvPr/>
        </p:nvSpPr>
        <p:spPr>
          <a:xfrm>
            <a:off x="3545171" y="5116288"/>
            <a:ext cx="4179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算法: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4007134" y="5116288"/>
            <a:ext cx="102921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Kruskal · BFS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609600" y="5524502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76200" y="0"/>
                </a:moveTo>
                <a:lnTo>
                  <a:pt x="2590800" y="0"/>
                </a:lnTo>
                <a:cubicBezTo>
                  <a:pt x="2632856" y="0"/>
                  <a:pt x="2667000" y="34144"/>
                  <a:pt x="2667000" y="76200"/>
                </a:cubicBezTo>
                <a:lnTo>
                  <a:pt x="2667000" y="304800"/>
                </a:lnTo>
                <a:cubicBezTo>
                  <a:pt x="2667000" y="346856"/>
                  <a:pt x="2632856" y="381000"/>
                  <a:pt x="259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0" name="Text 26"/>
          <p:cNvSpPr/>
          <p:nvPr/>
        </p:nvSpPr>
        <p:spPr>
          <a:xfrm>
            <a:off x="762000" y="5611588"/>
            <a:ext cx="4179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界面: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1223963" y="5611588"/>
            <a:ext cx="53340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控制台</a:t>
            </a:r>
            <a:endParaRPr lang="en-US" sz="1600" dirty="0"/>
          </a:p>
        </p:txBody>
      </p:sp>
      <p:sp>
        <p:nvSpPr>
          <p:cNvPr id="42" name="Shape 28"/>
          <p:cNvSpPr/>
          <p:nvPr/>
        </p:nvSpPr>
        <p:spPr>
          <a:xfrm>
            <a:off x="3392771" y="5524502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76200" y="0"/>
                </a:moveTo>
                <a:lnTo>
                  <a:pt x="2590800" y="0"/>
                </a:lnTo>
                <a:cubicBezTo>
                  <a:pt x="2632856" y="0"/>
                  <a:pt x="2667000" y="34144"/>
                  <a:pt x="2667000" y="76200"/>
                </a:cubicBezTo>
                <a:lnTo>
                  <a:pt x="2667000" y="304800"/>
                </a:lnTo>
                <a:cubicBezTo>
                  <a:pt x="2667000" y="346856"/>
                  <a:pt x="2632856" y="381000"/>
                  <a:pt x="2590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3" name="Text 29"/>
          <p:cNvSpPr/>
          <p:nvPr/>
        </p:nvSpPr>
        <p:spPr>
          <a:xfrm>
            <a:off x="3545171" y="5611588"/>
            <a:ext cx="4179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平台: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4007134" y="5611588"/>
            <a:ext cx="53340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</a:t>
            </a:r>
            <a:endParaRPr lang="en-US" sz="1600" dirty="0"/>
          </a:p>
        </p:txBody>
      </p:sp>
      <p:sp>
        <p:nvSpPr>
          <p:cNvPr id="45" name="Shape 31"/>
          <p:cNvSpPr/>
          <p:nvPr/>
        </p:nvSpPr>
        <p:spPr>
          <a:xfrm>
            <a:off x="6518927" y="1409700"/>
            <a:ext cx="5295900" cy="5067300"/>
          </a:xfrm>
          <a:custGeom>
            <a:avLst/>
            <a:gdLst/>
            <a:ahLst/>
            <a:cxnLst/>
            <a:rect l="l" t="t" r="r" b="b"/>
            <a:pathLst>
              <a:path w="5295900" h="5067300">
                <a:moveTo>
                  <a:pt x="76212" y="0"/>
                </a:moveTo>
                <a:lnTo>
                  <a:pt x="5219688" y="0"/>
                </a:lnTo>
                <a:cubicBezTo>
                  <a:pt x="5261779" y="0"/>
                  <a:pt x="5295900" y="34121"/>
                  <a:pt x="5295900" y="76212"/>
                </a:cubicBezTo>
                <a:lnTo>
                  <a:pt x="5295900" y="4991088"/>
                </a:lnTo>
                <a:cubicBezTo>
                  <a:pt x="5295900" y="5033179"/>
                  <a:pt x="5261779" y="5067300"/>
                  <a:pt x="5219688" y="5067300"/>
                </a:cubicBezTo>
                <a:lnTo>
                  <a:pt x="76212" y="5067300"/>
                </a:lnTo>
                <a:cubicBezTo>
                  <a:pt x="34121" y="5067300"/>
                  <a:pt x="0" y="5033179"/>
                  <a:pt x="0" y="49910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6" name="Shape 32"/>
          <p:cNvSpPr/>
          <p:nvPr/>
        </p:nvSpPr>
        <p:spPr>
          <a:xfrm>
            <a:off x="6761815" y="1676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47" name="Text 33"/>
          <p:cNvSpPr/>
          <p:nvPr/>
        </p:nvSpPr>
        <p:spPr>
          <a:xfrm>
            <a:off x="7147577" y="16383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学习目标</a:t>
            </a:r>
            <a:endParaRPr lang="en-US" sz="1600" dirty="0"/>
          </a:p>
        </p:txBody>
      </p:sp>
      <p:sp>
        <p:nvSpPr>
          <p:cNvPr id="48" name="Shape 34"/>
          <p:cNvSpPr/>
          <p:nvPr/>
        </p:nvSpPr>
        <p:spPr>
          <a:xfrm>
            <a:off x="6766577" y="2133600"/>
            <a:ext cx="4819650" cy="685800"/>
          </a:xfrm>
          <a:custGeom>
            <a:avLst/>
            <a:gdLst/>
            <a:ahLst/>
            <a:cxnLst/>
            <a:rect l="l" t="t" r="r" b="b"/>
            <a:pathLst>
              <a:path w="4819650" h="685800">
                <a:moveTo>
                  <a:pt x="38100" y="0"/>
                </a:moveTo>
                <a:lnTo>
                  <a:pt x="4781547" y="0"/>
                </a:lnTo>
                <a:cubicBezTo>
                  <a:pt x="4802591" y="0"/>
                  <a:pt x="4819650" y="17059"/>
                  <a:pt x="4819650" y="38103"/>
                </a:cubicBezTo>
                <a:lnTo>
                  <a:pt x="4819650" y="647697"/>
                </a:lnTo>
                <a:cubicBezTo>
                  <a:pt x="4819650" y="668741"/>
                  <a:pt x="4802591" y="685800"/>
                  <a:pt x="47815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9" name="Shape 35"/>
          <p:cNvSpPr/>
          <p:nvPr/>
        </p:nvSpPr>
        <p:spPr>
          <a:xfrm>
            <a:off x="6766577" y="2133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0" name="Shape 36"/>
          <p:cNvSpPr/>
          <p:nvPr/>
        </p:nvSpPr>
        <p:spPr>
          <a:xfrm>
            <a:off x="6938027" y="224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1" name="Text 37"/>
          <p:cNvSpPr/>
          <p:nvPr/>
        </p:nvSpPr>
        <p:spPr>
          <a:xfrm>
            <a:off x="6904690" y="22479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38"/>
          <p:cNvSpPr/>
          <p:nvPr/>
        </p:nvSpPr>
        <p:spPr>
          <a:xfrm>
            <a:off x="7357127" y="2247900"/>
            <a:ext cx="2085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图的定义和实现</a:t>
            </a:r>
            <a:endParaRPr lang="en-US" sz="1600" dirty="0"/>
          </a:p>
        </p:txBody>
      </p:sp>
      <p:sp>
        <p:nvSpPr>
          <p:cNvPr id="53" name="Text 39"/>
          <p:cNvSpPr/>
          <p:nvPr/>
        </p:nvSpPr>
        <p:spPr>
          <a:xfrm>
            <a:off x="7357127" y="2514600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掌握邻接表存储结构及其构建方法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6766577" y="2971800"/>
            <a:ext cx="4819650" cy="685800"/>
          </a:xfrm>
          <a:custGeom>
            <a:avLst/>
            <a:gdLst/>
            <a:ahLst/>
            <a:cxnLst/>
            <a:rect l="l" t="t" r="r" b="b"/>
            <a:pathLst>
              <a:path w="4819650" h="685800">
                <a:moveTo>
                  <a:pt x="38100" y="0"/>
                </a:moveTo>
                <a:lnTo>
                  <a:pt x="4781547" y="0"/>
                </a:lnTo>
                <a:cubicBezTo>
                  <a:pt x="4802591" y="0"/>
                  <a:pt x="4819650" y="17059"/>
                  <a:pt x="4819650" y="38103"/>
                </a:cubicBezTo>
                <a:lnTo>
                  <a:pt x="4819650" y="647697"/>
                </a:lnTo>
                <a:cubicBezTo>
                  <a:pt x="4819650" y="668741"/>
                  <a:pt x="4802591" y="685800"/>
                  <a:pt x="47815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5" name="Shape 41"/>
          <p:cNvSpPr/>
          <p:nvPr/>
        </p:nvSpPr>
        <p:spPr>
          <a:xfrm>
            <a:off x="6766577" y="29718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6" name="Shape 42"/>
          <p:cNvSpPr/>
          <p:nvPr/>
        </p:nvSpPr>
        <p:spPr>
          <a:xfrm>
            <a:off x="6938027" y="308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7" name="Text 43"/>
          <p:cNvSpPr/>
          <p:nvPr/>
        </p:nvSpPr>
        <p:spPr>
          <a:xfrm>
            <a:off x="6904690" y="30861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7357127" y="3086100"/>
            <a:ext cx="1819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并查集的原理和应用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7357127" y="3352800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理解路径压缩与按秩合并优化</a:t>
            </a:r>
            <a:endParaRPr lang="en-US" sz="1600" dirty="0"/>
          </a:p>
        </p:txBody>
      </p:sp>
      <p:sp>
        <p:nvSpPr>
          <p:cNvPr id="60" name="Shape 46"/>
          <p:cNvSpPr/>
          <p:nvPr/>
        </p:nvSpPr>
        <p:spPr>
          <a:xfrm>
            <a:off x="6766577" y="3810000"/>
            <a:ext cx="4819650" cy="685800"/>
          </a:xfrm>
          <a:custGeom>
            <a:avLst/>
            <a:gdLst/>
            <a:ahLst/>
            <a:cxnLst/>
            <a:rect l="l" t="t" r="r" b="b"/>
            <a:pathLst>
              <a:path w="4819650" h="685800">
                <a:moveTo>
                  <a:pt x="38100" y="0"/>
                </a:moveTo>
                <a:lnTo>
                  <a:pt x="4781547" y="0"/>
                </a:lnTo>
                <a:cubicBezTo>
                  <a:pt x="4802591" y="0"/>
                  <a:pt x="4819650" y="17059"/>
                  <a:pt x="4819650" y="38103"/>
                </a:cubicBezTo>
                <a:lnTo>
                  <a:pt x="4819650" y="647697"/>
                </a:lnTo>
                <a:cubicBezTo>
                  <a:pt x="4819650" y="668741"/>
                  <a:pt x="4802591" y="685800"/>
                  <a:pt x="47815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1" name="Shape 47"/>
          <p:cNvSpPr/>
          <p:nvPr/>
        </p:nvSpPr>
        <p:spPr>
          <a:xfrm>
            <a:off x="6766577" y="38100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2" name="Shape 48"/>
          <p:cNvSpPr/>
          <p:nvPr/>
        </p:nvSpPr>
        <p:spPr>
          <a:xfrm>
            <a:off x="6938027" y="392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3" name="Text 49"/>
          <p:cNvSpPr/>
          <p:nvPr/>
        </p:nvSpPr>
        <p:spPr>
          <a:xfrm>
            <a:off x="6904690" y="39243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4" name="Text 50"/>
          <p:cNvSpPr/>
          <p:nvPr/>
        </p:nvSpPr>
        <p:spPr>
          <a:xfrm>
            <a:off x="7357127" y="392430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队列的使用和BFS算法</a:t>
            </a:r>
            <a:endParaRPr lang="en-US" sz="1600" dirty="0"/>
          </a:p>
        </p:txBody>
      </p:sp>
      <p:sp>
        <p:nvSpPr>
          <p:cNvPr id="65" name="Text 51"/>
          <p:cNvSpPr/>
          <p:nvPr/>
        </p:nvSpPr>
        <p:spPr>
          <a:xfrm>
            <a:off x="7357127" y="4191002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掌握广度优先搜索实现最短路径查找</a:t>
            </a:r>
            <a:endParaRPr lang="en-US" sz="1600" dirty="0"/>
          </a:p>
        </p:txBody>
      </p:sp>
      <p:sp>
        <p:nvSpPr>
          <p:cNvPr id="66" name="Shape 52"/>
          <p:cNvSpPr/>
          <p:nvPr/>
        </p:nvSpPr>
        <p:spPr>
          <a:xfrm>
            <a:off x="6766577" y="4648202"/>
            <a:ext cx="4819650" cy="685800"/>
          </a:xfrm>
          <a:custGeom>
            <a:avLst/>
            <a:gdLst/>
            <a:ahLst/>
            <a:cxnLst/>
            <a:rect l="l" t="t" r="r" b="b"/>
            <a:pathLst>
              <a:path w="4819650" h="685800">
                <a:moveTo>
                  <a:pt x="38100" y="0"/>
                </a:moveTo>
                <a:lnTo>
                  <a:pt x="4781547" y="0"/>
                </a:lnTo>
                <a:cubicBezTo>
                  <a:pt x="4802591" y="0"/>
                  <a:pt x="4819650" y="17059"/>
                  <a:pt x="4819650" y="38103"/>
                </a:cubicBezTo>
                <a:lnTo>
                  <a:pt x="4819650" y="647697"/>
                </a:lnTo>
                <a:cubicBezTo>
                  <a:pt x="4819650" y="668741"/>
                  <a:pt x="4802591" y="685800"/>
                  <a:pt x="47815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7" name="Shape 53"/>
          <p:cNvSpPr/>
          <p:nvPr/>
        </p:nvSpPr>
        <p:spPr>
          <a:xfrm>
            <a:off x="6766577" y="4648202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68" name="Shape 54"/>
          <p:cNvSpPr/>
          <p:nvPr/>
        </p:nvSpPr>
        <p:spPr>
          <a:xfrm>
            <a:off x="6938027" y="47625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69" name="Text 55"/>
          <p:cNvSpPr/>
          <p:nvPr/>
        </p:nvSpPr>
        <p:spPr>
          <a:xfrm>
            <a:off x="6904690" y="4762502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56"/>
          <p:cNvSpPr/>
          <p:nvPr/>
        </p:nvSpPr>
        <p:spPr>
          <a:xfrm>
            <a:off x="7357127" y="4762502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最小生成树(MST)算法</a:t>
            </a:r>
            <a:endParaRPr lang="en-US" sz="1600" dirty="0"/>
          </a:p>
        </p:txBody>
      </p:sp>
      <p:sp>
        <p:nvSpPr>
          <p:cNvPr id="71" name="Text 57"/>
          <p:cNvSpPr/>
          <p:nvPr/>
        </p:nvSpPr>
        <p:spPr>
          <a:xfrm>
            <a:off x="7357127" y="5029202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学习Kruskal算法及其并查集应用</a:t>
            </a:r>
            <a:endParaRPr lang="en-US" sz="1600" dirty="0"/>
          </a:p>
        </p:txBody>
      </p:sp>
      <p:sp>
        <p:nvSpPr>
          <p:cNvPr id="72" name="Shape 58"/>
          <p:cNvSpPr/>
          <p:nvPr/>
        </p:nvSpPr>
        <p:spPr>
          <a:xfrm>
            <a:off x="6766577" y="5486402"/>
            <a:ext cx="4819650" cy="685800"/>
          </a:xfrm>
          <a:custGeom>
            <a:avLst/>
            <a:gdLst/>
            <a:ahLst/>
            <a:cxnLst/>
            <a:rect l="l" t="t" r="r" b="b"/>
            <a:pathLst>
              <a:path w="4819650" h="685800">
                <a:moveTo>
                  <a:pt x="38100" y="0"/>
                </a:moveTo>
                <a:lnTo>
                  <a:pt x="4781547" y="0"/>
                </a:lnTo>
                <a:cubicBezTo>
                  <a:pt x="4802591" y="0"/>
                  <a:pt x="4819650" y="17059"/>
                  <a:pt x="4819650" y="38103"/>
                </a:cubicBezTo>
                <a:lnTo>
                  <a:pt x="4819650" y="647697"/>
                </a:lnTo>
                <a:cubicBezTo>
                  <a:pt x="4819650" y="668741"/>
                  <a:pt x="4802591" y="685800"/>
                  <a:pt x="4781547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73" name="Shape 59"/>
          <p:cNvSpPr/>
          <p:nvPr/>
        </p:nvSpPr>
        <p:spPr>
          <a:xfrm>
            <a:off x="6766577" y="5486402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74" name="Shape 60"/>
          <p:cNvSpPr/>
          <p:nvPr/>
        </p:nvSpPr>
        <p:spPr>
          <a:xfrm>
            <a:off x="6938027" y="56007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75" name="Text 61"/>
          <p:cNvSpPr/>
          <p:nvPr/>
        </p:nvSpPr>
        <p:spPr>
          <a:xfrm>
            <a:off x="6904690" y="5600702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76" name="Text 62"/>
          <p:cNvSpPr/>
          <p:nvPr/>
        </p:nvSpPr>
        <p:spPr>
          <a:xfrm>
            <a:off x="7357127" y="5600702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接口与实现分离</a:t>
            </a:r>
            <a:endParaRPr lang="en-US" sz="1600" dirty="0"/>
          </a:p>
        </p:txBody>
      </p:sp>
      <p:sp>
        <p:nvSpPr>
          <p:cNvPr id="77" name="Text 63"/>
          <p:cNvSpPr/>
          <p:nvPr/>
        </p:nvSpPr>
        <p:spPr>
          <a:xfrm>
            <a:off x="7357127" y="5867402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掌握模块化编程和.h/.c文件组织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功能需求与系统特性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7" name="Shape 3"/>
          <p:cNvSpPr/>
          <p:nvPr/>
        </p:nvSpPr>
        <p:spPr>
          <a:xfrm>
            <a:off x="381000" y="1390650"/>
            <a:ext cx="5619750" cy="2457450"/>
          </a:xfrm>
          <a:custGeom>
            <a:avLst/>
            <a:gdLst/>
            <a:ahLst/>
            <a:cxnLst/>
            <a:rect l="l" t="t" r="r" b="b"/>
            <a:pathLst>
              <a:path w="5619750" h="24574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381244"/>
                </a:lnTo>
                <a:cubicBezTo>
                  <a:pt x="5619750" y="2423332"/>
                  <a:pt x="5585632" y="2457450"/>
                  <a:pt x="5543544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81000" y="13906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5953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923925" y="160020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世界生成功能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571500" y="20574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775097" y="2019300"/>
            <a:ext cx="3057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随机房间生成: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根据种子生成随机大小和位置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571500" y="24003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775097" y="23622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房间连接: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使用走廊连接所有房间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571500" y="27432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775097" y="2705100"/>
            <a:ext cx="2447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连通性保证: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确保所有房间相互可达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571500" y="30861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775097" y="3048000"/>
            <a:ext cx="2447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确定性生成: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相同种子生成相同世界</a:t>
            </a:r>
            <a:endParaRPr lang="en-US" sz="1600" dirty="0"/>
          </a:p>
        </p:txBody>
      </p:sp>
      <p:sp>
        <p:nvSpPr>
          <p:cNvPr id="29" name="Shape 15"/>
          <p:cNvSpPr/>
          <p:nvPr/>
        </p:nvSpPr>
        <p:spPr>
          <a:xfrm>
            <a:off x="381000" y="4019550"/>
            <a:ext cx="5619750" cy="2457450"/>
          </a:xfrm>
          <a:custGeom>
            <a:avLst/>
            <a:gdLst/>
            <a:ahLst/>
            <a:cxnLst/>
            <a:rect l="l" t="t" r="r" b="b"/>
            <a:pathLst>
              <a:path w="5619750" h="24574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381244"/>
                </a:lnTo>
                <a:cubicBezTo>
                  <a:pt x="5619750" y="2423332"/>
                  <a:pt x="5585632" y="2457450"/>
                  <a:pt x="5543544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0" name="Shape 16"/>
          <p:cNvSpPr/>
          <p:nvPr/>
        </p:nvSpPr>
        <p:spPr>
          <a:xfrm>
            <a:off x="381000" y="40195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1" name="Shape 17"/>
          <p:cNvSpPr/>
          <p:nvPr/>
        </p:nvSpPr>
        <p:spPr>
          <a:xfrm>
            <a:off x="595313" y="426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2" name="Text 18"/>
          <p:cNvSpPr/>
          <p:nvPr/>
        </p:nvSpPr>
        <p:spPr>
          <a:xfrm>
            <a:off x="923925" y="422910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数据结构功能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571500" y="46863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775097" y="46482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图结构: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表示房间之间的连接关系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571500" y="50292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775097" y="4991100"/>
            <a:ext cx="1990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高效管理连通性检查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571500" y="53721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775097" y="5334000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BFS路径查找的核心数据结构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571500" y="57150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Text 26"/>
          <p:cNvSpPr/>
          <p:nvPr/>
        </p:nvSpPr>
        <p:spPr>
          <a:xfrm>
            <a:off x="775097" y="56769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数组: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存储地图、房间等基础数据</a:t>
            </a:r>
            <a:endParaRPr lang="en-US" sz="1600" dirty="0"/>
          </a:p>
        </p:txBody>
      </p:sp>
      <p:sp>
        <p:nvSpPr>
          <p:cNvPr id="41" name="Shape 27"/>
          <p:cNvSpPr/>
          <p:nvPr/>
        </p:nvSpPr>
        <p:spPr>
          <a:xfrm>
            <a:off x="6191250" y="1390650"/>
            <a:ext cx="5619750" cy="1771650"/>
          </a:xfrm>
          <a:custGeom>
            <a:avLst/>
            <a:gdLst/>
            <a:ahLst/>
            <a:cxnLst/>
            <a:rect l="l" t="t" r="r" b="b"/>
            <a:pathLst>
              <a:path w="5619750" h="17716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695451"/>
                </a:lnTo>
                <a:cubicBezTo>
                  <a:pt x="5619750" y="1737535"/>
                  <a:pt x="5585635" y="1771650"/>
                  <a:pt x="5543551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2" name="Shape 28"/>
          <p:cNvSpPr/>
          <p:nvPr/>
        </p:nvSpPr>
        <p:spPr>
          <a:xfrm>
            <a:off x="6191250" y="13906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3" name="Shape 29"/>
          <p:cNvSpPr/>
          <p:nvPr/>
        </p:nvSpPr>
        <p:spPr>
          <a:xfrm>
            <a:off x="6393656" y="1638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4" name="Text 30"/>
          <p:cNvSpPr/>
          <p:nvPr/>
        </p:nvSpPr>
        <p:spPr>
          <a:xfrm>
            <a:off x="6734176" y="1600200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可视化功能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6381750" y="20574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6585347" y="20193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地图渲染: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在控制台绘制世界地图</a:t>
            </a:r>
            <a:endParaRPr lang="en-US" sz="1600" dirty="0"/>
          </a:p>
        </p:txBody>
      </p:sp>
      <p:sp>
        <p:nvSpPr>
          <p:cNvPr id="47" name="Text 33"/>
          <p:cNvSpPr/>
          <p:nvPr/>
        </p:nvSpPr>
        <p:spPr>
          <a:xfrm>
            <a:off x="6381750" y="24003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6585347" y="2362200"/>
            <a:ext cx="2457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瓦片显示: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墙壁'#' · 地板'.' · 玩家'@'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6381750" y="27432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0" name="Text 36"/>
          <p:cNvSpPr/>
          <p:nvPr/>
        </p:nvSpPr>
        <p:spPr>
          <a:xfrm>
            <a:off x="6585347" y="2705100"/>
            <a:ext cx="1990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实时显示: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动态更新玩家位置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6191250" y="3333750"/>
            <a:ext cx="5619750" cy="1771650"/>
          </a:xfrm>
          <a:custGeom>
            <a:avLst/>
            <a:gdLst/>
            <a:ahLst/>
            <a:cxnLst/>
            <a:rect l="l" t="t" r="r" b="b"/>
            <a:pathLst>
              <a:path w="5619750" h="17716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695451"/>
                </a:lnTo>
                <a:cubicBezTo>
                  <a:pt x="5619750" y="1737535"/>
                  <a:pt x="5585635" y="1771650"/>
                  <a:pt x="5543551" y="1771650"/>
                </a:cubicBezTo>
                <a:lnTo>
                  <a:pt x="76199" y="1771650"/>
                </a:lnTo>
                <a:cubicBezTo>
                  <a:pt x="34115" y="1771650"/>
                  <a:pt x="0" y="1737535"/>
                  <a:pt x="0" y="16954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2" name="Shape 38"/>
          <p:cNvSpPr/>
          <p:nvPr/>
        </p:nvSpPr>
        <p:spPr>
          <a:xfrm>
            <a:off x="6191250" y="3333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3" name="Shape 39"/>
          <p:cNvSpPr/>
          <p:nvPr/>
        </p:nvSpPr>
        <p:spPr>
          <a:xfrm>
            <a:off x="6381750" y="3581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4" name="Text 40"/>
          <p:cNvSpPr/>
          <p:nvPr/>
        </p:nvSpPr>
        <p:spPr>
          <a:xfrm>
            <a:off x="6734176" y="35433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互动功能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6381750" y="40005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585347" y="3962400"/>
            <a:ext cx="1981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玩家移动: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WASD键控制移动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6381750" y="43434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6585347" y="4305300"/>
            <a:ext cx="1990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碰撞检测: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智能判断可走位置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6381750" y="468630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60" name="Text 46"/>
          <p:cNvSpPr/>
          <p:nvPr/>
        </p:nvSpPr>
        <p:spPr>
          <a:xfrm>
            <a:off x="6585347" y="4648200"/>
            <a:ext cx="1990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游戏循环: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实时响应用户输入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6191250" y="5257800"/>
            <a:ext cx="5619750" cy="1219200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62" name="Shape 48"/>
          <p:cNvSpPr/>
          <p:nvPr/>
        </p:nvSpPr>
        <p:spPr>
          <a:xfrm>
            <a:off x="6367463" y="5457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3" name="Text 49"/>
          <p:cNvSpPr/>
          <p:nvPr/>
        </p:nvSpPr>
        <p:spPr>
          <a:xfrm>
            <a:off x="6562725" y="5410200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非功能需求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6343650" y="5791200"/>
            <a:ext cx="1695450" cy="533400"/>
          </a:xfrm>
          <a:custGeom>
            <a:avLst/>
            <a:gdLst/>
            <a:ahLst/>
            <a:cxnLst/>
            <a:rect l="l" t="t" r="r" b="b"/>
            <a:pathLst>
              <a:path w="1695450" h="533400">
                <a:moveTo>
                  <a:pt x="38101" y="0"/>
                </a:moveTo>
                <a:lnTo>
                  <a:pt x="1657349" y="0"/>
                </a:lnTo>
                <a:cubicBezTo>
                  <a:pt x="1678392" y="0"/>
                  <a:pt x="1695450" y="17058"/>
                  <a:pt x="1695450" y="38101"/>
                </a:cubicBezTo>
                <a:lnTo>
                  <a:pt x="1695450" y="495299"/>
                </a:lnTo>
                <a:cubicBezTo>
                  <a:pt x="1695450" y="516342"/>
                  <a:pt x="1678392" y="533400"/>
                  <a:pt x="16573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5" name="Text 51"/>
          <p:cNvSpPr/>
          <p:nvPr/>
        </p:nvSpPr>
        <p:spPr>
          <a:xfrm>
            <a:off x="6310313" y="58674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</a:t>
            </a:r>
            <a:endParaRPr lang="en-US" sz="1600" dirty="0"/>
          </a:p>
        </p:txBody>
      </p:sp>
      <p:sp>
        <p:nvSpPr>
          <p:cNvPr id="66" name="Text 52"/>
          <p:cNvSpPr/>
          <p:nvPr/>
        </p:nvSpPr>
        <p:spPr>
          <a:xfrm>
            <a:off x="6310313" y="60579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O(R²)</a:t>
            </a:r>
            <a:endParaRPr lang="en-US" sz="1600" dirty="0"/>
          </a:p>
        </p:txBody>
      </p:sp>
      <p:sp>
        <p:nvSpPr>
          <p:cNvPr id="67" name="Shape 53"/>
          <p:cNvSpPr/>
          <p:nvPr/>
        </p:nvSpPr>
        <p:spPr>
          <a:xfrm>
            <a:off x="8153401" y="5791200"/>
            <a:ext cx="1695450" cy="533400"/>
          </a:xfrm>
          <a:custGeom>
            <a:avLst/>
            <a:gdLst/>
            <a:ahLst/>
            <a:cxnLst/>
            <a:rect l="l" t="t" r="r" b="b"/>
            <a:pathLst>
              <a:path w="1695450" h="533400">
                <a:moveTo>
                  <a:pt x="38101" y="0"/>
                </a:moveTo>
                <a:lnTo>
                  <a:pt x="1657349" y="0"/>
                </a:lnTo>
                <a:cubicBezTo>
                  <a:pt x="1678392" y="0"/>
                  <a:pt x="1695450" y="17058"/>
                  <a:pt x="1695450" y="38101"/>
                </a:cubicBezTo>
                <a:lnTo>
                  <a:pt x="1695450" y="495299"/>
                </a:lnTo>
                <a:cubicBezTo>
                  <a:pt x="1695450" y="516342"/>
                  <a:pt x="1678392" y="533400"/>
                  <a:pt x="16573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8" name="Text 54"/>
          <p:cNvSpPr/>
          <p:nvPr/>
        </p:nvSpPr>
        <p:spPr>
          <a:xfrm>
            <a:off x="8120063" y="58674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约束</a:t>
            </a:r>
            <a:endParaRPr lang="en-US" sz="1600" dirty="0"/>
          </a:p>
        </p:txBody>
      </p:sp>
      <p:sp>
        <p:nvSpPr>
          <p:cNvPr id="69" name="Text 55"/>
          <p:cNvSpPr/>
          <p:nvPr/>
        </p:nvSpPr>
        <p:spPr>
          <a:xfrm>
            <a:off x="8120063" y="60579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最多50个房间</a:t>
            </a:r>
            <a:endParaRPr lang="en-US" sz="1600" dirty="0"/>
          </a:p>
        </p:txBody>
      </p:sp>
      <p:sp>
        <p:nvSpPr>
          <p:cNvPr id="70" name="Shape 56"/>
          <p:cNvSpPr/>
          <p:nvPr/>
        </p:nvSpPr>
        <p:spPr>
          <a:xfrm>
            <a:off x="9963150" y="5791200"/>
            <a:ext cx="1695450" cy="533400"/>
          </a:xfrm>
          <a:custGeom>
            <a:avLst/>
            <a:gdLst/>
            <a:ahLst/>
            <a:cxnLst/>
            <a:rect l="l" t="t" r="r" b="b"/>
            <a:pathLst>
              <a:path w="1695450" h="533400">
                <a:moveTo>
                  <a:pt x="38101" y="0"/>
                </a:moveTo>
                <a:lnTo>
                  <a:pt x="1657349" y="0"/>
                </a:lnTo>
                <a:cubicBezTo>
                  <a:pt x="1678392" y="0"/>
                  <a:pt x="1695450" y="17058"/>
                  <a:pt x="1695450" y="38101"/>
                </a:cubicBezTo>
                <a:lnTo>
                  <a:pt x="1695450" y="495299"/>
                </a:lnTo>
                <a:cubicBezTo>
                  <a:pt x="1695450" y="516342"/>
                  <a:pt x="1678392" y="533400"/>
                  <a:pt x="165734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71" name="Text 57"/>
          <p:cNvSpPr/>
          <p:nvPr/>
        </p:nvSpPr>
        <p:spPr>
          <a:xfrm>
            <a:off x="9929813" y="58674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确定性</a:t>
            </a:r>
            <a:endParaRPr lang="en-US" sz="1600" dirty="0"/>
          </a:p>
        </p:txBody>
      </p:sp>
      <p:sp>
        <p:nvSpPr>
          <p:cNvPr id="72" name="Text 58"/>
          <p:cNvSpPr/>
          <p:nvPr/>
        </p:nvSpPr>
        <p:spPr>
          <a:xfrm>
            <a:off x="9929813" y="6057900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可重复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 核心数据结构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GRAPH STRUCTURE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图结构: 邻接表实现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400050" y="1371600"/>
            <a:ext cx="5410200" cy="3124200"/>
          </a:xfrm>
          <a:custGeom>
            <a:avLst/>
            <a:gdLst/>
            <a:ahLst/>
            <a:cxnLst/>
            <a:rect l="l" t="t" r="r" b="b"/>
            <a:pathLst>
              <a:path w="5410200" h="3124200">
                <a:moveTo>
                  <a:pt x="38100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3048001"/>
                </a:lnTo>
                <a:cubicBezTo>
                  <a:pt x="5410200" y="3090084"/>
                  <a:pt x="5376084" y="3124200"/>
                  <a:pt x="5334001" y="3124200"/>
                </a:cubicBez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371600"/>
            <a:ext cx="38100" cy="3124200"/>
          </a:xfrm>
          <a:custGeom>
            <a:avLst/>
            <a:gdLst/>
            <a:ahLst/>
            <a:cxnLst/>
            <a:rect l="l" t="t" r="r" b="b"/>
            <a:pathLst>
              <a:path w="38100" h="3124200">
                <a:moveTo>
                  <a:pt x="38100" y="0"/>
                </a:moveTo>
                <a:lnTo>
                  <a:pt x="38100" y="0"/>
                </a:lnTo>
                <a:lnTo>
                  <a:pt x="38100" y="3124200"/>
                </a:ln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6334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2860" y="11943"/>
                </a:moveTo>
                <a:cubicBezTo>
                  <a:pt x="84720" y="18231"/>
                  <a:pt x="81149" y="24892"/>
                  <a:pt x="74861" y="26752"/>
                </a:cubicBezTo>
                <a:cubicBezTo>
                  <a:pt x="45355" y="35533"/>
                  <a:pt x="23850" y="62880"/>
                  <a:pt x="23850" y="95250"/>
                </a:cubicBezTo>
                <a:cubicBezTo>
                  <a:pt x="23850" y="134689"/>
                  <a:pt x="55848" y="166688"/>
                  <a:pt x="95287" y="166688"/>
                </a:cubicBezTo>
                <a:cubicBezTo>
                  <a:pt x="134727" y="166688"/>
                  <a:pt x="166725" y="134689"/>
                  <a:pt x="166725" y="95250"/>
                </a:cubicBezTo>
                <a:cubicBezTo>
                  <a:pt x="166725" y="62917"/>
                  <a:pt x="145219" y="35570"/>
                  <a:pt x="115714" y="26752"/>
                </a:cubicBezTo>
                <a:cubicBezTo>
                  <a:pt x="109426" y="24892"/>
                  <a:pt x="105817" y="18231"/>
                  <a:pt x="107714" y="11943"/>
                </a:cubicBezTo>
                <a:cubicBezTo>
                  <a:pt x="109612" y="5655"/>
                  <a:pt x="116235" y="2046"/>
                  <a:pt x="122523" y="3944"/>
                </a:cubicBezTo>
                <a:cubicBezTo>
                  <a:pt x="161813" y="15664"/>
                  <a:pt x="190500" y="52090"/>
                  <a:pt x="190500" y="95250"/>
                </a:cubicBezTo>
                <a:cubicBezTo>
                  <a:pt x="190500" y="147861"/>
                  <a:pt x="147861" y="190500"/>
                  <a:pt x="95250" y="190500"/>
                </a:cubicBezTo>
                <a:cubicBezTo>
                  <a:pt x="42639" y="190500"/>
                  <a:pt x="0" y="147861"/>
                  <a:pt x="0" y="95250"/>
                </a:cubicBezTo>
                <a:cubicBezTo>
                  <a:pt x="0" y="52090"/>
                  <a:pt x="28687" y="15664"/>
                  <a:pt x="68052" y="3944"/>
                </a:cubicBezTo>
                <a:cubicBezTo>
                  <a:pt x="74340" y="2084"/>
                  <a:pt x="81000" y="5655"/>
                  <a:pt x="82860" y="11943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847725" y="1562100"/>
            <a:ext cx="486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图的基本概念</a:t>
            </a:r>
            <a:endParaRPr lang="en-US" sz="1600" dirty="0"/>
          </a:p>
        </p:txBody>
      </p:sp>
      <p:sp>
        <p:nvSpPr>
          <p:cNvPr id="21" name="Shape 7"/>
          <p:cNvSpPr/>
          <p:nvPr/>
        </p:nvSpPr>
        <p:spPr>
          <a:xfrm>
            <a:off x="609600" y="1943100"/>
            <a:ext cx="5010150" cy="381000"/>
          </a:xfrm>
          <a:custGeom>
            <a:avLst/>
            <a:gdLst/>
            <a:ahLst/>
            <a:cxnLst/>
            <a:rect l="l" t="t" r="r" b="b"/>
            <a:pathLst>
              <a:path w="5010150" h="381000">
                <a:moveTo>
                  <a:pt x="38100" y="0"/>
                </a:moveTo>
                <a:lnTo>
                  <a:pt x="4972050" y="0"/>
                </a:lnTo>
                <a:cubicBezTo>
                  <a:pt x="4993078" y="0"/>
                  <a:pt x="5010150" y="17072"/>
                  <a:pt x="5010150" y="38100"/>
                </a:cubicBezTo>
                <a:lnTo>
                  <a:pt x="5010150" y="342900"/>
                </a:lnTo>
                <a:cubicBezTo>
                  <a:pt x="5010150" y="363928"/>
                  <a:pt x="4993078" y="381000"/>
                  <a:pt x="49720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2" name="Text 8"/>
          <p:cNvSpPr/>
          <p:nvPr/>
        </p:nvSpPr>
        <p:spPr>
          <a:xfrm>
            <a:off x="723900" y="2030188"/>
            <a:ext cx="963811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顶点(Vertex):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1731764" y="2030188"/>
            <a:ext cx="1530463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图中的节点, 代表房间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609600" y="2438400"/>
            <a:ext cx="5010150" cy="381000"/>
          </a:xfrm>
          <a:custGeom>
            <a:avLst/>
            <a:gdLst/>
            <a:ahLst/>
            <a:cxnLst/>
            <a:rect l="l" t="t" r="r" b="b"/>
            <a:pathLst>
              <a:path w="5010150" h="381000">
                <a:moveTo>
                  <a:pt x="38100" y="0"/>
                </a:moveTo>
                <a:lnTo>
                  <a:pt x="4972050" y="0"/>
                </a:lnTo>
                <a:cubicBezTo>
                  <a:pt x="4993078" y="0"/>
                  <a:pt x="5010150" y="17072"/>
                  <a:pt x="5010150" y="38100"/>
                </a:cubicBezTo>
                <a:lnTo>
                  <a:pt x="5010150" y="342900"/>
                </a:lnTo>
                <a:cubicBezTo>
                  <a:pt x="5010150" y="363928"/>
                  <a:pt x="4993078" y="381000"/>
                  <a:pt x="49720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5" name="Text 11"/>
          <p:cNvSpPr/>
          <p:nvPr/>
        </p:nvSpPr>
        <p:spPr>
          <a:xfrm>
            <a:off x="723900" y="2525488"/>
            <a:ext cx="71480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边(Edge):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1482753" y="2525488"/>
            <a:ext cx="1987663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连接两个顶点的线, 代表走廊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609600" y="2933700"/>
            <a:ext cx="5010150" cy="381000"/>
          </a:xfrm>
          <a:custGeom>
            <a:avLst/>
            <a:gdLst/>
            <a:ahLst/>
            <a:cxnLst/>
            <a:rect l="l" t="t" r="r" b="b"/>
            <a:pathLst>
              <a:path w="5010150" h="381000">
                <a:moveTo>
                  <a:pt x="38100" y="0"/>
                </a:moveTo>
                <a:lnTo>
                  <a:pt x="4972050" y="0"/>
                </a:lnTo>
                <a:cubicBezTo>
                  <a:pt x="4993078" y="0"/>
                  <a:pt x="5010150" y="17072"/>
                  <a:pt x="5010150" y="38100"/>
                </a:cubicBezTo>
                <a:lnTo>
                  <a:pt x="5010150" y="342900"/>
                </a:lnTo>
                <a:cubicBezTo>
                  <a:pt x="5010150" y="363928"/>
                  <a:pt x="4993078" y="381000"/>
                  <a:pt x="49720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8" name="Text 14"/>
          <p:cNvSpPr/>
          <p:nvPr/>
        </p:nvSpPr>
        <p:spPr>
          <a:xfrm>
            <a:off x="723900" y="3020788"/>
            <a:ext cx="5703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无向图:</a:t>
            </a:r>
            <a:endParaRPr lang="en-US" sz="1600" dirty="0"/>
          </a:p>
        </p:txBody>
      </p:sp>
      <p:sp>
        <p:nvSpPr>
          <p:cNvPr id="29" name="Text 15"/>
          <p:cNvSpPr/>
          <p:nvPr/>
        </p:nvSpPr>
        <p:spPr>
          <a:xfrm>
            <a:off x="1338263" y="3020788"/>
            <a:ext cx="1916906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边没有方向, A-B和B-A相同</a:t>
            </a:r>
            <a:endParaRPr lang="en-US" sz="1600" dirty="0"/>
          </a:p>
        </p:txBody>
      </p:sp>
      <p:sp>
        <p:nvSpPr>
          <p:cNvPr id="30" name="Shape 16"/>
          <p:cNvSpPr/>
          <p:nvPr/>
        </p:nvSpPr>
        <p:spPr>
          <a:xfrm>
            <a:off x="609600" y="3429000"/>
            <a:ext cx="5010150" cy="381000"/>
          </a:xfrm>
          <a:custGeom>
            <a:avLst/>
            <a:gdLst/>
            <a:ahLst/>
            <a:cxnLst/>
            <a:rect l="l" t="t" r="r" b="b"/>
            <a:pathLst>
              <a:path w="5010150" h="381000">
                <a:moveTo>
                  <a:pt x="38100" y="0"/>
                </a:moveTo>
                <a:lnTo>
                  <a:pt x="4972050" y="0"/>
                </a:lnTo>
                <a:cubicBezTo>
                  <a:pt x="4993078" y="0"/>
                  <a:pt x="5010150" y="17072"/>
                  <a:pt x="5010150" y="38100"/>
                </a:cubicBezTo>
                <a:lnTo>
                  <a:pt x="5010150" y="342900"/>
                </a:lnTo>
                <a:cubicBezTo>
                  <a:pt x="5010150" y="363928"/>
                  <a:pt x="4993078" y="381000"/>
                  <a:pt x="49720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1" name="Text 17"/>
          <p:cNvSpPr/>
          <p:nvPr/>
        </p:nvSpPr>
        <p:spPr>
          <a:xfrm>
            <a:off x="723900" y="3516088"/>
            <a:ext cx="1126927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邻接(Adjacent):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1894880" y="3516088"/>
            <a:ext cx="160020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两个顶点之间有边相连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609600" y="3924300"/>
            <a:ext cx="5010150" cy="381000"/>
          </a:xfrm>
          <a:custGeom>
            <a:avLst/>
            <a:gdLst/>
            <a:ahLst/>
            <a:cxnLst/>
            <a:rect l="l" t="t" r="r" b="b"/>
            <a:pathLst>
              <a:path w="5010150" h="381000">
                <a:moveTo>
                  <a:pt x="38100" y="0"/>
                </a:moveTo>
                <a:lnTo>
                  <a:pt x="4972050" y="0"/>
                </a:lnTo>
                <a:cubicBezTo>
                  <a:pt x="4993078" y="0"/>
                  <a:pt x="5010150" y="17072"/>
                  <a:pt x="5010150" y="38100"/>
                </a:cubicBezTo>
                <a:lnTo>
                  <a:pt x="5010150" y="342900"/>
                </a:lnTo>
                <a:cubicBezTo>
                  <a:pt x="5010150" y="363928"/>
                  <a:pt x="4993078" y="381000"/>
                  <a:pt x="49720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4" name="Text 20"/>
          <p:cNvSpPr/>
          <p:nvPr/>
        </p:nvSpPr>
        <p:spPr>
          <a:xfrm>
            <a:off x="723900" y="4011388"/>
            <a:ext cx="5703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连通性: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1338263" y="4011388"/>
            <a:ext cx="160020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图中所有顶点相互可达</a:t>
            </a:r>
            <a:endParaRPr lang="en-US" sz="1600" dirty="0"/>
          </a:p>
        </p:txBody>
      </p:sp>
      <p:sp>
        <p:nvSpPr>
          <p:cNvPr id="36" name="Shape 22"/>
          <p:cNvSpPr/>
          <p:nvPr/>
        </p:nvSpPr>
        <p:spPr>
          <a:xfrm>
            <a:off x="400050" y="4648200"/>
            <a:ext cx="5410200" cy="1981200"/>
          </a:xfrm>
          <a:custGeom>
            <a:avLst/>
            <a:gdLst/>
            <a:ahLst/>
            <a:cxnLst/>
            <a:rect l="l" t="t" r="r" b="b"/>
            <a:pathLst>
              <a:path w="5410200" h="1981200">
                <a:moveTo>
                  <a:pt x="38100" y="0"/>
                </a:moveTo>
                <a:lnTo>
                  <a:pt x="5334003" y="0"/>
                </a:lnTo>
                <a:cubicBezTo>
                  <a:pt x="5376085" y="0"/>
                  <a:pt x="5410200" y="34115"/>
                  <a:pt x="5410200" y="76197"/>
                </a:cubicBezTo>
                <a:lnTo>
                  <a:pt x="5410200" y="1905003"/>
                </a:lnTo>
                <a:cubicBezTo>
                  <a:pt x="5410200" y="1947085"/>
                  <a:pt x="5376085" y="1981200"/>
                  <a:pt x="5334003" y="1981200"/>
                </a:cubicBezTo>
                <a:lnTo>
                  <a:pt x="38100" y="1981200"/>
                </a:lnTo>
                <a:cubicBezTo>
                  <a:pt x="17072" y="1981200"/>
                  <a:pt x="0" y="1964128"/>
                  <a:pt x="0" y="1943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7" name="Shape 23"/>
          <p:cNvSpPr/>
          <p:nvPr/>
        </p:nvSpPr>
        <p:spPr>
          <a:xfrm>
            <a:off x="400050" y="464820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3810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38100" y="1981200"/>
                </a:lnTo>
                <a:cubicBezTo>
                  <a:pt x="17072" y="1981200"/>
                  <a:pt x="0" y="1964128"/>
                  <a:pt x="0" y="1943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8" name="Shape 24"/>
          <p:cNvSpPr/>
          <p:nvPr/>
        </p:nvSpPr>
        <p:spPr>
          <a:xfrm>
            <a:off x="621506" y="48768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9" name="Text 25"/>
          <p:cNvSpPr/>
          <p:nvPr/>
        </p:nvSpPr>
        <p:spPr>
          <a:xfrm>
            <a:off x="847725" y="4838700"/>
            <a:ext cx="486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邻接表优点</a:t>
            </a:r>
            <a:endParaRPr lang="en-US" sz="1600" dirty="0"/>
          </a:p>
        </p:txBody>
      </p:sp>
      <p:sp>
        <p:nvSpPr>
          <p:cNvPr id="40" name="Text 26"/>
          <p:cNvSpPr/>
          <p:nvPr/>
        </p:nvSpPr>
        <p:spPr>
          <a:xfrm>
            <a:off x="609600" y="5257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838200" y="5219700"/>
            <a:ext cx="3524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空间复杂度 O(V+E):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只存储实际连接关系, 节省内存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609600" y="5600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838200" y="5562600"/>
            <a:ext cx="2600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适合稀疏图: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房间之间的连接相对较少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609600" y="5943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838200" y="5905500"/>
            <a:ext cx="2143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遍历效率高: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快速访问邻接顶点</a:t>
            </a:r>
            <a:endParaRPr lang="en-US" sz="1600" dirty="0"/>
          </a:p>
        </p:txBody>
      </p:sp>
      <p:sp>
        <p:nvSpPr>
          <p:cNvPr id="46" name="Shape 32"/>
          <p:cNvSpPr/>
          <p:nvPr/>
        </p:nvSpPr>
        <p:spPr>
          <a:xfrm>
            <a:off x="6000750" y="1371600"/>
            <a:ext cx="5810250" cy="5257800"/>
          </a:xfrm>
          <a:custGeom>
            <a:avLst/>
            <a:gdLst/>
            <a:ahLst/>
            <a:cxnLst/>
            <a:rect l="l" t="t" r="r" b="b"/>
            <a:pathLst>
              <a:path w="5810250" h="5257800">
                <a:moveTo>
                  <a:pt x="76186" y="0"/>
                </a:moveTo>
                <a:lnTo>
                  <a:pt x="5734064" y="0"/>
                </a:lnTo>
                <a:cubicBezTo>
                  <a:pt x="5776141" y="0"/>
                  <a:pt x="5810250" y="34109"/>
                  <a:pt x="5810250" y="76186"/>
                </a:cubicBezTo>
                <a:lnTo>
                  <a:pt x="5810250" y="5181614"/>
                </a:lnTo>
                <a:cubicBezTo>
                  <a:pt x="5810250" y="5223691"/>
                  <a:pt x="5776141" y="5257800"/>
                  <a:pt x="5734064" y="5257800"/>
                </a:cubicBezTo>
                <a:lnTo>
                  <a:pt x="76186" y="5257800"/>
                </a:lnTo>
                <a:cubicBezTo>
                  <a:pt x="34109" y="5257800"/>
                  <a:pt x="0" y="5223691"/>
                  <a:pt x="0" y="51816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7" name="Shape 33"/>
          <p:cNvSpPr/>
          <p:nvPr/>
        </p:nvSpPr>
        <p:spPr>
          <a:xfrm>
            <a:off x="6203156" y="1600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8" name="Text 34"/>
          <p:cNvSpPr/>
          <p:nvPr/>
        </p:nvSpPr>
        <p:spPr>
          <a:xfrm>
            <a:off x="6429375" y="1562100"/>
            <a:ext cx="528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邻接表代码实现</a:t>
            </a:r>
            <a:endParaRPr lang="en-US" sz="1600" dirty="0"/>
          </a:p>
        </p:txBody>
      </p:sp>
      <p:sp>
        <p:nvSpPr>
          <p:cNvPr id="49" name="Shape 35"/>
          <p:cNvSpPr/>
          <p:nvPr/>
        </p:nvSpPr>
        <p:spPr>
          <a:xfrm>
            <a:off x="6210300" y="1943100"/>
            <a:ext cx="5410200" cy="1971675"/>
          </a:xfrm>
          <a:custGeom>
            <a:avLst/>
            <a:gdLst/>
            <a:ahLst/>
            <a:cxnLst/>
            <a:rect l="l" t="t" r="r" b="b"/>
            <a:pathLst>
              <a:path w="5410200" h="1971675">
                <a:moveTo>
                  <a:pt x="38100" y="0"/>
                </a:moveTo>
                <a:lnTo>
                  <a:pt x="5333995" y="0"/>
                </a:lnTo>
                <a:cubicBezTo>
                  <a:pt x="5376082" y="0"/>
                  <a:pt x="5410200" y="34118"/>
                  <a:pt x="5410200" y="76205"/>
                </a:cubicBezTo>
                <a:lnTo>
                  <a:pt x="5410200" y="1895470"/>
                </a:lnTo>
                <a:cubicBezTo>
                  <a:pt x="5410200" y="1937557"/>
                  <a:pt x="5376082" y="1971675"/>
                  <a:pt x="5333995" y="1971675"/>
                </a:cubicBezTo>
                <a:lnTo>
                  <a:pt x="38100" y="1971675"/>
                </a:lnTo>
                <a:cubicBezTo>
                  <a:pt x="17072" y="1971675"/>
                  <a:pt x="0" y="1954603"/>
                  <a:pt x="0" y="1933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0" name="Shape 36"/>
          <p:cNvSpPr/>
          <p:nvPr/>
        </p:nvSpPr>
        <p:spPr>
          <a:xfrm>
            <a:off x="6210300" y="1943100"/>
            <a:ext cx="38100" cy="1971675"/>
          </a:xfrm>
          <a:custGeom>
            <a:avLst/>
            <a:gdLst/>
            <a:ahLst/>
            <a:cxnLst/>
            <a:rect l="l" t="t" r="r" b="b"/>
            <a:pathLst>
              <a:path w="38100" h="1971675">
                <a:moveTo>
                  <a:pt x="38100" y="0"/>
                </a:moveTo>
                <a:lnTo>
                  <a:pt x="38100" y="0"/>
                </a:lnTo>
                <a:lnTo>
                  <a:pt x="38100" y="1971675"/>
                </a:lnTo>
                <a:lnTo>
                  <a:pt x="38100" y="1971675"/>
                </a:lnTo>
                <a:cubicBezTo>
                  <a:pt x="17072" y="1971675"/>
                  <a:pt x="0" y="1954603"/>
                  <a:pt x="0" y="1933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1" name="Text 37"/>
          <p:cNvSpPr/>
          <p:nvPr/>
        </p:nvSpPr>
        <p:spPr>
          <a:xfrm>
            <a:off x="6381750" y="2095500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邻接表节点定义</a:t>
            </a:r>
            <a:endParaRPr lang="en-US" sz="1600" dirty="0"/>
          </a:p>
        </p:txBody>
      </p:sp>
      <p:sp>
        <p:nvSpPr>
          <p:cNvPr id="52" name="Text 38"/>
          <p:cNvSpPr/>
          <p:nvPr/>
        </p:nvSpPr>
        <p:spPr>
          <a:xfrm>
            <a:off x="6381750" y="2362200"/>
            <a:ext cx="5153025" cy="140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RoomConnection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roomId;                    // 连接的房间ID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struct RoomConnection* next;   // 指向下一个连接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RoomConnection;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 邻接表数组:每个房间对应一个连接列表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RoomConnection* connections[MAX_ROOMS];</a:t>
            </a:r>
            <a:endParaRPr lang="en-US" sz="1600" dirty="0"/>
          </a:p>
        </p:txBody>
      </p:sp>
      <p:sp>
        <p:nvSpPr>
          <p:cNvPr id="53" name="Shape 39"/>
          <p:cNvSpPr/>
          <p:nvPr/>
        </p:nvSpPr>
        <p:spPr>
          <a:xfrm>
            <a:off x="6210300" y="4067175"/>
            <a:ext cx="5410200" cy="2371725"/>
          </a:xfrm>
          <a:custGeom>
            <a:avLst/>
            <a:gdLst/>
            <a:ahLst/>
            <a:cxnLst/>
            <a:rect l="l" t="t" r="r" b="b"/>
            <a:pathLst>
              <a:path w="5410200" h="2371725">
                <a:moveTo>
                  <a:pt x="38100" y="0"/>
                </a:moveTo>
                <a:lnTo>
                  <a:pt x="5333996" y="0"/>
                </a:lnTo>
                <a:cubicBezTo>
                  <a:pt x="5376083" y="0"/>
                  <a:pt x="5410200" y="34117"/>
                  <a:pt x="5410200" y="76204"/>
                </a:cubicBezTo>
                <a:lnTo>
                  <a:pt x="5410200" y="2295521"/>
                </a:lnTo>
                <a:cubicBezTo>
                  <a:pt x="5410200" y="2337608"/>
                  <a:pt x="5376083" y="2371725"/>
                  <a:pt x="5333996" y="2371725"/>
                </a:cubicBezTo>
                <a:lnTo>
                  <a:pt x="38100" y="2371725"/>
                </a:lnTo>
                <a:cubicBezTo>
                  <a:pt x="17058" y="2371725"/>
                  <a:pt x="0" y="2354667"/>
                  <a:pt x="0" y="2333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4" name="Shape 40"/>
          <p:cNvSpPr/>
          <p:nvPr/>
        </p:nvSpPr>
        <p:spPr>
          <a:xfrm>
            <a:off x="6210300" y="4067175"/>
            <a:ext cx="38100" cy="2371725"/>
          </a:xfrm>
          <a:custGeom>
            <a:avLst/>
            <a:gdLst/>
            <a:ahLst/>
            <a:cxnLst/>
            <a:rect l="l" t="t" r="r" b="b"/>
            <a:pathLst>
              <a:path w="38100" h="2371725">
                <a:moveTo>
                  <a:pt x="38100" y="0"/>
                </a:moveTo>
                <a:lnTo>
                  <a:pt x="38100" y="0"/>
                </a:lnTo>
                <a:lnTo>
                  <a:pt x="38100" y="2371725"/>
                </a:lnTo>
                <a:lnTo>
                  <a:pt x="38100" y="2371725"/>
                </a:lnTo>
                <a:cubicBezTo>
                  <a:pt x="17072" y="2371725"/>
                  <a:pt x="0" y="2354653"/>
                  <a:pt x="0" y="2333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5" name="Text 41"/>
          <p:cNvSpPr/>
          <p:nvPr/>
        </p:nvSpPr>
        <p:spPr>
          <a:xfrm>
            <a:off x="6381750" y="4219575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邻接表操作示例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381750" y="4486275"/>
            <a:ext cx="5153025" cy="1800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 添加连接(无向图)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addConnection(int roomA, int roomB)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// 在roomA的连接列表中添加roomB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RoomConnection* conn =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(RoomConnection*)malloc(sizeof(RoomConnection));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conn-&gt;roomId = roomB;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conn-&gt;next = connections[roomA];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connections[roomA] = conn;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454372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470545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470545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464154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464323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489927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DISJOINT SET UNION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并查集: 连通性管理利器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4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317500" y="1158875"/>
            <a:ext cx="5127625" cy="2270125"/>
          </a:xfrm>
          <a:custGeom>
            <a:avLst/>
            <a:gdLst/>
            <a:ahLst/>
            <a:cxnLst/>
            <a:rect l="l" t="t" r="r" b="b"/>
            <a:pathLst>
              <a:path w="5127625" h="37782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714738"/>
                </a:lnTo>
                <a:cubicBezTo>
                  <a:pt x="5127625" y="3749815"/>
                  <a:pt x="5099190" y="3778250"/>
                  <a:pt x="5064113" y="3778250"/>
                </a:cubicBezTo>
                <a:lnTo>
                  <a:pt x="63512" y="3778250"/>
                </a:lnTo>
                <a:cubicBezTo>
                  <a:pt x="28435" y="3778250"/>
                  <a:pt x="0" y="3749815"/>
                  <a:pt x="0" y="37147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17500" y="1158879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496094" y="136525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674688" y="1333504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476250" y="1651004"/>
            <a:ext cx="4873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并查集(Disjoint Set / Union-Find)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是专门用于管理多个不相交集合的数据结构,支持合并(Union)与查询(Find)操作,能以近乎常数时间完成操作。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476250" y="2159004"/>
            <a:ext cx="4810125" cy="952500"/>
          </a:xfrm>
          <a:custGeom>
            <a:avLst/>
            <a:gdLst/>
            <a:ahLst/>
            <a:cxnLst/>
            <a:rect l="l" t="t" r="r" b="b"/>
            <a:pathLst>
              <a:path w="4810125" h="952500">
                <a:moveTo>
                  <a:pt x="31747" y="0"/>
                </a:moveTo>
                <a:lnTo>
                  <a:pt x="4778378" y="0"/>
                </a:lnTo>
                <a:cubicBezTo>
                  <a:pt x="4795911" y="0"/>
                  <a:pt x="4810125" y="14214"/>
                  <a:pt x="4810125" y="31747"/>
                </a:cubicBezTo>
                <a:lnTo>
                  <a:pt x="4810125" y="920753"/>
                </a:lnTo>
                <a:cubicBezTo>
                  <a:pt x="4810125" y="938286"/>
                  <a:pt x="4795911" y="952500"/>
                  <a:pt x="4778378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571500" y="2254254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571500" y="2476504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管理互不相交的集合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571500" y="2667004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以树形结构存储每个集合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571500" y="2857504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路径压缩 + 按秩合并优化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317500" y="3607450"/>
            <a:ext cx="5127625" cy="3778250"/>
          </a:xfrm>
          <a:custGeom>
            <a:avLst/>
            <a:gdLst/>
            <a:ahLst/>
            <a:cxnLst/>
            <a:rect l="l" t="t" r="r" b="b"/>
            <a:pathLst>
              <a:path w="5127625" h="37782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714738"/>
                </a:lnTo>
                <a:cubicBezTo>
                  <a:pt x="5127625" y="3749815"/>
                  <a:pt x="5099190" y="3778250"/>
                  <a:pt x="5064113" y="3778250"/>
                </a:cubicBezTo>
                <a:lnTo>
                  <a:pt x="63512" y="3778250"/>
                </a:lnTo>
                <a:cubicBezTo>
                  <a:pt x="28435" y="3778250"/>
                  <a:pt x="0" y="3749815"/>
                  <a:pt x="0" y="37147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8" name="Shape 14"/>
          <p:cNvSpPr/>
          <p:nvPr/>
        </p:nvSpPr>
        <p:spPr>
          <a:xfrm>
            <a:off x="317500" y="3607450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9" name="Shape 15"/>
          <p:cNvSpPr/>
          <p:nvPr/>
        </p:nvSpPr>
        <p:spPr>
          <a:xfrm>
            <a:off x="476250" y="381382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Text 16"/>
          <p:cNvSpPr/>
          <p:nvPr/>
        </p:nvSpPr>
        <p:spPr>
          <a:xfrm>
            <a:off x="674688" y="3782075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基本结构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476250" y="4099575"/>
            <a:ext cx="4810125" cy="317500"/>
          </a:xfrm>
          <a:custGeom>
            <a:avLst/>
            <a:gdLst/>
            <a:ahLst/>
            <a:cxnLst/>
            <a:rect l="l" t="t" r="r" b="b"/>
            <a:pathLst>
              <a:path w="4810125" h="317500">
                <a:moveTo>
                  <a:pt x="31750" y="0"/>
                </a:moveTo>
                <a:lnTo>
                  <a:pt x="4778375" y="0"/>
                </a:lnTo>
                <a:cubicBezTo>
                  <a:pt x="4795898" y="0"/>
                  <a:pt x="4810125" y="14227"/>
                  <a:pt x="4810125" y="31750"/>
                </a:cubicBezTo>
                <a:lnTo>
                  <a:pt x="4810125" y="285750"/>
                </a:lnTo>
                <a:cubicBezTo>
                  <a:pt x="4810125" y="303273"/>
                  <a:pt x="4795898" y="317500"/>
                  <a:pt x="4778375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2" name="Text 18"/>
          <p:cNvSpPr/>
          <p:nvPr/>
        </p:nvSpPr>
        <p:spPr>
          <a:xfrm>
            <a:off x="571500" y="4172148"/>
            <a:ext cx="561791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parent[]: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1170002" y="4172148"/>
            <a:ext cx="2037386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父节点数组, 存储每个元素的父节点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76250" y="4480575"/>
            <a:ext cx="4810125" cy="317500"/>
          </a:xfrm>
          <a:custGeom>
            <a:avLst/>
            <a:gdLst/>
            <a:ahLst/>
            <a:cxnLst/>
            <a:rect l="l" t="t" r="r" b="b"/>
            <a:pathLst>
              <a:path w="4810125" h="317500">
                <a:moveTo>
                  <a:pt x="31750" y="0"/>
                </a:moveTo>
                <a:lnTo>
                  <a:pt x="4778375" y="0"/>
                </a:lnTo>
                <a:cubicBezTo>
                  <a:pt x="4795898" y="0"/>
                  <a:pt x="4810125" y="14227"/>
                  <a:pt x="4810125" y="31750"/>
                </a:cubicBezTo>
                <a:lnTo>
                  <a:pt x="4810125" y="285750"/>
                </a:lnTo>
                <a:cubicBezTo>
                  <a:pt x="4810125" y="303273"/>
                  <a:pt x="4795898" y="317500"/>
                  <a:pt x="4778375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5" name="Text 21"/>
          <p:cNvSpPr/>
          <p:nvPr/>
        </p:nvSpPr>
        <p:spPr>
          <a:xfrm>
            <a:off x="571500" y="4553148"/>
            <a:ext cx="434224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rank[]: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1042435" y="4553148"/>
            <a:ext cx="1529386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秩数组, 用于按秩合并优化</a:t>
            </a:r>
            <a:endParaRPr lang="en-US" sz="1600" dirty="0"/>
          </a:p>
        </p:txBody>
      </p:sp>
      <p:sp>
        <p:nvSpPr>
          <p:cNvPr id="37" name="Shape 23"/>
          <p:cNvSpPr/>
          <p:nvPr/>
        </p:nvSpPr>
        <p:spPr>
          <a:xfrm>
            <a:off x="476250" y="4861575"/>
            <a:ext cx="4810125" cy="317500"/>
          </a:xfrm>
          <a:custGeom>
            <a:avLst/>
            <a:gdLst/>
            <a:ahLst/>
            <a:cxnLst/>
            <a:rect l="l" t="t" r="r" b="b"/>
            <a:pathLst>
              <a:path w="4810125" h="317500">
                <a:moveTo>
                  <a:pt x="31750" y="0"/>
                </a:moveTo>
                <a:lnTo>
                  <a:pt x="4778375" y="0"/>
                </a:lnTo>
                <a:cubicBezTo>
                  <a:pt x="4795898" y="0"/>
                  <a:pt x="4810125" y="14227"/>
                  <a:pt x="4810125" y="31750"/>
                </a:cubicBezTo>
                <a:lnTo>
                  <a:pt x="4810125" y="285750"/>
                </a:lnTo>
                <a:cubicBezTo>
                  <a:pt x="4810125" y="303273"/>
                  <a:pt x="4795898" y="317500"/>
                  <a:pt x="4778375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8" name="Text 24"/>
          <p:cNvSpPr/>
          <p:nvPr/>
        </p:nvSpPr>
        <p:spPr>
          <a:xfrm>
            <a:off x="571500" y="4934148"/>
            <a:ext cx="425365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count: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1033576" y="4934148"/>
            <a:ext cx="952500" cy="167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集合数量计数器</a:t>
            </a:r>
            <a:endParaRPr lang="en-US" sz="1600" dirty="0"/>
          </a:p>
        </p:txBody>
      </p:sp>
      <p:sp>
        <p:nvSpPr>
          <p:cNvPr id="40" name="Shape 26"/>
          <p:cNvSpPr/>
          <p:nvPr/>
        </p:nvSpPr>
        <p:spPr>
          <a:xfrm>
            <a:off x="5605145" y="360680"/>
            <a:ext cx="6270625" cy="5038090"/>
          </a:xfrm>
          <a:custGeom>
            <a:avLst/>
            <a:gdLst/>
            <a:ahLst/>
            <a:cxnLst/>
            <a:rect l="l" t="t" r="r" b="b"/>
            <a:pathLst>
              <a:path w="6270625" h="6262688">
                <a:moveTo>
                  <a:pt x="63504" y="0"/>
                </a:moveTo>
                <a:lnTo>
                  <a:pt x="6207121" y="0"/>
                </a:lnTo>
                <a:cubicBezTo>
                  <a:pt x="6242193" y="0"/>
                  <a:pt x="6270625" y="28432"/>
                  <a:pt x="6270625" y="63504"/>
                </a:cubicBezTo>
                <a:lnTo>
                  <a:pt x="6270625" y="6199184"/>
                </a:lnTo>
                <a:cubicBezTo>
                  <a:pt x="6270625" y="6234256"/>
                  <a:pt x="6242193" y="6262688"/>
                  <a:pt x="6207121" y="6262688"/>
                </a:cubicBezTo>
                <a:lnTo>
                  <a:pt x="63504" y="6262688"/>
                </a:lnTo>
                <a:cubicBezTo>
                  <a:pt x="28432" y="6262688"/>
                  <a:pt x="0" y="6234256"/>
                  <a:pt x="0" y="619918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1" name="Shape 27"/>
          <p:cNvSpPr/>
          <p:nvPr/>
        </p:nvSpPr>
        <p:spPr>
          <a:xfrm>
            <a:off x="5774106" y="55118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2" name="Text 28"/>
          <p:cNvSpPr/>
          <p:nvPr/>
        </p:nvSpPr>
        <p:spPr>
          <a:xfrm>
            <a:off x="5962622" y="519434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并查集代码实现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5780059" y="836934"/>
            <a:ext cx="5937250" cy="1476375"/>
          </a:xfrm>
          <a:custGeom>
            <a:avLst/>
            <a:gdLst/>
            <a:ahLst/>
            <a:cxnLst/>
            <a:rect l="l" t="t" r="r" b="b"/>
            <a:pathLst>
              <a:path w="5937250" h="1476375">
                <a:moveTo>
                  <a:pt x="31750" y="0"/>
                </a:moveTo>
                <a:lnTo>
                  <a:pt x="5873751" y="0"/>
                </a:lnTo>
                <a:cubicBezTo>
                  <a:pt x="5908821" y="0"/>
                  <a:pt x="5937250" y="28429"/>
                  <a:pt x="5937250" y="63499"/>
                </a:cubicBezTo>
                <a:lnTo>
                  <a:pt x="5937250" y="1412876"/>
                </a:lnTo>
                <a:cubicBezTo>
                  <a:pt x="5937250" y="1447946"/>
                  <a:pt x="5908821" y="1476375"/>
                  <a:pt x="5873751" y="1476375"/>
                </a:cubicBez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4" name="Shape 30"/>
          <p:cNvSpPr/>
          <p:nvPr/>
        </p:nvSpPr>
        <p:spPr>
          <a:xfrm>
            <a:off x="5780059" y="836934"/>
            <a:ext cx="31750" cy="1476375"/>
          </a:xfrm>
          <a:custGeom>
            <a:avLst/>
            <a:gdLst/>
            <a:ahLst/>
            <a:cxnLst/>
            <a:rect l="l" t="t" r="r" b="b"/>
            <a:pathLst>
              <a:path w="31750" h="1476375">
                <a:moveTo>
                  <a:pt x="31750" y="0"/>
                </a:moveTo>
                <a:lnTo>
                  <a:pt x="31750" y="0"/>
                </a:lnTo>
                <a:lnTo>
                  <a:pt x="31750" y="1476375"/>
                </a:lnTo>
                <a:lnTo>
                  <a:pt x="31750" y="1476375"/>
                </a:lnTo>
                <a:cubicBezTo>
                  <a:pt x="14227" y="1476375"/>
                  <a:pt x="0" y="1462148"/>
                  <a:pt x="0" y="144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5" name="Text 31"/>
          <p:cNvSpPr/>
          <p:nvPr/>
        </p:nvSpPr>
        <p:spPr>
          <a:xfrm>
            <a:off x="5922934" y="963934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查找根节点(带路径压缩)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5922934" y="1186184"/>
            <a:ext cx="5722938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 findSet(DisjointSet* ds, int 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if (ds-&gt;parent[x] != 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ds-&gt;parent[x] = findSet(ds, ds-&gt;parent[x]); // 路径压缩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return ds-&gt;parent[x];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7" name="Shape 33"/>
          <p:cNvSpPr/>
          <p:nvPr/>
        </p:nvSpPr>
        <p:spPr>
          <a:xfrm>
            <a:off x="5780059" y="2440309"/>
            <a:ext cx="5937250" cy="2809875"/>
          </a:xfrm>
          <a:custGeom>
            <a:avLst/>
            <a:gdLst/>
            <a:ahLst/>
            <a:cxnLst/>
            <a:rect l="l" t="t" r="r" b="b"/>
            <a:pathLst>
              <a:path w="5937250" h="2809875">
                <a:moveTo>
                  <a:pt x="31750" y="0"/>
                </a:moveTo>
                <a:lnTo>
                  <a:pt x="5873747" y="0"/>
                </a:lnTo>
                <a:cubicBezTo>
                  <a:pt x="5908819" y="0"/>
                  <a:pt x="5937250" y="28431"/>
                  <a:pt x="5937250" y="63503"/>
                </a:cubicBezTo>
                <a:lnTo>
                  <a:pt x="5937250" y="2746372"/>
                </a:lnTo>
                <a:cubicBezTo>
                  <a:pt x="5937250" y="2781444"/>
                  <a:pt x="5908819" y="2809875"/>
                  <a:pt x="5873747" y="2809875"/>
                </a:cubicBezTo>
                <a:lnTo>
                  <a:pt x="31750" y="2809875"/>
                </a:lnTo>
                <a:cubicBezTo>
                  <a:pt x="14227" y="2809875"/>
                  <a:pt x="0" y="2795648"/>
                  <a:pt x="0" y="2778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8" name="Shape 34"/>
          <p:cNvSpPr/>
          <p:nvPr/>
        </p:nvSpPr>
        <p:spPr>
          <a:xfrm>
            <a:off x="5780059" y="2440309"/>
            <a:ext cx="31750" cy="2809875"/>
          </a:xfrm>
          <a:custGeom>
            <a:avLst/>
            <a:gdLst/>
            <a:ahLst/>
            <a:cxnLst/>
            <a:rect l="l" t="t" r="r" b="b"/>
            <a:pathLst>
              <a:path w="31750" h="2809875">
                <a:moveTo>
                  <a:pt x="31750" y="0"/>
                </a:moveTo>
                <a:lnTo>
                  <a:pt x="31750" y="0"/>
                </a:lnTo>
                <a:lnTo>
                  <a:pt x="31750" y="2809875"/>
                </a:lnTo>
                <a:lnTo>
                  <a:pt x="31750" y="2809875"/>
                </a:lnTo>
                <a:cubicBezTo>
                  <a:pt x="14227" y="2809875"/>
                  <a:pt x="0" y="2795648"/>
                  <a:pt x="0" y="2778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9" name="Text 35"/>
          <p:cNvSpPr/>
          <p:nvPr/>
        </p:nvSpPr>
        <p:spPr>
          <a:xfrm>
            <a:off x="5922934" y="2567309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合并两个集合(按秩合并)</a:t>
            </a:r>
            <a:endParaRPr lang="en-US" sz="1600" dirty="0"/>
          </a:p>
        </p:txBody>
      </p:sp>
      <p:sp>
        <p:nvSpPr>
          <p:cNvPr id="50" name="Text 36"/>
          <p:cNvSpPr/>
          <p:nvPr/>
        </p:nvSpPr>
        <p:spPr>
          <a:xfrm>
            <a:off x="5922934" y="2789559"/>
            <a:ext cx="5722938" cy="2333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unionSets(DisjointSet* ds, int x, int y)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rootX = findSet(ds, x);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rootY = findSet(ds, y);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if (rootX != rootY)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(ds-&gt;rank[rootX] &lt; ds-&gt;rank[rootY])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ds-&gt;parent[rootX] = rootY;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 else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ds-&gt;parent[rootY] = rootX;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if (ds-&gt;rank[rootX] == ds-&gt;rank[rootY])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ds-&gt;rank[rootX]++;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5605434" y="5450800"/>
            <a:ext cx="6270625" cy="1333500"/>
          </a:xfrm>
          <a:custGeom>
            <a:avLst/>
            <a:gdLst/>
            <a:ahLst/>
            <a:cxnLst/>
            <a:rect l="l" t="t" r="r" b="b"/>
            <a:pathLst>
              <a:path w="6270625" h="1333500">
                <a:moveTo>
                  <a:pt x="63501" y="0"/>
                </a:moveTo>
                <a:lnTo>
                  <a:pt x="6207124" y="0"/>
                </a:lnTo>
                <a:cubicBezTo>
                  <a:pt x="6242195" y="0"/>
                  <a:pt x="6270625" y="28430"/>
                  <a:pt x="6270625" y="63501"/>
                </a:cubicBezTo>
                <a:lnTo>
                  <a:pt x="6270625" y="1269999"/>
                </a:lnTo>
                <a:cubicBezTo>
                  <a:pt x="6270625" y="1305070"/>
                  <a:pt x="6242195" y="1333500"/>
                  <a:pt x="6207124" y="1333500"/>
                </a:cubicBezTo>
                <a:lnTo>
                  <a:pt x="63501" y="1333500"/>
                </a:lnTo>
                <a:cubicBezTo>
                  <a:pt x="28430" y="1333500"/>
                  <a:pt x="0" y="1305070"/>
                  <a:pt x="0" y="1269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2" name="Shape 38"/>
          <p:cNvSpPr/>
          <p:nvPr/>
        </p:nvSpPr>
        <p:spPr>
          <a:xfrm>
            <a:off x="5752278" y="561748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53" name="Text 39"/>
          <p:cNvSpPr/>
          <p:nvPr/>
        </p:nvSpPr>
        <p:spPr>
          <a:xfrm>
            <a:off x="5914997" y="5577800"/>
            <a:ext cx="5905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时间复杂度分析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5732434" y="5863550"/>
            <a:ext cx="2960688" cy="793750"/>
          </a:xfrm>
          <a:custGeom>
            <a:avLst/>
            <a:gdLst/>
            <a:ahLst/>
            <a:cxnLst/>
            <a:rect l="l" t="t" r="r" b="b"/>
            <a:pathLst>
              <a:path w="2960688" h="793750">
                <a:moveTo>
                  <a:pt x="31750" y="0"/>
                </a:moveTo>
                <a:lnTo>
                  <a:pt x="2928938" y="0"/>
                </a:lnTo>
                <a:cubicBezTo>
                  <a:pt x="2946461" y="0"/>
                  <a:pt x="2960688" y="14227"/>
                  <a:pt x="2960688" y="31750"/>
                </a:cubicBezTo>
                <a:lnTo>
                  <a:pt x="2960688" y="762000"/>
                </a:lnTo>
                <a:cubicBezTo>
                  <a:pt x="2960688" y="779523"/>
                  <a:pt x="2946461" y="793750"/>
                  <a:pt x="2928938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5" name="Text 41"/>
          <p:cNvSpPr/>
          <p:nvPr/>
        </p:nvSpPr>
        <p:spPr>
          <a:xfrm>
            <a:off x="5696716" y="5958800"/>
            <a:ext cx="3032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findSet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5684809" y="6181050"/>
            <a:ext cx="3055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O(α(n))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5708622" y="6435050"/>
            <a:ext cx="3008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接近常数时间</a:t>
            </a:r>
            <a:endParaRPr lang="en-US" sz="1600" dirty="0"/>
          </a:p>
        </p:txBody>
      </p:sp>
      <p:sp>
        <p:nvSpPr>
          <p:cNvPr id="58" name="Shape 44"/>
          <p:cNvSpPr/>
          <p:nvPr/>
        </p:nvSpPr>
        <p:spPr>
          <a:xfrm>
            <a:off x="8787592" y="5863550"/>
            <a:ext cx="2960688" cy="793750"/>
          </a:xfrm>
          <a:custGeom>
            <a:avLst/>
            <a:gdLst/>
            <a:ahLst/>
            <a:cxnLst/>
            <a:rect l="l" t="t" r="r" b="b"/>
            <a:pathLst>
              <a:path w="2960688" h="793750">
                <a:moveTo>
                  <a:pt x="31750" y="0"/>
                </a:moveTo>
                <a:lnTo>
                  <a:pt x="2928938" y="0"/>
                </a:lnTo>
                <a:cubicBezTo>
                  <a:pt x="2946461" y="0"/>
                  <a:pt x="2960688" y="14227"/>
                  <a:pt x="2960688" y="31750"/>
                </a:cubicBezTo>
                <a:lnTo>
                  <a:pt x="2960688" y="762000"/>
                </a:lnTo>
                <a:cubicBezTo>
                  <a:pt x="2960688" y="779523"/>
                  <a:pt x="2946461" y="793750"/>
                  <a:pt x="2928938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9" name="Text 45"/>
          <p:cNvSpPr/>
          <p:nvPr/>
        </p:nvSpPr>
        <p:spPr>
          <a:xfrm>
            <a:off x="8751874" y="5958800"/>
            <a:ext cx="3032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unionSets</a:t>
            </a:r>
            <a:endParaRPr lang="en-US" sz="1600" dirty="0"/>
          </a:p>
        </p:txBody>
      </p:sp>
      <p:sp>
        <p:nvSpPr>
          <p:cNvPr id="60" name="Text 46"/>
          <p:cNvSpPr/>
          <p:nvPr/>
        </p:nvSpPr>
        <p:spPr>
          <a:xfrm>
            <a:off x="8739967" y="6181050"/>
            <a:ext cx="3055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O(α(n))</a:t>
            </a:r>
            <a:endParaRPr lang="en-US" sz="1600" dirty="0"/>
          </a:p>
        </p:txBody>
      </p:sp>
      <p:sp>
        <p:nvSpPr>
          <p:cNvPr id="61" name="Text 47"/>
          <p:cNvSpPr/>
          <p:nvPr/>
        </p:nvSpPr>
        <p:spPr>
          <a:xfrm>
            <a:off x="8763780" y="6435050"/>
            <a:ext cx="3008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高效合并操作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905" y="4134485"/>
            <a:ext cx="76200" cy="127635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95" y="4296410"/>
            <a:ext cx="151130" cy="131445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5940" y="4296410"/>
            <a:ext cx="151130" cy="131445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210" y="4232910"/>
            <a:ext cx="201930" cy="76200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50" y="4234180"/>
            <a:ext cx="201930" cy="76200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50" y="4490085"/>
            <a:ext cx="3003550" cy="762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QUEUE DATA STRUCTURE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队列: BFS路径查找基础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333375" y="1143000"/>
            <a:ext cx="5111750" cy="2286000"/>
          </a:xfrm>
          <a:custGeom>
            <a:avLst/>
            <a:gdLst/>
            <a:ahLst/>
            <a:cxnLst/>
            <a:rect l="l" t="t" r="r" b="b"/>
            <a:pathLst>
              <a:path w="5111750" h="4246563">
                <a:moveTo>
                  <a:pt x="31750" y="0"/>
                </a:moveTo>
                <a:lnTo>
                  <a:pt x="5048264" y="0"/>
                </a:lnTo>
                <a:cubicBezTo>
                  <a:pt x="5083326" y="0"/>
                  <a:pt x="5111750" y="28424"/>
                  <a:pt x="5111750" y="63486"/>
                </a:cubicBezTo>
                <a:lnTo>
                  <a:pt x="5111750" y="4183076"/>
                </a:lnTo>
                <a:cubicBezTo>
                  <a:pt x="5111750" y="4218139"/>
                  <a:pt x="5083326" y="4246563"/>
                  <a:pt x="5048264" y="4246563"/>
                </a:cubicBezTo>
                <a:lnTo>
                  <a:pt x="31750" y="4246563"/>
                </a:lnTo>
                <a:cubicBezTo>
                  <a:pt x="14227" y="4246563"/>
                  <a:pt x="0" y="4232336"/>
                  <a:pt x="0" y="4214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33375" y="1143000"/>
            <a:ext cx="76200" cy="2266315"/>
          </a:xfrm>
          <a:custGeom>
            <a:avLst/>
            <a:gdLst/>
            <a:ahLst/>
            <a:cxnLst/>
            <a:rect l="l" t="t" r="r" b="b"/>
            <a:pathLst>
              <a:path w="31750" h="4246563">
                <a:moveTo>
                  <a:pt x="31750" y="0"/>
                </a:moveTo>
                <a:lnTo>
                  <a:pt x="31750" y="0"/>
                </a:lnTo>
                <a:lnTo>
                  <a:pt x="31750" y="4246563"/>
                </a:lnTo>
                <a:lnTo>
                  <a:pt x="31750" y="4246563"/>
                </a:lnTo>
                <a:cubicBezTo>
                  <a:pt x="14227" y="4246563"/>
                  <a:pt x="0" y="4232336"/>
                  <a:pt x="0" y="4214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527844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706438" y="1301750"/>
            <a:ext cx="4659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队列基本概念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508000" y="1619250"/>
            <a:ext cx="48418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队列(Queue)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是一种遵循先进先出(FIFO)原则的线性数据结构,先进入的元素先被取出,就像排队等候的人群。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508000" y="2127250"/>
            <a:ext cx="4778375" cy="952500"/>
          </a:xfrm>
          <a:custGeom>
            <a:avLst/>
            <a:gdLst/>
            <a:ahLst/>
            <a:cxnLst/>
            <a:rect l="l" t="t" r="r" b="b"/>
            <a:pathLst>
              <a:path w="4778375" h="952500">
                <a:moveTo>
                  <a:pt x="31747" y="0"/>
                </a:moveTo>
                <a:lnTo>
                  <a:pt x="4746628" y="0"/>
                </a:lnTo>
                <a:cubicBezTo>
                  <a:pt x="4764161" y="0"/>
                  <a:pt x="4778375" y="14214"/>
                  <a:pt x="4778375" y="31747"/>
                </a:cubicBezTo>
                <a:lnTo>
                  <a:pt x="4778375" y="920753"/>
                </a:lnTo>
                <a:cubicBezTo>
                  <a:pt x="4778375" y="938286"/>
                  <a:pt x="4764161" y="952500"/>
                  <a:pt x="4746628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603250" y="222250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核心操作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603250" y="24447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enqueue: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入队, 在队尾添加元素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603250" y="26352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dequeue: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出队, 从队头移除元素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03250" y="28257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isEmpty: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检查队列是否为空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333375" y="3630295"/>
            <a:ext cx="5111750" cy="2814320"/>
          </a:xfrm>
          <a:custGeom>
            <a:avLst/>
            <a:gdLst/>
            <a:ahLst/>
            <a:cxnLst/>
            <a:rect l="l" t="t" r="r" b="b"/>
            <a:pathLst>
              <a:path w="5111750" h="4246563">
                <a:moveTo>
                  <a:pt x="31750" y="0"/>
                </a:moveTo>
                <a:lnTo>
                  <a:pt x="5048264" y="0"/>
                </a:lnTo>
                <a:cubicBezTo>
                  <a:pt x="5083326" y="0"/>
                  <a:pt x="5111750" y="28424"/>
                  <a:pt x="5111750" y="63486"/>
                </a:cubicBezTo>
                <a:lnTo>
                  <a:pt x="5111750" y="4183076"/>
                </a:lnTo>
                <a:cubicBezTo>
                  <a:pt x="5111750" y="4218139"/>
                  <a:pt x="5083326" y="4246563"/>
                  <a:pt x="5048264" y="4246563"/>
                </a:cubicBezTo>
                <a:lnTo>
                  <a:pt x="31750" y="4246563"/>
                </a:lnTo>
                <a:cubicBezTo>
                  <a:pt x="14227" y="4246563"/>
                  <a:pt x="0" y="4232336"/>
                  <a:pt x="0" y="4214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8" name="Shape 14"/>
          <p:cNvSpPr/>
          <p:nvPr/>
        </p:nvSpPr>
        <p:spPr>
          <a:xfrm>
            <a:off x="333375" y="3630295"/>
            <a:ext cx="76200" cy="2814320"/>
          </a:xfrm>
          <a:custGeom>
            <a:avLst/>
            <a:gdLst/>
            <a:ahLst/>
            <a:cxnLst/>
            <a:rect l="l" t="t" r="r" b="b"/>
            <a:pathLst>
              <a:path w="31750" h="4246563">
                <a:moveTo>
                  <a:pt x="31750" y="0"/>
                </a:moveTo>
                <a:lnTo>
                  <a:pt x="31750" y="0"/>
                </a:lnTo>
                <a:lnTo>
                  <a:pt x="31750" y="4246563"/>
                </a:lnTo>
                <a:lnTo>
                  <a:pt x="31750" y="4246563"/>
                </a:lnTo>
                <a:cubicBezTo>
                  <a:pt x="14227" y="4246563"/>
                  <a:pt x="0" y="4232336"/>
                  <a:pt x="0" y="4214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9" name="Shape 15"/>
          <p:cNvSpPr/>
          <p:nvPr/>
        </p:nvSpPr>
        <p:spPr>
          <a:xfrm>
            <a:off x="527685" y="3820795"/>
            <a:ext cx="158750" cy="10541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Text 16"/>
          <p:cNvSpPr/>
          <p:nvPr/>
        </p:nvSpPr>
        <p:spPr>
          <a:xfrm>
            <a:off x="706755" y="3789045"/>
            <a:ext cx="4659630" cy="14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BFS算法应用</a:t>
            </a:r>
            <a:endParaRPr lang="en-US" sz="1600" dirty="0"/>
          </a:p>
        </p:txBody>
      </p:sp>
      <p:sp>
        <p:nvSpPr>
          <p:cNvPr id="31" name="Text 17"/>
          <p:cNvSpPr/>
          <p:nvPr/>
        </p:nvSpPr>
        <p:spPr>
          <a:xfrm>
            <a:off x="508000" y="4138295"/>
            <a:ext cx="16700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677545" y="4106545"/>
            <a:ext cx="216725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广度优先搜索: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使用队列实现层次遍历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508000" y="4424045"/>
            <a:ext cx="16700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677545" y="4392295"/>
            <a:ext cx="188912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最短路径查找: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BFS可找到最优解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508000" y="4709795"/>
            <a:ext cx="16700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677545" y="4678045"/>
            <a:ext cx="1659255" cy="126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玩家路径规划: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计算移动路径</a:t>
            </a:r>
            <a:endParaRPr lang="en-US" sz="1600" dirty="0"/>
          </a:p>
        </p:txBody>
      </p:sp>
      <p:sp>
        <p:nvSpPr>
          <p:cNvPr id="37" name="Shape 23"/>
          <p:cNvSpPr/>
          <p:nvPr/>
        </p:nvSpPr>
        <p:spPr>
          <a:xfrm>
            <a:off x="5605145" y="147320"/>
            <a:ext cx="6270625" cy="6352540"/>
          </a:xfrm>
          <a:custGeom>
            <a:avLst/>
            <a:gdLst/>
            <a:ahLst/>
            <a:cxnLst/>
            <a:rect l="l" t="t" r="r" b="b"/>
            <a:pathLst>
              <a:path w="6270625" h="7413625">
                <a:moveTo>
                  <a:pt x="63521" y="0"/>
                </a:moveTo>
                <a:lnTo>
                  <a:pt x="6207104" y="0"/>
                </a:lnTo>
                <a:cubicBezTo>
                  <a:pt x="6242185" y="0"/>
                  <a:pt x="6270625" y="28440"/>
                  <a:pt x="6270625" y="63521"/>
                </a:cubicBezTo>
                <a:lnTo>
                  <a:pt x="6270625" y="7350104"/>
                </a:lnTo>
                <a:cubicBezTo>
                  <a:pt x="6270625" y="7385185"/>
                  <a:pt x="6242185" y="7413625"/>
                  <a:pt x="6207104" y="7413625"/>
                </a:cubicBezTo>
                <a:lnTo>
                  <a:pt x="63521" y="7413625"/>
                </a:lnTo>
                <a:cubicBezTo>
                  <a:pt x="28440" y="7413625"/>
                  <a:pt x="0" y="7385185"/>
                  <a:pt x="0" y="7350104"/>
                </a:cubicBezTo>
                <a:lnTo>
                  <a:pt x="0" y="63521"/>
                </a:lnTo>
                <a:cubicBezTo>
                  <a:pt x="0" y="28463"/>
                  <a:pt x="28463" y="0"/>
                  <a:pt x="63521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8" name="Shape 24"/>
          <p:cNvSpPr/>
          <p:nvPr/>
        </p:nvSpPr>
        <p:spPr>
          <a:xfrm>
            <a:off x="5774106" y="33782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9" name="Text 25"/>
          <p:cNvSpPr/>
          <p:nvPr/>
        </p:nvSpPr>
        <p:spPr>
          <a:xfrm>
            <a:off x="5962622" y="306070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队列代码实现</a:t>
            </a:r>
            <a:endParaRPr lang="en-US" sz="1600" dirty="0"/>
          </a:p>
        </p:txBody>
      </p:sp>
      <p:sp>
        <p:nvSpPr>
          <p:cNvPr id="40" name="Shape 26"/>
          <p:cNvSpPr/>
          <p:nvPr/>
        </p:nvSpPr>
        <p:spPr>
          <a:xfrm>
            <a:off x="5780059" y="623570"/>
            <a:ext cx="5937250" cy="2143125"/>
          </a:xfrm>
          <a:custGeom>
            <a:avLst/>
            <a:gdLst/>
            <a:ahLst/>
            <a:cxnLst/>
            <a:rect l="l" t="t" r="r" b="b"/>
            <a:pathLst>
              <a:path w="5937250" h="2143125">
                <a:moveTo>
                  <a:pt x="31750" y="0"/>
                </a:moveTo>
                <a:lnTo>
                  <a:pt x="5873749" y="0"/>
                </a:lnTo>
                <a:cubicBezTo>
                  <a:pt x="5908820" y="0"/>
                  <a:pt x="5937250" y="28430"/>
                  <a:pt x="5937250" y="63501"/>
                </a:cubicBezTo>
                <a:lnTo>
                  <a:pt x="5937250" y="2079624"/>
                </a:lnTo>
                <a:cubicBezTo>
                  <a:pt x="5937250" y="2114695"/>
                  <a:pt x="5908820" y="2143125"/>
                  <a:pt x="5873749" y="2143125"/>
                </a:cubicBezTo>
                <a:lnTo>
                  <a:pt x="31750" y="2143125"/>
                </a:lnTo>
                <a:cubicBezTo>
                  <a:pt x="14227" y="2143125"/>
                  <a:pt x="0" y="2128898"/>
                  <a:pt x="0" y="211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1" name="Shape 27"/>
          <p:cNvSpPr/>
          <p:nvPr/>
        </p:nvSpPr>
        <p:spPr>
          <a:xfrm>
            <a:off x="5780059" y="623570"/>
            <a:ext cx="31750" cy="2143125"/>
          </a:xfrm>
          <a:custGeom>
            <a:avLst/>
            <a:gdLst/>
            <a:ahLst/>
            <a:cxnLst/>
            <a:rect l="l" t="t" r="r" b="b"/>
            <a:pathLst>
              <a:path w="31750" h="2143125">
                <a:moveTo>
                  <a:pt x="31750" y="0"/>
                </a:moveTo>
                <a:lnTo>
                  <a:pt x="31750" y="0"/>
                </a:lnTo>
                <a:lnTo>
                  <a:pt x="31750" y="2143125"/>
                </a:lnTo>
                <a:lnTo>
                  <a:pt x="31750" y="2143125"/>
                </a:lnTo>
                <a:cubicBezTo>
                  <a:pt x="14227" y="2143125"/>
                  <a:pt x="0" y="2128898"/>
                  <a:pt x="0" y="211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2" name="Text 28"/>
          <p:cNvSpPr/>
          <p:nvPr/>
        </p:nvSpPr>
        <p:spPr>
          <a:xfrm>
            <a:off x="5922934" y="750570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队列节点和队列结构定义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5922934" y="972820"/>
            <a:ext cx="5722938" cy="1666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QueueNode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roomId;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struct QueueNode* next;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QueueNode;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Queue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QueueNode* front;  // 队头指针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QueueNode* rear;   // 队尾指针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size;          // 队列大小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Queue;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5780059" y="2893695"/>
            <a:ext cx="5937250" cy="3143250"/>
          </a:xfrm>
          <a:custGeom>
            <a:avLst/>
            <a:gdLst/>
            <a:ahLst/>
            <a:cxnLst/>
            <a:rect l="l" t="t" r="r" b="b"/>
            <a:pathLst>
              <a:path w="5937250" h="3143250">
                <a:moveTo>
                  <a:pt x="31750" y="0"/>
                </a:moveTo>
                <a:lnTo>
                  <a:pt x="5873756" y="0"/>
                </a:lnTo>
                <a:cubicBezTo>
                  <a:pt x="5908823" y="0"/>
                  <a:pt x="5937250" y="28427"/>
                  <a:pt x="5937250" y="63494"/>
                </a:cubicBezTo>
                <a:lnTo>
                  <a:pt x="5937250" y="3079756"/>
                </a:lnTo>
                <a:cubicBezTo>
                  <a:pt x="5937250" y="3114823"/>
                  <a:pt x="5908823" y="3143250"/>
                  <a:pt x="5873756" y="3143250"/>
                </a:cubicBezTo>
                <a:lnTo>
                  <a:pt x="31750" y="3143250"/>
                </a:lnTo>
                <a:cubicBezTo>
                  <a:pt x="14215" y="3143250"/>
                  <a:pt x="0" y="3129035"/>
                  <a:pt x="0" y="311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5" name="Shape 31"/>
          <p:cNvSpPr/>
          <p:nvPr/>
        </p:nvSpPr>
        <p:spPr>
          <a:xfrm>
            <a:off x="5780059" y="2893695"/>
            <a:ext cx="31750" cy="3143250"/>
          </a:xfrm>
          <a:custGeom>
            <a:avLst/>
            <a:gdLst/>
            <a:ahLst/>
            <a:cxnLst/>
            <a:rect l="l" t="t" r="r" b="b"/>
            <a:pathLst>
              <a:path w="31750" h="3143250">
                <a:moveTo>
                  <a:pt x="31750" y="0"/>
                </a:moveTo>
                <a:lnTo>
                  <a:pt x="31750" y="0"/>
                </a:lnTo>
                <a:lnTo>
                  <a:pt x="31750" y="3143250"/>
                </a:lnTo>
                <a:lnTo>
                  <a:pt x="31750" y="3143250"/>
                </a:lnTo>
                <a:cubicBezTo>
                  <a:pt x="14227" y="3143250"/>
                  <a:pt x="0" y="3129023"/>
                  <a:pt x="0" y="311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6" name="Text 32"/>
          <p:cNvSpPr/>
          <p:nvPr/>
        </p:nvSpPr>
        <p:spPr>
          <a:xfrm>
            <a:off x="5922934" y="3020695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BFS算法框架</a:t>
            </a:r>
            <a:endParaRPr lang="en-US" sz="1600" dirty="0"/>
          </a:p>
        </p:txBody>
      </p:sp>
      <p:sp>
        <p:nvSpPr>
          <p:cNvPr id="47" name="Text 33"/>
          <p:cNvSpPr/>
          <p:nvPr/>
        </p:nvSpPr>
        <p:spPr>
          <a:xfrm>
            <a:off x="5922934" y="3242945"/>
            <a:ext cx="5722938" cy="266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BFS(int startRoom)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Queue q;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enqueue(&amp;q, startRoom);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while (!isEmptyQueue(&amp;q))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current = dequeue(&amp;q);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处理当前房间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RoomConnection* conn = connections[current];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while (conn != NULL)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if (!visited[conn-&gt;roomId])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enqueue(&amp;q, conn-&gt;roomId);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visited[conn-&gt;roomId] = true;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conn = conn-&gt;next;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8" name="Shape 34"/>
          <p:cNvSpPr/>
          <p:nvPr/>
        </p:nvSpPr>
        <p:spPr>
          <a:xfrm>
            <a:off x="217805" y="5488940"/>
            <a:ext cx="5351780" cy="1079500"/>
          </a:xfrm>
          <a:custGeom>
            <a:avLst/>
            <a:gdLst/>
            <a:ahLst/>
            <a:cxnLst/>
            <a:rect l="l" t="t" r="r" b="b"/>
            <a:pathLst>
              <a:path w="6270625" h="1079500">
                <a:moveTo>
                  <a:pt x="63496" y="0"/>
                </a:moveTo>
                <a:lnTo>
                  <a:pt x="6207129" y="0"/>
                </a:lnTo>
                <a:cubicBezTo>
                  <a:pt x="6242197" y="0"/>
                  <a:pt x="6270625" y="28428"/>
                  <a:pt x="6270625" y="63496"/>
                </a:cubicBezTo>
                <a:lnTo>
                  <a:pt x="6270625" y="1016004"/>
                </a:lnTo>
                <a:cubicBezTo>
                  <a:pt x="6270625" y="1051072"/>
                  <a:pt x="6242197" y="1079500"/>
                  <a:pt x="6207129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9" name="Shape 35"/>
          <p:cNvSpPr/>
          <p:nvPr/>
        </p:nvSpPr>
        <p:spPr>
          <a:xfrm>
            <a:off x="365125" y="5655310"/>
            <a:ext cx="12255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0" name="Text 36"/>
          <p:cNvSpPr/>
          <p:nvPr/>
        </p:nvSpPr>
        <p:spPr>
          <a:xfrm>
            <a:off x="527685" y="5615940"/>
            <a:ext cx="503999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队列操作复杂度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344805" y="5901690"/>
            <a:ext cx="1659890" cy="539750"/>
          </a:xfrm>
          <a:custGeom>
            <a:avLst/>
            <a:gdLst/>
            <a:ahLst/>
            <a:cxnLst/>
            <a:rect l="l" t="t" r="r" b="b"/>
            <a:pathLst>
              <a:path w="1944688" h="539750">
                <a:moveTo>
                  <a:pt x="31748" y="0"/>
                </a:moveTo>
                <a:lnTo>
                  <a:pt x="1912939" y="0"/>
                </a:lnTo>
                <a:cubicBezTo>
                  <a:pt x="1930473" y="0"/>
                  <a:pt x="1944688" y="14214"/>
                  <a:pt x="1944688" y="31748"/>
                </a:cubicBezTo>
                <a:lnTo>
                  <a:pt x="1944688" y="508002"/>
                </a:lnTo>
                <a:cubicBezTo>
                  <a:pt x="1944688" y="525536"/>
                  <a:pt x="1930473" y="539750"/>
                  <a:pt x="1912939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2" name="Text 38"/>
          <p:cNvSpPr/>
          <p:nvPr/>
        </p:nvSpPr>
        <p:spPr>
          <a:xfrm>
            <a:off x="313055" y="5965190"/>
            <a:ext cx="17138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enqueue</a:t>
            </a:r>
            <a:endParaRPr lang="en-US" sz="1600" dirty="0"/>
          </a:p>
        </p:txBody>
      </p:sp>
      <p:sp>
        <p:nvSpPr>
          <p:cNvPr id="53" name="Text 39"/>
          <p:cNvSpPr/>
          <p:nvPr/>
        </p:nvSpPr>
        <p:spPr>
          <a:xfrm>
            <a:off x="305435" y="6155690"/>
            <a:ext cx="17272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2381885" y="5901690"/>
            <a:ext cx="1659890" cy="539750"/>
          </a:xfrm>
          <a:custGeom>
            <a:avLst/>
            <a:gdLst/>
            <a:ahLst/>
            <a:cxnLst/>
            <a:rect l="l" t="t" r="r" b="b"/>
            <a:pathLst>
              <a:path w="1944688" h="539750">
                <a:moveTo>
                  <a:pt x="31748" y="0"/>
                </a:moveTo>
                <a:lnTo>
                  <a:pt x="1912939" y="0"/>
                </a:lnTo>
                <a:cubicBezTo>
                  <a:pt x="1930473" y="0"/>
                  <a:pt x="1944688" y="14214"/>
                  <a:pt x="1944688" y="31748"/>
                </a:cubicBezTo>
                <a:lnTo>
                  <a:pt x="1944688" y="508002"/>
                </a:lnTo>
                <a:cubicBezTo>
                  <a:pt x="1944688" y="525536"/>
                  <a:pt x="1930473" y="539750"/>
                  <a:pt x="1912939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5" name="Text 41"/>
          <p:cNvSpPr/>
          <p:nvPr/>
        </p:nvSpPr>
        <p:spPr>
          <a:xfrm>
            <a:off x="2350135" y="5965190"/>
            <a:ext cx="17138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dequeue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2341880" y="6155690"/>
            <a:ext cx="17272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  <p:sp>
        <p:nvSpPr>
          <p:cNvPr id="57" name="Shape 43"/>
          <p:cNvSpPr/>
          <p:nvPr/>
        </p:nvSpPr>
        <p:spPr>
          <a:xfrm>
            <a:off x="4418330" y="5901690"/>
            <a:ext cx="1659890" cy="539750"/>
          </a:xfrm>
          <a:custGeom>
            <a:avLst/>
            <a:gdLst/>
            <a:ahLst/>
            <a:cxnLst/>
            <a:rect l="l" t="t" r="r" b="b"/>
            <a:pathLst>
              <a:path w="1944688" h="539750">
                <a:moveTo>
                  <a:pt x="31748" y="0"/>
                </a:moveTo>
                <a:lnTo>
                  <a:pt x="1912939" y="0"/>
                </a:lnTo>
                <a:cubicBezTo>
                  <a:pt x="1930473" y="0"/>
                  <a:pt x="1944688" y="14214"/>
                  <a:pt x="1944688" y="31748"/>
                </a:cubicBezTo>
                <a:lnTo>
                  <a:pt x="1944688" y="508002"/>
                </a:lnTo>
                <a:cubicBezTo>
                  <a:pt x="1944688" y="525536"/>
                  <a:pt x="1930473" y="539750"/>
                  <a:pt x="1912939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8" name="Text 44"/>
          <p:cNvSpPr/>
          <p:nvPr/>
        </p:nvSpPr>
        <p:spPr>
          <a:xfrm>
            <a:off x="4386580" y="5965190"/>
            <a:ext cx="17138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4378960" y="6155690"/>
            <a:ext cx="17272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O(V+E)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 算法实现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4673898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4835626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4835626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4771724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4773411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5029451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RANDOM NUMBER GENERATION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随机数生成: LCG算法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17500" y="1158875"/>
            <a:ext cx="5127625" cy="2269490"/>
          </a:xfrm>
          <a:custGeom>
            <a:avLst/>
            <a:gdLst/>
            <a:ahLst/>
            <a:cxnLst/>
            <a:rect l="l" t="t" r="r" b="b"/>
            <a:pathLst>
              <a:path w="5127625" h="3587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524247"/>
                </a:lnTo>
                <a:cubicBezTo>
                  <a:pt x="5127625" y="3559319"/>
                  <a:pt x="5099194" y="3587750"/>
                  <a:pt x="5064122" y="3587750"/>
                </a:cubicBezTo>
                <a:lnTo>
                  <a:pt x="63503" y="3587750"/>
                </a:lnTo>
                <a:cubicBezTo>
                  <a:pt x="28431" y="3587750"/>
                  <a:pt x="0" y="3559319"/>
                  <a:pt x="0" y="352424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17500" y="1158875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496094" y="1365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5202" y="10666"/>
                </a:moveTo>
                <a:cubicBezTo>
                  <a:pt x="128922" y="9116"/>
                  <a:pt x="133170" y="9984"/>
                  <a:pt x="136023" y="12805"/>
                </a:cubicBezTo>
                <a:lnTo>
                  <a:pt x="155866" y="32649"/>
                </a:lnTo>
                <a:cubicBezTo>
                  <a:pt x="157727" y="34510"/>
                  <a:pt x="158781" y="37021"/>
                  <a:pt x="158781" y="39656"/>
                </a:cubicBezTo>
                <a:cubicBezTo>
                  <a:pt x="158781" y="42292"/>
                  <a:pt x="157727" y="44803"/>
                  <a:pt x="155866" y="46664"/>
                </a:cubicBezTo>
                <a:lnTo>
                  <a:pt x="136023" y="66508"/>
                </a:lnTo>
                <a:cubicBezTo>
                  <a:pt x="133170" y="69360"/>
                  <a:pt x="128922" y="70197"/>
                  <a:pt x="125202" y="68647"/>
                </a:cubicBezTo>
                <a:cubicBezTo>
                  <a:pt x="121481" y="67097"/>
                  <a:pt x="119062" y="63531"/>
                  <a:pt x="119062" y="59531"/>
                </a:cubicBezTo>
                <a:lnTo>
                  <a:pt x="119062" y="49609"/>
                </a:lnTo>
                <a:lnTo>
                  <a:pt x="109141" y="49609"/>
                </a:lnTo>
                <a:cubicBezTo>
                  <a:pt x="106009" y="49609"/>
                  <a:pt x="103063" y="51067"/>
                  <a:pt x="101203" y="53578"/>
                </a:cubicBezTo>
                <a:lnTo>
                  <a:pt x="91157" y="66973"/>
                </a:lnTo>
                <a:lnTo>
                  <a:pt x="78755" y="50447"/>
                </a:lnTo>
                <a:lnTo>
                  <a:pt x="85328" y="41672"/>
                </a:lnTo>
                <a:cubicBezTo>
                  <a:pt x="90940" y="34168"/>
                  <a:pt x="99777" y="29766"/>
                  <a:pt x="109141" y="29766"/>
                </a:cubicBezTo>
                <a:lnTo>
                  <a:pt x="119062" y="29766"/>
                </a:lnTo>
                <a:lnTo>
                  <a:pt x="119062" y="19844"/>
                </a:lnTo>
                <a:cubicBezTo>
                  <a:pt x="119062" y="15844"/>
                  <a:pt x="121481" y="12216"/>
                  <a:pt x="125202" y="10666"/>
                </a:cubicBezTo>
                <a:close/>
                <a:moveTo>
                  <a:pt x="47749" y="91777"/>
                </a:moveTo>
                <a:lnTo>
                  <a:pt x="60151" y="108303"/>
                </a:lnTo>
                <a:lnTo>
                  <a:pt x="53578" y="117078"/>
                </a:lnTo>
                <a:cubicBezTo>
                  <a:pt x="47966" y="124582"/>
                  <a:pt x="39129" y="128984"/>
                  <a:pt x="29766" y="128984"/>
                </a:cubicBezTo>
                <a:lnTo>
                  <a:pt x="9922" y="128984"/>
                </a:lnTo>
                <a:cubicBezTo>
                  <a:pt x="4434" y="128984"/>
                  <a:pt x="0" y="124551"/>
                  <a:pt x="0" y="119062"/>
                </a:cubicBezTo>
                <a:cubicBezTo>
                  <a:pt x="0" y="113574"/>
                  <a:pt x="4434" y="109141"/>
                  <a:pt x="9922" y="109141"/>
                </a:cubicBezTo>
                <a:lnTo>
                  <a:pt x="29766" y="109141"/>
                </a:lnTo>
                <a:cubicBezTo>
                  <a:pt x="32897" y="109141"/>
                  <a:pt x="35843" y="107683"/>
                  <a:pt x="37703" y="105172"/>
                </a:cubicBezTo>
                <a:lnTo>
                  <a:pt x="47749" y="91777"/>
                </a:lnTo>
                <a:close/>
                <a:moveTo>
                  <a:pt x="135992" y="145914"/>
                </a:moveTo>
                <a:cubicBezTo>
                  <a:pt x="133139" y="148766"/>
                  <a:pt x="128891" y="149603"/>
                  <a:pt x="125171" y="148053"/>
                </a:cubicBezTo>
                <a:cubicBezTo>
                  <a:pt x="121450" y="146503"/>
                  <a:pt x="119062" y="142906"/>
                  <a:pt x="119062" y="138906"/>
                </a:cubicBezTo>
                <a:lnTo>
                  <a:pt x="119062" y="128984"/>
                </a:lnTo>
                <a:lnTo>
                  <a:pt x="109141" y="128984"/>
                </a:lnTo>
                <a:cubicBezTo>
                  <a:pt x="99777" y="128984"/>
                  <a:pt x="90940" y="124582"/>
                  <a:pt x="85328" y="117078"/>
                </a:cubicBezTo>
                <a:lnTo>
                  <a:pt x="37703" y="53578"/>
                </a:lnTo>
                <a:cubicBezTo>
                  <a:pt x="35843" y="51067"/>
                  <a:pt x="32897" y="49609"/>
                  <a:pt x="29766" y="49609"/>
                </a:cubicBez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29766" y="29766"/>
                </a:lnTo>
                <a:cubicBezTo>
                  <a:pt x="39129" y="29766"/>
                  <a:pt x="47966" y="34168"/>
                  <a:pt x="53578" y="41672"/>
                </a:cubicBezTo>
                <a:lnTo>
                  <a:pt x="101203" y="105172"/>
                </a:lnTo>
                <a:cubicBezTo>
                  <a:pt x="103063" y="107683"/>
                  <a:pt x="106009" y="109141"/>
                  <a:pt x="109141" y="109141"/>
                </a:cubicBezTo>
                <a:lnTo>
                  <a:pt x="119062" y="109141"/>
                </a:lnTo>
                <a:lnTo>
                  <a:pt x="119062" y="99219"/>
                </a:lnTo>
                <a:cubicBezTo>
                  <a:pt x="119062" y="95219"/>
                  <a:pt x="121481" y="91591"/>
                  <a:pt x="125202" y="90041"/>
                </a:cubicBezTo>
                <a:cubicBezTo>
                  <a:pt x="128922" y="88491"/>
                  <a:pt x="133170" y="89359"/>
                  <a:pt x="136023" y="92180"/>
                </a:cubicBezTo>
                <a:lnTo>
                  <a:pt x="155866" y="112024"/>
                </a:lnTo>
                <a:cubicBezTo>
                  <a:pt x="157727" y="113885"/>
                  <a:pt x="158781" y="116396"/>
                  <a:pt x="158781" y="119031"/>
                </a:cubicBezTo>
                <a:cubicBezTo>
                  <a:pt x="158781" y="121667"/>
                  <a:pt x="157727" y="124178"/>
                  <a:pt x="155866" y="126039"/>
                </a:cubicBezTo>
                <a:lnTo>
                  <a:pt x="136023" y="145883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674688" y="1333500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PRNG概念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476250" y="1651000"/>
            <a:ext cx="4873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伪随机数生成器(PRNG)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是基于确定性算法生成数字序列的算法。给定相同的种子, PRNG总是产生相同的数字序列, 这对于世界生成的确定性至关重要。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476250" y="2159000"/>
            <a:ext cx="4810125" cy="952500"/>
          </a:xfrm>
          <a:custGeom>
            <a:avLst/>
            <a:gdLst/>
            <a:ahLst/>
            <a:cxnLst/>
            <a:rect l="l" t="t" r="r" b="b"/>
            <a:pathLst>
              <a:path w="4810125" h="952500">
                <a:moveTo>
                  <a:pt x="31747" y="0"/>
                </a:moveTo>
                <a:lnTo>
                  <a:pt x="4778378" y="0"/>
                </a:lnTo>
                <a:cubicBezTo>
                  <a:pt x="4795911" y="0"/>
                  <a:pt x="4810125" y="14214"/>
                  <a:pt x="4810125" y="31747"/>
                </a:cubicBezTo>
                <a:lnTo>
                  <a:pt x="4810125" y="920753"/>
                </a:lnTo>
                <a:cubicBezTo>
                  <a:pt x="4810125" y="938286"/>
                  <a:pt x="4795911" y="952500"/>
                  <a:pt x="4778378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571500" y="225425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PRNG特点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571500" y="247650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确定性: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相同种子产生相同序列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571500" y="266700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可重复: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便于调试和验证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571500" y="2857500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计算速度快, 资源消耗少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317500" y="3547110"/>
            <a:ext cx="5127625" cy="2340610"/>
          </a:xfrm>
          <a:custGeom>
            <a:avLst/>
            <a:gdLst/>
            <a:ahLst/>
            <a:cxnLst/>
            <a:rect l="l" t="t" r="r" b="b"/>
            <a:pathLst>
              <a:path w="5127625" h="3587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524247"/>
                </a:lnTo>
                <a:cubicBezTo>
                  <a:pt x="5127625" y="3559319"/>
                  <a:pt x="5099194" y="3587750"/>
                  <a:pt x="5064122" y="3587750"/>
                </a:cubicBezTo>
                <a:lnTo>
                  <a:pt x="63503" y="3587750"/>
                </a:lnTo>
                <a:cubicBezTo>
                  <a:pt x="28431" y="3587750"/>
                  <a:pt x="0" y="3559319"/>
                  <a:pt x="0" y="352424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8" name="Shape 14"/>
          <p:cNvSpPr/>
          <p:nvPr/>
        </p:nvSpPr>
        <p:spPr>
          <a:xfrm>
            <a:off x="317500" y="3547121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9" name="Shape 15"/>
          <p:cNvSpPr/>
          <p:nvPr/>
        </p:nvSpPr>
        <p:spPr>
          <a:xfrm>
            <a:off x="515938" y="375349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Text 16"/>
          <p:cNvSpPr/>
          <p:nvPr/>
        </p:nvSpPr>
        <p:spPr>
          <a:xfrm>
            <a:off x="674688" y="3721746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LCG算法详解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476250" y="4039246"/>
            <a:ext cx="4810125" cy="1555750"/>
          </a:xfrm>
          <a:custGeom>
            <a:avLst/>
            <a:gdLst/>
            <a:ahLst/>
            <a:cxnLst/>
            <a:rect l="l" t="t" r="r" b="b"/>
            <a:pathLst>
              <a:path w="4810125" h="1555750">
                <a:moveTo>
                  <a:pt x="31753" y="0"/>
                </a:moveTo>
                <a:lnTo>
                  <a:pt x="4778372" y="0"/>
                </a:lnTo>
                <a:cubicBezTo>
                  <a:pt x="4795909" y="0"/>
                  <a:pt x="4810125" y="14216"/>
                  <a:pt x="4810125" y="31753"/>
                </a:cubicBezTo>
                <a:lnTo>
                  <a:pt x="4810125" y="1523997"/>
                </a:lnTo>
                <a:cubicBezTo>
                  <a:pt x="4810125" y="1541534"/>
                  <a:pt x="4795909" y="1555750"/>
                  <a:pt x="4778372" y="1555750"/>
                </a:cubicBezTo>
                <a:lnTo>
                  <a:pt x="31753" y="1555750"/>
                </a:lnTo>
                <a:cubicBezTo>
                  <a:pt x="14216" y="1555750"/>
                  <a:pt x="0" y="1541534"/>
                  <a:pt x="0" y="15239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2" name="Text 18"/>
          <p:cNvSpPr/>
          <p:nvPr/>
        </p:nvSpPr>
        <p:spPr>
          <a:xfrm>
            <a:off x="603250" y="4166246"/>
            <a:ext cx="4611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LCG公式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603250" y="4420246"/>
            <a:ext cx="4556125" cy="412750"/>
          </a:xfrm>
          <a:custGeom>
            <a:avLst/>
            <a:gdLst/>
            <a:ahLst/>
            <a:cxnLst/>
            <a:rect l="l" t="t" r="r" b="b"/>
            <a:pathLst>
              <a:path w="4556125" h="412750">
                <a:moveTo>
                  <a:pt x="31749" y="0"/>
                </a:moveTo>
                <a:lnTo>
                  <a:pt x="4524376" y="0"/>
                </a:lnTo>
                <a:cubicBezTo>
                  <a:pt x="4541911" y="0"/>
                  <a:pt x="4556125" y="14214"/>
                  <a:pt x="4556125" y="31749"/>
                </a:cubicBezTo>
                <a:lnTo>
                  <a:pt x="4556125" y="381001"/>
                </a:lnTo>
                <a:cubicBezTo>
                  <a:pt x="4556125" y="398536"/>
                  <a:pt x="4541911" y="412750"/>
                  <a:pt x="4524376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4" name="Text 20"/>
          <p:cNvSpPr/>
          <p:nvPr/>
        </p:nvSpPr>
        <p:spPr>
          <a:xfrm>
            <a:off x="567531" y="4515496"/>
            <a:ext cx="4627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Xₙ₊₁ = (a × Xₙ + c) mod m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603250" y="4928246"/>
            <a:ext cx="4611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乘数 (1103515245)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603250" y="5118746"/>
            <a:ext cx="4611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增量 (12345)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603250" y="5309246"/>
            <a:ext cx="4611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模数 (2³¹)</a:t>
            </a:r>
            <a:endParaRPr lang="en-US" sz="1600" dirty="0"/>
          </a:p>
        </p:txBody>
      </p:sp>
      <p:sp>
        <p:nvSpPr>
          <p:cNvPr id="38" name="Shape 24"/>
          <p:cNvSpPr/>
          <p:nvPr/>
        </p:nvSpPr>
        <p:spPr>
          <a:xfrm>
            <a:off x="5605145" y="476250"/>
            <a:ext cx="6270625" cy="5100320"/>
          </a:xfrm>
          <a:custGeom>
            <a:avLst/>
            <a:gdLst/>
            <a:ahLst/>
            <a:cxnLst/>
            <a:rect l="l" t="t" r="r" b="b"/>
            <a:pathLst>
              <a:path w="6270625" h="6199188">
                <a:moveTo>
                  <a:pt x="63480" y="0"/>
                </a:moveTo>
                <a:lnTo>
                  <a:pt x="6207145" y="0"/>
                </a:lnTo>
                <a:cubicBezTo>
                  <a:pt x="6242204" y="0"/>
                  <a:pt x="6270625" y="28421"/>
                  <a:pt x="6270625" y="63480"/>
                </a:cubicBezTo>
                <a:lnTo>
                  <a:pt x="6270625" y="6135708"/>
                </a:lnTo>
                <a:cubicBezTo>
                  <a:pt x="6270625" y="6170767"/>
                  <a:pt x="6242204" y="6199188"/>
                  <a:pt x="6207145" y="6199188"/>
                </a:cubicBezTo>
                <a:lnTo>
                  <a:pt x="63480" y="6199188"/>
                </a:lnTo>
                <a:cubicBezTo>
                  <a:pt x="28421" y="6199188"/>
                  <a:pt x="0" y="6170767"/>
                  <a:pt x="0" y="6135708"/>
                </a:cubicBezTo>
                <a:lnTo>
                  <a:pt x="0" y="63480"/>
                </a:lnTo>
                <a:cubicBezTo>
                  <a:pt x="0" y="28444"/>
                  <a:pt x="28444" y="0"/>
                  <a:pt x="6348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9" name="Shape 25"/>
          <p:cNvSpPr/>
          <p:nvPr/>
        </p:nvSpPr>
        <p:spPr>
          <a:xfrm>
            <a:off x="5774106" y="6667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0" name="Text 26"/>
          <p:cNvSpPr/>
          <p:nvPr/>
        </p:nvSpPr>
        <p:spPr>
          <a:xfrm>
            <a:off x="5962622" y="635000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LCG代码实现</a:t>
            </a:r>
            <a:endParaRPr lang="en-US" sz="1600" dirty="0"/>
          </a:p>
        </p:txBody>
      </p:sp>
      <p:sp>
        <p:nvSpPr>
          <p:cNvPr id="41" name="Shape 27"/>
          <p:cNvSpPr/>
          <p:nvPr/>
        </p:nvSpPr>
        <p:spPr>
          <a:xfrm>
            <a:off x="5780059" y="952500"/>
            <a:ext cx="5937250" cy="2309813"/>
          </a:xfrm>
          <a:custGeom>
            <a:avLst/>
            <a:gdLst/>
            <a:ahLst/>
            <a:cxnLst/>
            <a:rect l="l" t="t" r="r" b="b"/>
            <a:pathLst>
              <a:path w="5937250" h="2309813">
                <a:moveTo>
                  <a:pt x="31750" y="0"/>
                </a:moveTo>
                <a:lnTo>
                  <a:pt x="5873753" y="0"/>
                </a:lnTo>
                <a:cubicBezTo>
                  <a:pt x="5908822" y="0"/>
                  <a:pt x="5937250" y="28428"/>
                  <a:pt x="5937250" y="63497"/>
                </a:cubicBezTo>
                <a:lnTo>
                  <a:pt x="5937250" y="2246316"/>
                </a:lnTo>
                <a:cubicBezTo>
                  <a:pt x="5937250" y="2281384"/>
                  <a:pt x="5908822" y="2309813"/>
                  <a:pt x="5873753" y="2309813"/>
                </a:cubicBezTo>
                <a:lnTo>
                  <a:pt x="31750" y="2309813"/>
                </a:lnTo>
                <a:cubicBezTo>
                  <a:pt x="14215" y="2309813"/>
                  <a:pt x="0" y="2295598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2" name="Shape 28"/>
          <p:cNvSpPr/>
          <p:nvPr/>
        </p:nvSpPr>
        <p:spPr>
          <a:xfrm>
            <a:off x="5780059" y="952500"/>
            <a:ext cx="31750" cy="2309813"/>
          </a:xfrm>
          <a:custGeom>
            <a:avLst/>
            <a:gdLst/>
            <a:ahLst/>
            <a:cxnLst/>
            <a:rect l="l" t="t" r="r" b="b"/>
            <a:pathLst>
              <a:path w="31750" h="2309813">
                <a:moveTo>
                  <a:pt x="31750" y="0"/>
                </a:moveTo>
                <a:lnTo>
                  <a:pt x="31750" y="0"/>
                </a:lnTo>
                <a:lnTo>
                  <a:pt x="31750" y="2309813"/>
                </a:lnTo>
                <a:lnTo>
                  <a:pt x="31750" y="2309813"/>
                </a:lnTo>
                <a:cubicBezTo>
                  <a:pt x="14227" y="2309813"/>
                  <a:pt x="0" y="2295586"/>
                  <a:pt x="0" y="2278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3" name="Text 29"/>
          <p:cNvSpPr/>
          <p:nvPr/>
        </p:nvSpPr>
        <p:spPr>
          <a:xfrm>
            <a:off x="5922934" y="1079500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LCG实现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5922934" y="1301750"/>
            <a:ext cx="5722938" cy="1833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static long currentSeed = 0;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setSeed(long seed)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currentSeed = seed;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 randomInt(int min, int max)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// LCG公式实现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currentSeed = (currentSeed * 1103515245 + 12345) &amp; 0x7fffffff;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return min + (currentSeed % (max - min));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5" name="Shape 31"/>
          <p:cNvSpPr/>
          <p:nvPr/>
        </p:nvSpPr>
        <p:spPr>
          <a:xfrm>
            <a:off x="5780059" y="3389313"/>
            <a:ext cx="5937250" cy="1976438"/>
          </a:xfrm>
          <a:custGeom>
            <a:avLst/>
            <a:gdLst/>
            <a:ahLst/>
            <a:cxnLst/>
            <a:rect l="l" t="t" r="r" b="b"/>
            <a:pathLst>
              <a:path w="5937250" h="1976438">
                <a:moveTo>
                  <a:pt x="31750" y="0"/>
                </a:moveTo>
                <a:lnTo>
                  <a:pt x="5873747" y="0"/>
                </a:lnTo>
                <a:cubicBezTo>
                  <a:pt x="5908819" y="0"/>
                  <a:pt x="5937250" y="28431"/>
                  <a:pt x="5937250" y="63503"/>
                </a:cubicBezTo>
                <a:lnTo>
                  <a:pt x="5937250" y="1912935"/>
                </a:lnTo>
                <a:cubicBezTo>
                  <a:pt x="5937250" y="1948006"/>
                  <a:pt x="5908819" y="1976437"/>
                  <a:pt x="5873747" y="1976438"/>
                </a:cubicBezTo>
                <a:lnTo>
                  <a:pt x="31750" y="1976438"/>
                </a:lnTo>
                <a:cubicBezTo>
                  <a:pt x="14215" y="1976438"/>
                  <a:pt x="0" y="1962223"/>
                  <a:pt x="0" y="1944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6" name="Shape 32"/>
          <p:cNvSpPr/>
          <p:nvPr/>
        </p:nvSpPr>
        <p:spPr>
          <a:xfrm>
            <a:off x="5780059" y="3389313"/>
            <a:ext cx="31750" cy="1976438"/>
          </a:xfrm>
          <a:custGeom>
            <a:avLst/>
            <a:gdLst/>
            <a:ahLst/>
            <a:cxnLst/>
            <a:rect l="l" t="t" r="r" b="b"/>
            <a:pathLst>
              <a:path w="31750" h="1976438">
                <a:moveTo>
                  <a:pt x="31750" y="0"/>
                </a:moveTo>
                <a:lnTo>
                  <a:pt x="31750" y="0"/>
                </a:lnTo>
                <a:lnTo>
                  <a:pt x="31750" y="1976438"/>
                </a:lnTo>
                <a:lnTo>
                  <a:pt x="31750" y="1976438"/>
                </a:lnTo>
                <a:cubicBezTo>
                  <a:pt x="14227" y="1976438"/>
                  <a:pt x="0" y="1962211"/>
                  <a:pt x="0" y="1944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7" name="Text 33"/>
          <p:cNvSpPr/>
          <p:nvPr/>
        </p:nvSpPr>
        <p:spPr>
          <a:xfrm>
            <a:off x="5922934" y="3516313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在世界生成中的应用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5922934" y="3738563"/>
            <a:ext cx="5722938" cy="1500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generateRooms(World* world)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for (int i = 0; i &lt; 50;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w = randomInt(4, 10);  // 随机宽度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h = randomInt(4, 8);   // 随机高度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x = randomInt(1, MAX_WIDTH - w - 1);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y = randomInt(1, MAX_HEIGHT - h - 1);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... 创建房间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5688143" y="575527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8930"/>
                </a:moveTo>
                <a:cubicBezTo>
                  <a:pt x="142875" y="39095"/>
                  <a:pt x="121500" y="64266"/>
                  <a:pt x="93092" y="70154"/>
                </a:cubicBezTo>
                <a:cubicBezTo>
                  <a:pt x="90887" y="53941"/>
                  <a:pt x="83604" y="39346"/>
                  <a:pt x="72861" y="28045"/>
                </a:cubicBezTo>
                <a:cubicBezTo>
                  <a:pt x="84051" y="11162"/>
                  <a:pt x="103222" y="0"/>
                  <a:pt x="125016" y="0"/>
                </a:cubicBezTo>
                <a:lnTo>
                  <a:pt x="133945" y="0"/>
                </a:lnTo>
                <a:cubicBezTo>
                  <a:pt x="138885" y="0"/>
                  <a:pt x="142875" y="3990"/>
                  <a:pt x="142875" y="8930"/>
                </a:cubicBezTo>
                <a:close/>
                <a:moveTo>
                  <a:pt x="0" y="26789"/>
                </a:moveTo>
                <a:cubicBezTo>
                  <a:pt x="0" y="21850"/>
                  <a:pt x="3990" y="17859"/>
                  <a:pt x="8930" y="17859"/>
                </a:cubicBezTo>
                <a:lnTo>
                  <a:pt x="17859" y="17859"/>
                </a:lnTo>
                <a:cubicBezTo>
                  <a:pt x="52378" y="17859"/>
                  <a:pt x="80367" y="45848"/>
                  <a:pt x="80367" y="80367"/>
                </a:cubicBezTo>
                <a:lnTo>
                  <a:pt x="80367" y="133945"/>
                </a:lnTo>
                <a:cubicBezTo>
                  <a:pt x="80367" y="138885"/>
                  <a:pt x="76377" y="142875"/>
                  <a:pt x="71438" y="142875"/>
                </a:cubicBezTo>
                <a:cubicBezTo>
                  <a:pt x="66498" y="142875"/>
                  <a:pt x="62508" y="138885"/>
                  <a:pt x="62508" y="133945"/>
                </a:cubicBezTo>
                <a:lnTo>
                  <a:pt x="62508" y="89297"/>
                </a:lnTo>
                <a:cubicBezTo>
                  <a:pt x="27989" y="89297"/>
                  <a:pt x="0" y="61308"/>
                  <a:pt x="0" y="26789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1" name="Text 37"/>
          <p:cNvSpPr/>
          <p:nvPr/>
        </p:nvSpPr>
        <p:spPr>
          <a:xfrm>
            <a:off x="5850862" y="5715587"/>
            <a:ext cx="5905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种子驱动的确定性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5668299" y="6001337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3" name="Text 39"/>
          <p:cNvSpPr/>
          <p:nvPr/>
        </p:nvSpPr>
        <p:spPr>
          <a:xfrm>
            <a:off x="5763549" y="6064837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相同种子</a:t>
            </a:r>
            <a:endParaRPr lang="en-US" sz="1600" dirty="0"/>
          </a:p>
        </p:txBody>
      </p:sp>
      <p:sp>
        <p:nvSpPr>
          <p:cNvPr id="54" name="Text 40"/>
          <p:cNvSpPr/>
          <p:nvPr/>
        </p:nvSpPr>
        <p:spPr>
          <a:xfrm>
            <a:off x="5763549" y="6255337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产生完全相同的随机世界</a:t>
            </a:r>
            <a:endParaRPr lang="en-US" sz="1600" dirty="0"/>
          </a:p>
        </p:txBody>
      </p:sp>
      <p:sp>
        <p:nvSpPr>
          <p:cNvPr id="55" name="Shape 41"/>
          <p:cNvSpPr/>
          <p:nvPr/>
        </p:nvSpPr>
        <p:spPr>
          <a:xfrm>
            <a:off x="8723457" y="6001337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6" name="Text 42"/>
          <p:cNvSpPr/>
          <p:nvPr/>
        </p:nvSpPr>
        <p:spPr>
          <a:xfrm>
            <a:off x="8818707" y="6064837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不同种子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8818707" y="6255337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生成不同布局的随机世界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MINIMUM SPANNING TREE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最小生成树: Kruskal算法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33375" y="1143000"/>
            <a:ext cx="5111750" cy="3444875"/>
          </a:xfrm>
          <a:custGeom>
            <a:avLst/>
            <a:gdLst/>
            <a:ahLst/>
            <a:cxnLst/>
            <a:rect l="l" t="t" r="r" b="b"/>
            <a:pathLst>
              <a:path w="5111750" h="3444875">
                <a:moveTo>
                  <a:pt x="31750" y="0"/>
                </a:moveTo>
                <a:lnTo>
                  <a:pt x="5048261" y="0"/>
                </a:lnTo>
                <a:cubicBezTo>
                  <a:pt x="5083325" y="0"/>
                  <a:pt x="5111750" y="28425"/>
                  <a:pt x="5111750" y="63489"/>
                </a:cubicBezTo>
                <a:lnTo>
                  <a:pt x="5111750" y="3381386"/>
                </a:lnTo>
                <a:cubicBezTo>
                  <a:pt x="5111750" y="3416450"/>
                  <a:pt x="5083325" y="3444875"/>
                  <a:pt x="5048261" y="3444875"/>
                </a:cubicBezTo>
                <a:lnTo>
                  <a:pt x="31750" y="3444875"/>
                </a:lnTo>
                <a:cubicBezTo>
                  <a:pt x="14227" y="3444875"/>
                  <a:pt x="0" y="3430648"/>
                  <a:pt x="0" y="341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33375" y="1143000"/>
            <a:ext cx="31750" cy="3444875"/>
          </a:xfrm>
          <a:custGeom>
            <a:avLst/>
            <a:gdLst/>
            <a:ahLst/>
            <a:cxnLst/>
            <a:rect l="l" t="t" r="r" b="b"/>
            <a:pathLst>
              <a:path w="31750" h="3444875">
                <a:moveTo>
                  <a:pt x="31750" y="0"/>
                </a:moveTo>
                <a:lnTo>
                  <a:pt x="31750" y="0"/>
                </a:lnTo>
                <a:lnTo>
                  <a:pt x="31750" y="3444875"/>
                </a:lnTo>
                <a:lnTo>
                  <a:pt x="31750" y="3444875"/>
                </a:lnTo>
                <a:cubicBezTo>
                  <a:pt x="14227" y="3444875"/>
                  <a:pt x="0" y="3430648"/>
                  <a:pt x="0" y="341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527844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706438" y="1301750"/>
            <a:ext cx="4659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MST基本概念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508000" y="1619250"/>
            <a:ext cx="48418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最小生成树(MST)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是连接图中所有顶点的最小权重的树。在BYOW项目中, MST用于确保所有房间连通, 同时最小化走廊数量。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508000" y="2127250"/>
            <a:ext cx="4778375" cy="952500"/>
          </a:xfrm>
          <a:custGeom>
            <a:avLst/>
            <a:gdLst/>
            <a:ahLst/>
            <a:cxnLst/>
            <a:rect l="l" t="t" r="r" b="b"/>
            <a:pathLst>
              <a:path w="4778375" h="952500">
                <a:moveTo>
                  <a:pt x="31747" y="0"/>
                </a:moveTo>
                <a:lnTo>
                  <a:pt x="4746628" y="0"/>
                </a:lnTo>
                <a:cubicBezTo>
                  <a:pt x="4764161" y="0"/>
                  <a:pt x="4778375" y="14214"/>
                  <a:pt x="4778375" y="31747"/>
                </a:cubicBezTo>
                <a:lnTo>
                  <a:pt x="4778375" y="920753"/>
                </a:lnTo>
                <a:cubicBezTo>
                  <a:pt x="4778375" y="938286"/>
                  <a:pt x="4764161" y="952500"/>
                  <a:pt x="4746628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603250" y="222250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MST特性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603250" y="24447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包含所有顶点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603250" y="26352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无环的连通图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03250" y="2825750"/>
            <a:ext cx="464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边的权重之和最小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333375" y="4714875"/>
            <a:ext cx="5111750" cy="3444875"/>
          </a:xfrm>
          <a:custGeom>
            <a:avLst/>
            <a:gdLst/>
            <a:ahLst/>
            <a:cxnLst/>
            <a:rect l="l" t="t" r="r" b="b"/>
            <a:pathLst>
              <a:path w="5111750" h="3444875">
                <a:moveTo>
                  <a:pt x="31750" y="0"/>
                </a:moveTo>
                <a:lnTo>
                  <a:pt x="5048261" y="0"/>
                </a:lnTo>
                <a:cubicBezTo>
                  <a:pt x="5083325" y="0"/>
                  <a:pt x="5111750" y="28425"/>
                  <a:pt x="5111750" y="63489"/>
                </a:cubicBezTo>
                <a:lnTo>
                  <a:pt x="5111750" y="3381386"/>
                </a:lnTo>
                <a:cubicBezTo>
                  <a:pt x="5111750" y="3416450"/>
                  <a:pt x="5083325" y="3444875"/>
                  <a:pt x="5048261" y="3444875"/>
                </a:cubicBezTo>
                <a:lnTo>
                  <a:pt x="31750" y="3444875"/>
                </a:lnTo>
                <a:cubicBezTo>
                  <a:pt x="14227" y="3444875"/>
                  <a:pt x="0" y="3430648"/>
                  <a:pt x="0" y="341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8" name="Shape 14"/>
          <p:cNvSpPr/>
          <p:nvPr/>
        </p:nvSpPr>
        <p:spPr>
          <a:xfrm>
            <a:off x="333375" y="4714875"/>
            <a:ext cx="31750" cy="3444875"/>
          </a:xfrm>
          <a:custGeom>
            <a:avLst/>
            <a:gdLst/>
            <a:ahLst/>
            <a:cxnLst/>
            <a:rect l="l" t="t" r="r" b="b"/>
            <a:pathLst>
              <a:path w="31750" h="3444875">
                <a:moveTo>
                  <a:pt x="31750" y="0"/>
                </a:moveTo>
                <a:lnTo>
                  <a:pt x="31750" y="0"/>
                </a:lnTo>
                <a:lnTo>
                  <a:pt x="31750" y="3444875"/>
                </a:lnTo>
                <a:lnTo>
                  <a:pt x="31750" y="3444875"/>
                </a:lnTo>
                <a:cubicBezTo>
                  <a:pt x="14227" y="3444875"/>
                  <a:pt x="0" y="3430648"/>
                  <a:pt x="0" y="341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9" name="Shape 15"/>
          <p:cNvSpPr/>
          <p:nvPr/>
        </p:nvSpPr>
        <p:spPr>
          <a:xfrm>
            <a:off x="527844" y="4905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2324"/>
                </a:moveTo>
                <a:cubicBezTo>
                  <a:pt x="0" y="18231"/>
                  <a:pt x="3318" y="14883"/>
                  <a:pt x="7441" y="14883"/>
                </a:cubicBezTo>
                <a:lnTo>
                  <a:pt x="22324" y="14883"/>
                </a:lnTo>
                <a:cubicBezTo>
                  <a:pt x="26448" y="14883"/>
                  <a:pt x="29766" y="18200"/>
                  <a:pt x="29766" y="22324"/>
                </a:cubicBezTo>
                <a:lnTo>
                  <a:pt x="29766" y="54570"/>
                </a:lnTo>
                <a:lnTo>
                  <a:pt x="37207" y="54570"/>
                </a:lnTo>
                <a:cubicBezTo>
                  <a:pt x="41331" y="54570"/>
                  <a:pt x="44648" y="57888"/>
                  <a:pt x="44648" y="62012"/>
                </a:cubicBezTo>
                <a:cubicBezTo>
                  <a:pt x="44648" y="66135"/>
                  <a:pt x="41331" y="69453"/>
                  <a:pt x="37207" y="69453"/>
                </a:cubicBezTo>
                <a:lnTo>
                  <a:pt x="7441" y="69453"/>
                </a:lnTo>
                <a:cubicBezTo>
                  <a:pt x="3318" y="69453"/>
                  <a:pt x="0" y="66135"/>
                  <a:pt x="0" y="62012"/>
                </a:cubicBezTo>
                <a:cubicBezTo>
                  <a:pt x="0" y="57888"/>
                  <a:pt x="3318" y="54570"/>
                  <a:pt x="7441" y="54570"/>
                </a:cubicBezTo>
                <a:lnTo>
                  <a:pt x="14883" y="54570"/>
                </a:lnTo>
                <a:lnTo>
                  <a:pt x="14883" y="29766"/>
                </a:lnTo>
                <a:lnTo>
                  <a:pt x="7441" y="29766"/>
                </a:lnTo>
                <a:cubicBezTo>
                  <a:pt x="3318" y="29766"/>
                  <a:pt x="0" y="26448"/>
                  <a:pt x="0" y="22324"/>
                </a:cubicBezTo>
                <a:close/>
                <a:moveTo>
                  <a:pt x="9426" y="93390"/>
                </a:moveTo>
                <a:cubicBezTo>
                  <a:pt x="12960" y="90723"/>
                  <a:pt x="17270" y="89297"/>
                  <a:pt x="21704" y="89297"/>
                </a:cubicBezTo>
                <a:lnTo>
                  <a:pt x="23223" y="89297"/>
                </a:lnTo>
                <a:cubicBezTo>
                  <a:pt x="33672" y="89297"/>
                  <a:pt x="42168" y="97792"/>
                  <a:pt x="42168" y="108241"/>
                </a:cubicBezTo>
                <a:cubicBezTo>
                  <a:pt x="42168" y="114319"/>
                  <a:pt x="39253" y="119993"/>
                  <a:pt x="34354" y="123558"/>
                </a:cubicBezTo>
                <a:lnTo>
                  <a:pt x="26913" y="128984"/>
                </a:lnTo>
                <a:lnTo>
                  <a:pt x="37207" y="128984"/>
                </a:lnTo>
                <a:cubicBezTo>
                  <a:pt x="41331" y="128984"/>
                  <a:pt x="44648" y="132302"/>
                  <a:pt x="44648" y="136426"/>
                </a:cubicBezTo>
                <a:cubicBezTo>
                  <a:pt x="44648" y="140550"/>
                  <a:pt x="41331" y="143867"/>
                  <a:pt x="37207" y="143867"/>
                </a:cubicBezTo>
                <a:lnTo>
                  <a:pt x="9085" y="143867"/>
                </a:lnTo>
                <a:cubicBezTo>
                  <a:pt x="4062" y="143867"/>
                  <a:pt x="0" y="139805"/>
                  <a:pt x="0" y="134782"/>
                </a:cubicBezTo>
                <a:cubicBezTo>
                  <a:pt x="0" y="131868"/>
                  <a:pt x="1395" y="129139"/>
                  <a:pt x="3752" y="127434"/>
                </a:cubicBezTo>
                <a:lnTo>
                  <a:pt x="25611" y="111528"/>
                </a:lnTo>
                <a:cubicBezTo>
                  <a:pt x="26665" y="110753"/>
                  <a:pt x="27285" y="109544"/>
                  <a:pt x="27285" y="108241"/>
                </a:cubicBezTo>
                <a:cubicBezTo>
                  <a:pt x="27285" y="106009"/>
                  <a:pt x="25456" y="104180"/>
                  <a:pt x="23223" y="104180"/>
                </a:cubicBezTo>
                <a:lnTo>
                  <a:pt x="21704" y="104180"/>
                </a:lnTo>
                <a:cubicBezTo>
                  <a:pt x="20495" y="104180"/>
                  <a:pt x="19317" y="104583"/>
                  <a:pt x="18355" y="105296"/>
                </a:cubicBezTo>
                <a:lnTo>
                  <a:pt x="11906" y="110133"/>
                </a:lnTo>
                <a:cubicBezTo>
                  <a:pt x="8620" y="112613"/>
                  <a:pt x="3969" y="111931"/>
                  <a:pt x="1488" y="108645"/>
                </a:cubicBezTo>
                <a:cubicBezTo>
                  <a:pt x="-992" y="105358"/>
                  <a:pt x="-310" y="100707"/>
                  <a:pt x="2977" y="98227"/>
                </a:cubicBezTo>
                <a:lnTo>
                  <a:pt x="9426" y="93390"/>
                </a:lnTo>
                <a:close/>
                <a:moveTo>
                  <a:pt x="69453" y="19844"/>
                </a:move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69453" y="39688"/>
                </a:lnTo>
                <a:cubicBezTo>
                  <a:pt x="63965" y="39688"/>
                  <a:pt x="59531" y="35254"/>
                  <a:pt x="59531" y="29766"/>
                </a:cubicBezTo>
                <a:cubicBezTo>
                  <a:pt x="59531" y="24278"/>
                  <a:pt x="63965" y="19844"/>
                  <a:pt x="69453" y="19844"/>
                </a:cubicBezTo>
                <a:close/>
                <a:moveTo>
                  <a:pt x="69453" y="69453"/>
                </a:move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69453" y="89297"/>
                </a:lnTo>
                <a:cubicBezTo>
                  <a:pt x="63965" y="89297"/>
                  <a:pt x="59531" y="84863"/>
                  <a:pt x="59531" y="79375"/>
                </a:cubicBezTo>
                <a:cubicBezTo>
                  <a:pt x="59531" y="73887"/>
                  <a:pt x="63965" y="69453"/>
                  <a:pt x="69453" y="69453"/>
                </a:cubicBezTo>
                <a:close/>
                <a:moveTo>
                  <a:pt x="69453" y="119062"/>
                </a:move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69453" y="138906"/>
                </a:lnTo>
                <a:cubicBezTo>
                  <a:pt x="63965" y="138906"/>
                  <a:pt x="59531" y="134472"/>
                  <a:pt x="59531" y="128984"/>
                </a:cubicBezTo>
                <a:cubicBezTo>
                  <a:pt x="59531" y="123496"/>
                  <a:pt x="63965" y="119062"/>
                  <a:pt x="69453" y="119062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Text 16"/>
          <p:cNvSpPr/>
          <p:nvPr/>
        </p:nvSpPr>
        <p:spPr>
          <a:xfrm>
            <a:off x="706438" y="4873625"/>
            <a:ext cx="4659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Kruskal算法步骤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508000" y="51911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2" name="Text 18"/>
          <p:cNvSpPr/>
          <p:nvPr/>
        </p:nvSpPr>
        <p:spPr>
          <a:xfrm>
            <a:off x="480219" y="519112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857250" y="5191125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将所有边按权重排序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857250" y="5381625"/>
            <a:ext cx="119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按距离从小到大排列</a:t>
            </a:r>
            <a:endParaRPr lang="en-US" sz="1600" dirty="0"/>
          </a:p>
        </p:txBody>
      </p:sp>
      <p:sp>
        <p:nvSpPr>
          <p:cNvPr id="35" name="Shape 21"/>
          <p:cNvSpPr/>
          <p:nvPr/>
        </p:nvSpPr>
        <p:spPr>
          <a:xfrm>
            <a:off x="508000" y="5635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6" name="Text 22"/>
          <p:cNvSpPr/>
          <p:nvPr/>
        </p:nvSpPr>
        <p:spPr>
          <a:xfrm>
            <a:off x="480219" y="563562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857250" y="5635625"/>
            <a:ext cx="106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依次考虑每条边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857250" y="5826125"/>
            <a:ext cx="105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不连通则添加并合并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508000" y="60801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0" name="Text 26"/>
          <p:cNvSpPr/>
          <p:nvPr/>
        </p:nvSpPr>
        <p:spPr>
          <a:xfrm>
            <a:off x="480219" y="608012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857250" y="6080125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直到所有顶点连通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857250" y="6270625"/>
            <a:ext cx="107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形成最小生成树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5605145" y="141605"/>
            <a:ext cx="6270625" cy="6713220"/>
          </a:xfrm>
          <a:custGeom>
            <a:avLst/>
            <a:gdLst/>
            <a:ahLst/>
            <a:cxnLst/>
            <a:rect l="l" t="t" r="r" b="b"/>
            <a:pathLst>
              <a:path w="6270625" h="5873750">
                <a:moveTo>
                  <a:pt x="63495" y="0"/>
                </a:moveTo>
                <a:lnTo>
                  <a:pt x="6207130" y="0"/>
                </a:lnTo>
                <a:cubicBezTo>
                  <a:pt x="6242197" y="0"/>
                  <a:pt x="6270625" y="28428"/>
                  <a:pt x="6270625" y="63495"/>
                </a:cubicBezTo>
                <a:lnTo>
                  <a:pt x="6270625" y="5810255"/>
                </a:lnTo>
                <a:cubicBezTo>
                  <a:pt x="6270625" y="5845322"/>
                  <a:pt x="6242197" y="5873750"/>
                  <a:pt x="6207130" y="5873750"/>
                </a:cubicBezTo>
                <a:lnTo>
                  <a:pt x="63495" y="5873750"/>
                </a:lnTo>
                <a:cubicBezTo>
                  <a:pt x="28428" y="5873750"/>
                  <a:pt x="0" y="5845322"/>
                  <a:pt x="0" y="5810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4" name="Shape 30"/>
          <p:cNvSpPr/>
          <p:nvPr/>
        </p:nvSpPr>
        <p:spPr>
          <a:xfrm>
            <a:off x="5774106" y="33210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5" name="Text 31"/>
          <p:cNvSpPr/>
          <p:nvPr/>
        </p:nvSpPr>
        <p:spPr>
          <a:xfrm>
            <a:off x="5962622" y="300355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Kruskal算法实现</a:t>
            </a:r>
            <a:endParaRPr lang="en-US" sz="1600" dirty="0"/>
          </a:p>
        </p:txBody>
      </p:sp>
      <p:sp>
        <p:nvSpPr>
          <p:cNvPr id="46" name="Shape 32"/>
          <p:cNvSpPr/>
          <p:nvPr/>
        </p:nvSpPr>
        <p:spPr>
          <a:xfrm>
            <a:off x="5780059" y="617855"/>
            <a:ext cx="5937250" cy="4143375"/>
          </a:xfrm>
          <a:custGeom>
            <a:avLst/>
            <a:gdLst/>
            <a:ahLst/>
            <a:cxnLst/>
            <a:rect l="l" t="t" r="r" b="b"/>
            <a:pathLst>
              <a:path w="5937250" h="4143375">
                <a:moveTo>
                  <a:pt x="31750" y="0"/>
                </a:moveTo>
                <a:lnTo>
                  <a:pt x="5873732" y="0"/>
                </a:lnTo>
                <a:cubicBezTo>
                  <a:pt x="5908812" y="0"/>
                  <a:pt x="5937250" y="28438"/>
                  <a:pt x="5937250" y="63518"/>
                </a:cubicBezTo>
                <a:lnTo>
                  <a:pt x="5937250" y="4079857"/>
                </a:lnTo>
                <a:cubicBezTo>
                  <a:pt x="5937250" y="4114937"/>
                  <a:pt x="5908812" y="4143375"/>
                  <a:pt x="5873732" y="4143375"/>
                </a:cubicBezTo>
                <a:lnTo>
                  <a:pt x="31750" y="4143375"/>
                </a:lnTo>
                <a:cubicBezTo>
                  <a:pt x="14227" y="4143375"/>
                  <a:pt x="0" y="4129148"/>
                  <a:pt x="0" y="4111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7" name="Shape 33"/>
          <p:cNvSpPr/>
          <p:nvPr/>
        </p:nvSpPr>
        <p:spPr>
          <a:xfrm>
            <a:off x="5780059" y="617855"/>
            <a:ext cx="31750" cy="4143375"/>
          </a:xfrm>
          <a:custGeom>
            <a:avLst/>
            <a:gdLst/>
            <a:ahLst/>
            <a:cxnLst/>
            <a:rect l="l" t="t" r="r" b="b"/>
            <a:pathLst>
              <a:path w="31750" h="4143375">
                <a:moveTo>
                  <a:pt x="31750" y="0"/>
                </a:moveTo>
                <a:lnTo>
                  <a:pt x="31750" y="0"/>
                </a:lnTo>
                <a:lnTo>
                  <a:pt x="31750" y="4143375"/>
                </a:lnTo>
                <a:lnTo>
                  <a:pt x="31750" y="4143375"/>
                </a:lnTo>
                <a:cubicBezTo>
                  <a:pt x="14227" y="4143375"/>
                  <a:pt x="0" y="4129148"/>
                  <a:pt x="0" y="4111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8" name="Text 34"/>
          <p:cNvSpPr/>
          <p:nvPr/>
        </p:nvSpPr>
        <p:spPr>
          <a:xfrm>
            <a:off x="5922934" y="744855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连接房间(简化版MST)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5922934" y="967105"/>
            <a:ext cx="5722938" cy="3667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connectRooms(World* world)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DisjointSet ds;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initDisjointSet(&amp;ds, world-&gt;roomCount);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// 策略: 简单地将相邻房间连接起来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for (int i = 0; i &lt; world-&gt;roomCount - 1;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Point c1 = world-&gt;rooms[i].center;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Point c2 = world-&gt;rooms[i+1].center;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(findSet(&amp;ds, i) != findSet(&amp;ds, i+1))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drawCorridor(world, c1, c2);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unionSets(&amp;ds, i, i+1);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// 额外随机连接几个房间形成环路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for (int i = 0; i &lt; 5;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r1 = randomInt(0, world-&gt;roomCount);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r2 = randomInt(0, world-&gt;roomCount);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(r1 != r2)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drawCorridor(world, world-&gt;rooms[r1].center,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               world-&gt;rooms[r2].center);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5585749" y="5413375"/>
            <a:ext cx="6270625" cy="1016000"/>
          </a:xfrm>
          <a:custGeom>
            <a:avLst/>
            <a:gdLst/>
            <a:ahLst/>
            <a:cxnLst/>
            <a:rect l="l" t="t" r="r" b="b"/>
            <a:pathLst>
              <a:path w="6270625" h="1016000">
                <a:moveTo>
                  <a:pt x="63500" y="0"/>
                </a:moveTo>
                <a:lnTo>
                  <a:pt x="6207125" y="0"/>
                </a:lnTo>
                <a:cubicBezTo>
                  <a:pt x="6242172" y="0"/>
                  <a:pt x="6270625" y="28453"/>
                  <a:pt x="6270625" y="63500"/>
                </a:cubicBezTo>
                <a:lnTo>
                  <a:pt x="6270625" y="952500"/>
                </a:lnTo>
                <a:cubicBezTo>
                  <a:pt x="6270625" y="987547"/>
                  <a:pt x="6242172" y="1016000"/>
                  <a:pt x="620712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1" name="Shape 37"/>
          <p:cNvSpPr/>
          <p:nvPr/>
        </p:nvSpPr>
        <p:spPr>
          <a:xfrm>
            <a:off x="5732593" y="5580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52" name="Text 38"/>
          <p:cNvSpPr/>
          <p:nvPr/>
        </p:nvSpPr>
        <p:spPr>
          <a:xfrm>
            <a:off x="5895312" y="5540375"/>
            <a:ext cx="5905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并查集的关键作用</a:t>
            </a:r>
            <a:endParaRPr lang="en-US" sz="1600" dirty="0"/>
          </a:p>
        </p:txBody>
      </p:sp>
      <p:sp>
        <p:nvSpPr>
          <p:cNvPr id="53" name="Shape 39"/>
          <p:cNvSpPr/>
          <p:nvPr/>
        </p:nvSpPr>
        <p:spPr>
          <a:xfrm>
            <a:off x="5712749" y="5826125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4" name="Text 40"/>
          <p:cNvSpPr/>
          <p:nvPr/>
        </p:nvSpPr>
        <p:spPr>
          <a:xfrm>
            <a:off x="5807999" y="5889625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避免环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5807999" y="6080125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检测是否已连通</a:t>
            </a:r>
            <a:endParaRPr lang="en-US" sz="1600" dirty="0"/>
          </a:p>
        </p:txBody>
      </p:sp>
      <p:sp>
        <p:nvSpPr>
          <p:cNvPr id="56" name="Shape 42"/>
          <p:cNvSpPr/>
          <p:nvPr/>
        </p:nvSpPr>
        <p:spPr>
          <a:xfrm>
            <a:off x="8767907" y="5826125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7" name="Text 43"/>
          <p:cNvSpPr/>
          <p:nvPr/>
        </p:nvSpPr>
        <p:spPr>
          <a:xfrm>
            <a:off x="8863157" y="5889625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高效检查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8863157" y="6080125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近乎常数时间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3448348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3384016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3384016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3320114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3321801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3577841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BREADTH-FIRST SEARCH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8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BFS算法: 最短路径查找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8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17500" y="1158875"/>
            <a:ext cx="5127625" cy="2270125"/>
          </a:xfrm>
          <a:custGeom>
            <a:avLst/>
            <a:gdLst/>
            <a:ahLst/>
            <a:cxnLst/>
            <a:rect l="l" t="t" r="r" b="b"/>
            <a:pathLst>
              <a:path w="5127625" h="49212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4857766"/>
                </a:lnTo>
                <a:cubicBezTo>
                  <a:pt x="5127625" y="4892827"/>
                  <a:pt x="5099202" y="4921250"/>
                  <a:pt x="5064141" y="4921250"/>
                </a:cubicBezTo>
                <a:lnTo>
                  <a:pt x="63484" y="4921250"/>
                </a:lnTo>
                <a:cubicBezTo>
                  <a:pt x="28423" y="4921250"/>
                  <a:pt x="0" y="4892827"/>
                  <a:pt x="0" y="485776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17500" y="1158883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496094" y="136525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674688" y="1333508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BFS算法原理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476250" y="1651008"/>
            <a:ext cx="4873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广度优先搜索(BFS)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是一种图遍历算法,从起点开始逐层扩展,先访问所有相邻节点,再访问下一层节点。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476250" y="2159008"/>
            <a:ext cx="4810125" cy="952500"/>
          </a:xfrm>
          <a:custGeom>
            <a:avLst/>
            <a:gdLst/>
            <a:ahLst/>
            <a:cxnLst/>
            <a:rect l="l" t="t" r="r" b="b"/>
            <a:pathLst>
              <a:path w="4810125" h="952500">
                <a:moveTo>
                  <a:pt x="31747" y="0"/>
                </a:moveTo>
                <a:lnTo>
                  <a:pt x="4778378" y="0"/>
                </a:lnTo>
                <a:cubicBezTo>
                  <a:pt x="4795911" y="0"/>
                  <a:pt x="4810125" y="14214"/>
                  <a:pt x="4810125" y="31747"/>
                </a:cubicBezTo>
                <a:lnTo>
                  <a:pt x="4810125" y="920753"/>
                </a:lnTo>
                <a:cubicBezTo>
                  <a:pt x="4810125" y="938286"/>
                  <a:pt x="4795911" y="952500"/>
                  <a:pt x="4778378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571500" y="2254258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BFS特性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571500" y="2476508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层次遍历: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按距离逐层扩展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571500" y="2667008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最短路径: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找到的路径边数最少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571500" y="2857508"/>
            <a:ext cx="4675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完备性:</a:t>
            </a: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一定能找到解(如果存在)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317500" y="3429000"/>
            <a:ext cx="5127625" cy="2196465"/>
          </a:xfrm>
          <a:custGeom>
            <a:avLst/>
            <a:gdLst/>
            <a:ahLst/>
            <a:cxnLst/>
            <a:rect l="l" t="t" r="r" b="b"/>
            <a:pathLst>
              <a:path w="5127625" h="49212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4857766"/>
                </a:lnTo>
                <a:cubicBezTo>
                  <a:pt x="5127625" y="4892827"/>
                  <a:pt x="5099202" y="4921250"/>
                  <a:pt x="5064141" y="4921250"/>
                </a:cubicBezTo>
                <a:lnTo>
                  <a:pt x="63484" y="4921250"/>
                </a:lnTo>
                <a:cubicBezTo>
                  <a:pt x="28423" y="4921250"/>
                  <a:pt x="0" y="4892827"/>
                  <a:pt x="0" y="4857766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8" name="Shape 14"/>
          <p:cNvSpPr/>
          <p:nvPr/>
        </p:nvSpPr>
        <p:spPr>
          <a:xfrm>
            <a:off x="317500" y="3429019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9" name="Shape 15"/>
          <p:cNvSpPr/>
          <p:nvPr/>
        </p:nvSpPr>
        <p:spPr>
          <a:xfrm>
            <a:off x="496094" y="363539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Text 16"/>
          <p:cNvSpPr/>
          <p:nvPr/>
        </p:nvSpPr>
        <p:spPr>
          <a:xfrm>
            <a:off x="674688" y="3603644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BFS实现过程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476250" y="39211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2" name="Text 18"/>
          <p:cNvSpPr/>
          <p:nvPr/>
        </p:nvSpPr>
        <p:spPr>
          <a:xfrm>
            <a:off x="448469" y="392114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825500" y="3921144"/>
            <a:ext cx="841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初始化队列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825500" y="4111644"/>
            <a:ext cx="833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将起点加入队列</a:t>
            </a:r>
            <a:endParaRPr lang="en-US" sz="1600" dirty="0"/>
          </a:p>
        </p:txBody>
      </p:sp>
      <p:sp>
        <p:nvSpPr>
          <p:cNvPr id="35" name="Shape 21"/>
          <p:cNvSpPr/>
          <p:nvPr/>
        </p:nvSpPr>
        <p:spPr>
          <a:xfrm>
            <a:off x="476250" y="43656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6" name="Text 22"/>
          <p:cNvSpPr/>
          <p:nvPr/>
        </p:nvSpPr>
        <p:spPr>
          <a:xfrm>
            <a:off x="448469" y="436564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825500" y="4365644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取出队头节点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825500" y="4556144"/>
            <a:ext cx="817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处理当前节点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476250" y="48101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0" name="Text 26"/>
          <p:cNvSpPr/>
          <p:nvPr/>
        </p:nvSpPr>
        <p:spPr>
          <a:xfrm>
            <a:off x="448469" y="481014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825500" y="4810144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扩展邻接节点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825500" y="5000644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未访问的节点入队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476250" y="52546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4" name="Text 30"/>
          <p:cNvSpPr/>
          <p:nvPr/>
        </p:nvSpPr>
        <p:spPr>
          <a:xfrm>
            <a:off x="448469" y="5254644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825500" y="5254644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重复直到找到目标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825500" y="5445144"/>
            <a:ext cx="1071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或队列为空</a:t>
            </a:r>
            <a:endParaRPr lang="en-US" sz="1600" dirty="0"/>
          </a:p>
        </p:txBody>
      </p:sp>
      <p:sp>
        <p:nvSpPr>
          <p:cNvPr id="47" name="Shape 33"/>
          <p:cNvSpPr/>
          <p:nvPr/>
        </p:nvSpPr>
        <p:spPr>
          <a:xfrm>
            <a:off x="5639089" y="63508"/>
            <a:ext cx="6270625" cy="8707438"/>
          </a:xfrm>
          <a:custGeom>
            <a:avLst/>
            <a:gdLst/>
            <a:ahLst/>
            <a:cxnLst/>
            <a:rect l="l" t="t" r="r" b="b"/>
            <a:pathLst>
              <a:path w="6270625" h="8707438">
                <a:moveTo>
                  <a:pt x="63521" y="0"/>
                </a:moveTo>
                <a:lnTo>
                  <a:pt x="6207104" y="0"/>
                </a:lnTo>
                <a:cubicBezTo>
                  <a:pt x="6242185" y="0"/>
                  <a:pt x="6270625" y="28440"/>
                  <a:pt x="6270625" y="63521"/>
                </a:cubicBezTo>
                <a:lnTo>
                  <a:pt x="6270625" y="8643916"/>
                </a:lnTo>
                <a:cubicBezTo>
                  <a:pt x="6270625" y="8678998"/>
                  <a:pt x="6242185" y="8707437"/>
                  <a:pt x="6207104" y="8707438"/>
                </a:cubicBezTo>
                <a:lnTo>
                  <a:pt x="63521" y="8707438"/>
                </a:lnTo>
                <a:cubicBezTo>
                  <a:pt x="28440" y="8707438"/>
                  <a:pt x="0" y="8678998"/>
                  <a:pt x="0" y="8643916"/>
                </a:cubicBezTo>
                <a:lnTo>
                  <a:pt x="0" y="63521"/>
                </a:lnTo>
                <a:cubicBezTo>
                  <a:pt x="0" y="28463"/>
                  <a:pt x="28463" y="0"/>
                  <a:pt x="63521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8" name="Shape 34"/>
          <p:cNvSpPr/>
          <p:nvPr/>
        </p:nvSpPr>
        <p:spPr>
          <a:xfrm>
            <a:off x="5807761" y="25400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9" name="Text 35"/>
          <p:cNvSpPr/>
          <p:nvPr/>
        </p:nvSpPr>
        <p:spPr>
          <a:xfrm>
            <a:off x="5996277" y="222258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BFS代码框架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5813714" y="539758"/>
            <a:ext cx="5937250" cy="6477000"/>
          </a:xfrm>
          <a:custGeom>
            <a:avLst/>
            <a:gdLst/>
            <a:ahLst/>
            <a:cxnLst/>
            <a:rect l="l" t="t" r="r" b="b"/>
            <a:pathLst>
              <a:path w="5937250" h="6477000">
                <a:moveTo>
                  <a:pt x="31750" y="0"/>
                </a:moveTo>
                <a:lnTo>
                  <a:pt x="5873721" y="0"/>
                </a:lnTo>
                <a:cubicBezTo>
                  <a:pt x="5908807" y="0"/>
                  <a:pt x="5937250" y="28443"/>
                  <a:pt x="5937250" y="63529"/>
                </a:cubicBezTo>
                <a:lnTo>
                  <a:pt x="5937250" y="6413471"/>
                </a:lnTo>
                <a:cubicBezTo>
                  <a:pt x="5937250" y="6448557"/>
                  <a:pt x="5908807" y="6477000"/>
                  <a:pt x="5873721" y="6477000"/>
                </a:cubicBezTo>
                <a:lnTo>
                  <a:pt x="31750" y="6477000"/>
                </a:lnTo>
                <a:cubicBezTo>
                  <a:pt x="14227" y="6477000"/>
                  <a:pt x="0" y="6462773"/>
                  <a:pt x="0" y="644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1" name="Shape 37"/>
          <p:cNvSpPr/>
          <p:nvPr/>
        </p:nvSpPr>
        <p:spPr>
          <a:xfrm>
            <a:off x="5813714" y="539758"/>
            <a:ext cx="31750" cy="6477000"/>
          </a:xfrm>
          <a:custGeom>
            <a:avLst/>
            <a:gdLst/>
            <a:ahLst/>
            <a:cxnLst/>
            <a:rect l="l" t="t" r="r" b="b"/>
            <a:pathLst>
              <a:path w="31750" h="6477000">
                <a:moveTo>
                  <a:pt x="31750" y="0"/>
                </a:moveTo>
                <a:lnTo>
                  <a:pt x="31750" y="0"/>
                </a:lnTo>
                <a:lnTo>
                  <a:pt x="31750" y="6477000"/>
                </a:lnTo>
                <a:lnTo>
                  <a:pt x="31750" y="6477000"/>
                </a:lnTo>
                <a:cubicBezTo>
                  <a:pt x="14227" y="6477000"/>
                  <a:pt x="0" y="6462773"/>
                  <a:pt x="0" y="644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2" name="Text 38"/>
          <p:cNvSpPr/>
          <p:nvPr/>
        </p:nvSpPr>
        <p:spPr>
          <a:xfrm>
            <a:off x="5956589" y="666758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BFS查找最短路径</a:t>
            </a:r>
            <a:endParaRPr lang="en-US" sz="1600" dirty="0"/>
          </a:p>
        </p:txBody>
      </p:sp>
      <p:sp>
        <p:nvSpPr>
          <p:cNvPr id="53" name="Text 39"/>
          <p:cNvSpPr/>
          <p:nvPr/>
        </p:nvSpPr>
        <p:spPr>
          <a:xfrm>
            <a:off x="5956589" y="889008"/>
            <a:ext cx="5722938" cy="6000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 findShortestPath(int start, int end, int* path)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Queue q;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bool visited[MAX_ROOMS] = {false};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parent[MAX_ROOMS];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enqueue(&amp;q, start);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visited[start] = true;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parent[start] = -1;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while (!isEmptyQueue(&amp;q))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current = dequeue(&amp;q);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(current == end)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// 找到目标, 回溯路径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int pathLength = 0;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int node = end;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while (node != -1)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path[pathLength++] = node;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node = parent[node];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return pathLength;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扩展邻接节点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RoomConnection* conn = connections[current];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while (conn != NULL)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if (!visited[conn-&gt;roomId])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visited[conn-&gt;roomId] = true;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parent[conn-&gt;roomId] = current;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enqueue(&amp;q, conn-&gt;roomId);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conn = conn-&gt;next;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return -1; // 未找到路径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261620" y="5639435"/>
            <a:ext cx="5184140" cy="1174750"/>
          </a:xfrm>
          <a:custGeom>
            <a:avLst/>
            <a:gdLst/>
            <a:ahLst/>
            <a:cxnLst/>
            <a:rect l="l" t="t" r="r" b="b"/>
            <a:pathLst>
              <a:path w="6270625" h="1174750">
                <a:moveTo>
                  <a:pt x="63495" y="0"/>
                </a:moveTo>
                <a:lnTo>
                  <a:pt x="6207130" y="0"/>
                </a:lnTo>
                <a:cubicBezTo>
                  <a:pt x="6242197" y="0"/>
                  <a:pt x="6270625" y="28428"/>
                  <a:pt x="6270625" y="63495"/>
                </a:cubicBezTo>
                <a:lnTo>
                  <a:pt x="6270625" y="1111255"/>
                </a:lnTo>
                <a:cubicBezTo>
                  <a:pt x="6270625" y="1146322"/>
                  <a:pt x="6242197" y="1174750"/>
                  <a:pt x="6207130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5" name="Shape 41"/>
          <p:cNvSpPr/>
          <p:nvPr/>
        </p:nvSpPr>
        <p:spPr>
          <a:xfrm>
            <a:off x="408753" y="580608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6" name="Text 42"/>
          <p:cNvSpPr/>
          <p:nvPr/>
        </p:nvSpPr>
        <p:spPr>
          <a:xfrm>
            <a:off x="571472" y="5766395"/>
            <a:ext cx="5905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复杂度与应用</a:t>
            </a:r>
            <a:endParaRPr lang="en-US" sz="1600" dirty="0"/>
          </a:p>
        </p:txBody>
      </p:sp>
      <p:sp>
        <p:nvSpPr>
          <p:cNvPr id="57" name="Shape 43"/>
          <p:cNvSpPr/>
          <p:nvPr/>
        </p:nvSpPr>
        <p:spPr>
          <a:xfrm>
            <a:off x="388909" y="6052145"/>
            <a:ext cx="1944688" cy="635000"/>
          </a:xfrm>
          <a:custGeom>
            <a:avLst/>
            <a:gdLst/>
            <a:ahLst/>
            <a:cxnLst/>
            <a:rect l="l" t="t" r="r" b="b"/>
            <a:pathLst>
              <a:path w="1944688" h="635000">
                <a:moveTo>
                  <a:pt x="31750" y="0"/>
                </a:moveTo>
                <a:lnTo>
                  <a:pt x="1912938" y="0"/>
                </a:lnTo>
                <a:cubicBezTo>
                  <a:pt x="1930461" y="0"/>
                  <a:pt x="1944688" y="14227"/>
                  <a:pt x="1944688" y="31750"/>
                </a:cubicBezTo>
                <a:lnTo>
                  <a:pt x="1944688" y="603250"/>
                </a:lnTo>
                <a:cubicBezTo>
                  <a:pt x="1944688" y="620773"/>
                  <a:pt x="1930461" y="635000"/>
                  <a:pt x="1912938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8" name="Text 44"/>
          <p:cNvSpPr/>
          <p:nvPr/>
        </p:nvSpPr>
        <p:spPr>
          <a:xfrm>
            <a:off x="357159" y="6147395"/>
            <a:ext cx="200818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时间复杂度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341284" y="6337895"/>
            <a:ext cx="2039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O(V+E)</a:t>
            </a:r>
            <a:endParaRPr lang="en-US" sz="1600" dirty="0"/>
          </a:p>
        </p:txBody>
      </p:sp>
      <p:sp>
        <p:nvSpPr>
          <p:cNvPr id="60" name="Shape 46"/>
          <p:cNvSpPr/>
          <p:nvPr/>
        </p:nvSpPr>
        <p:spPr>
          <a:xfrm>
            <a:off x="2425658" y="6052145"/>
            <a:ext cx="1944688" cy="635000"/>
          </a:xfrm>
          <a:custGeom>
            <a:avLst/>
            <a:gdLst/>
            <a:ahLst/>
            <a:cxnLst/>
            <a:rect l="l" t="t" r="r" b="b"/>
            <a:pathLst>
              <a:path w="1944688" h="635000">
                <a:moveTo>
                  <a:pt x="31750" y="0"/>
                </a:moveTo>
                <a:lnTo>
                  <a:pt x="1912938" y="0"/>
                </a:lnTo>
                <a:cubicBezTo>
                  <a:pt x="1930461" y="0"/>
                  <a:pt x="1944688" y="14227"/>
                  <a:pt x="1944688" y="31750"/>
                </a:cubicBezTo>
                <a:lnTo>
                  <a:pt x="1944688" y="603250"/>
                </a:lnTo>
                <a:cubicBezTo>
                  <a:pt x="1944688" y="620773"/>
                  <a:pt x="1930461" y="635000"/>
                  <a:pt x="1912938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1" name="Text 47"/>
          <p:cNvSpPr/>
          <p:nvPr/>
        </p:nvSpPr>
        <p:spPr>
          <a:xfrm>
            <a:off x="2393908" y="6147395"/>
            <a:ext cx="200818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空间复杂度</a:t>
            </a:r>
            <a:endParaRPr lang="en-US" sz="1600" dirty="0"/>
          </a:p>
        </p:txBody>
      </p:sp>
      <p:sp>
        <p:nvSpPr>
          <p:cNvPr id="62" name="Text 48"/>
          <p:cNvSpPr/>
          <p:nvPr/>
        </p:nvSpPr>
        <p:spPr>
          <a:xfrm>
            <a:off x="2378033" y="6337895"/>
            <a:ext cx="203993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O(V)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WORLD GENERATION PIPELINE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世界生成完整流程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81000" y="1371600"/>
            <a:ext cx="11430000" cy="3343275"/>
          </a:xfrm>
          <a:custGeom>
            <a:avLst/>
            <a:gdLst/>
            <a:ahLst/>
            <a:cxnLst/>
            <a:rect l="l" t="t" r="r" b="b"/>
            <a:pathLst>
              <a:path w="11430000" h="3343275">
                <a:moveTo>
                  <a:pt x="76193" y="0"/>
                </a:moveTo>
                <a:lnTo>
                  <a:pt x="11353807" y="0"/>
                </a:lnTo>
                <a:cubicBezTo>
                  <a:pt x="11395887" y="0"/>
                  <a:pt x="11430000" y="34113"/>
                  <a:pt x="11430000" y="76193"/>
                </a:cubicBezTo>
                <a:lnTo>
                  <a:pt x="11430000" y="3267082"/>
                </a:lnTo>
                <a:cubicBezTo>
                  <a:pt x="11430000" y="3309162"/>
                  <a:pt x="11395887" y="3343275"/>
                  <a:pt x="11353807" y="3343275"/>
                </a:cubicBezTo>
                <a:lnTo>
                  <a:pt x="76193" y="3343275"/>
                </a:lnTo>
                <a:cubicBezTo>
                  <a:pt x="34113" y="3343275"/>
                  <a:pt x="0" y="3309162"/>
                  <a:pt x="0" y="32670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5953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Text 5"/>
          <p:cNvSpPr/>
          <p:nvPr/>
        </p:nvSpPr>
        <p:spPr>
          <a:xfrm>
            <a:off x="809625" y="1562100"/>
            <a:ext cx="1090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生成流程图</a:t>
            </a:r>
            <a:endParaRPr lang="en-US" sz="1600" dirty="0"/>
          </a:p>
        </p:txBody>
      </p:sp>
      <p:sp>
        <p:nvSpPr>
          <p:cNvPr id="20" name="Shape 6"/>
          <p:cNvSpPr/>
          <p:nvPr/>
        </p:nvSpPr>
        <p:spPr>
          <a:xfrm>
            <a:off x="1135346" y="26642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1" name="Text 7"/>
          <p:cNvSpPr/>
          <p:nvPr/>
        </p:nvSpPr>
        <p:spPr>
          <a:xfrm>
            <a:off x="1078196" y="2664284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972060" y="3388184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createWorld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976823" y="3654884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创建世界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2489852" y="31405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25" name="Shape 11"/>
          <p:cNvSpPr/>
          <p:nvPr/>
        </p:nvSpPr>
        <p:spPr>
          <a:xfrm>
            <a:off x="3463273" y="26642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6" name="Text 12"/>
          <p:cNvSpPr/>
          <p:nvPr/>
        </p:nvSpPr>
        <p:spPr>
          <a:xfrm>
            <a:off x="3406123" y="2664284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3178714" y="3388184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generateRooms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3183476" y="3654884"/>
            <a:ext cx="1171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生成房间</a:t>
            </a:r>
            <a:endParaRPr lang="en-US" sz="1600" dirty="0"/>
          </a:p>
        </p:txBody>
      </p:sp>
      <p:sp>
        <p:nvSpPr>
          <p:cNvPr id="29" name="Shape 15"/>
          <p:cNvSpPr/>
          <p:nvPr/>
        </p:nvSpPr>
        <p:spPr>
          <a:xfrm>
            <a:off x="4817779" y="31405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30" name="Shape 16"/>
          <p:cNvSpPr/>
          <p:nvPr/>
        </p:nvSpPr>
        <p:spPr>
          <a:xfrm>
            <a:off x="5791200" y="26642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1" name="Text 17"/>
          <p:cNvSpPr/>
          <p:nvPr/>
        </p:nvSpPr>
        <p:spPr>
          <a:xfrm>
            <a:off x="5734050" y="2664284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5538022" y="3388184"/>
            <a:ext cx="1114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connectRooms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5542785" y="3654884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连接房间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7145706" y="31405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35" name="Shape 21"/>
          <p:cNvSpPr/>
          <p:nvPr/>
        </p:nvSpPr>
        <p:spPr>
          <a:xfrm>
            <a:off x="8119127" y="26642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6" name="Text 22"/>
          <p:cNvSpPr/>
          <p:nvPr/>
        </p:nvSpPr>
        <p:spPr>
          <a:xfrm>
            <a:off x="8061977" y="2664284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7921483" y="3388184"/>
            <a:ext cx="1009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drawCorridor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7926246" y="3654884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绘制走廊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9473633" y="31405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40" name="Shape 26"/>
          <p:cNvSpPr/>
          <p:nvPr/>
        </p:nvSpPr>
        <p:spPr>
          <a:xfrm>
            <a:off x="10447054" y="266428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1" name="Text 27"/>
          <p:cNvSpPr/>
          <p:nvPr/>
        </p:nvSpPr>
        <p:spPr>
          <a:xfrm>
            <a:off x="10389904" y="2664284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10408954" y="33881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玩家放置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10413717" y="3654884"/>
            <a:ext cx="676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开始游戏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381000" y="4890408"/>
            <a:ext cx="2743200" cy="1590675"/>
          </a:xfrm>
          <a:custGeom>
            <a:avLst/>
            <a:gdLst/>
            <a:ahLst/>
            <a:cxnLst/>
            <a:rect l="l" t="t" r="r" b="b"/>
            <a:pathLst>
              <a:path w="2743200" h="159067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514482"/>
                </a:lnTo>
                <a:cubicBezTo>
                  <a:pt x="2743200" y="1556562"/>
                  <a:pt x="2709087" y="1590675"/>
                  <a:pt x="2667007" y="1590675"/>
                </a:cubicBezTo>
                <a:lnTo>
                  <a:pt x="76193" y="1590675"/>
                </a:lnTo>
                <a:cubicBezTo>
                  <a:pt x="34113" y="1590675"/>
                  <a:pt x="0" y="1556562"/>
                  <a:pt x="0" y="15144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5" name="Shape 31"/>
          <p:cNvSpPr/>
          <p:nvPr/>
        </p:nvSpPr>
        <p:spPr>
          <a:xfrm>
            <a:off x="381000" y="489040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6" name="Shape 32"/>
          <p:cNvSpPr/>
          <p:nvPr/>
        </p:nvSpPr>
        <p:spPr>
          <a:xfrm>
            <a:off x="561975" y="509995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19050"/>
                </a:moveTo>
                <a:lnTo>
                  <a:pt x="104775" y="19050"/>
                </a:lnTo>
                <a:lnTo>
                  <a:pt x="104775" y="142875"/>
                </a:lnTo>
                <a:cubicBezTo>
                  <a:pt x="104775" y="148144"/>
                  <a:pt x="109031" y="152400"/>
                  <a:pt x="114300" y="152400"/>
                </a:cubicBezTo>
                <a:lnTo>
                  <a:pt x="123825" y="152400"/>
                </a:lnTo>
                <a:cubicBezTo>
                  <a:pt x="129094" y="152400"/>
                  <a:pt x="133350" y="148144"/>
                  <a:pt x="133350" y="142875"/>
                </a:cubicBezTo>
                <a:cubicBezTo>
                  <a:pt x="133350" y="137606"/>
                  <a:pt x="129094" y="133350"/>
                  <a:pt x="123825" y="133350"/>
                </a:cubicBezTo>
                <a:lnTo>
                  <a:pt x="123825" y="19050"/>
                </a:lnTo>
                <a:cubicBezTo>
                  <a:pt x="123825" y="8543"/>
                  <a:pt x="115282" y="0"/>
                  <a:pt x="104775" y="0"/>
                </a:cubicBezTo>
                <a:lnTo>
                  <a:pt x="76200" y="0"/>
                </a:lnTo>
                <a:lnTo>
                  <a:pt x="76200" y="0"/>
                </a:lnTo>
                <a:lnTo>
                  <a:pt x="28575" y="0"/>
                </a:ln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76200" y="152400"/>
                </a:lnTo>
                <a:cubicBezTo>
                  <a:pt x="81469" y="152400"/>
                  <a:pt x="85725" y="148144"/>
                  <a:pt x="85725" y="142875"/>
                </a:cubicBezTo>
                <a:lnTo>
                  <a:pt x="85725" y="19050"/>
                </a:lnTo>
                <a:close/>
                <a:moveTo>
                  <a:pt x="47625" y="76200"/>
                </a:moveTo>
                <a:cubicBezTo>
                  <a:pt x="47625" y="70943"/>
                  <a:pt x="51893" y="66675"/>
                  <a:pt x="57150" y="66675"/>
                </a:cubicBezTo>
                <a:cubicBezTo>
                  <a:pt x="62407" y="66675"/>
                  <a:pt x="66675" y="70943"/>
                  <a:pt x="66675" y="76200"/>
                </a:cubicBezTo>
                <a:cubicBezTo>
                  <a:pt x="66675" y="81457"/>
                  <a:pt x="62407" y="85725"/>
                  <a:pt x="57150" y="85725"/>
                </a:cubicBezTo>
                <a:cubicBezTo>
                  <a:pt x="51893" y="85725"/>
                  <a:pt x="47625" y="81457"/>
                  <a:pt x="47625" y="7620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7" name="Text 33"/>
          <p:cNvSpPr/>
          <p:nvPr/>
        </p:nvSpPr>
        <p:spPr>
          <a:xfrm>
            <a:off x="723900" y="5061858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房间生成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533400" y="53666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随机大小和位置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533400" y="55952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避免房间重叠</a:t>
            </a:r>
            <a:endParaRPr lang="en-US" sz="1600" dirty="0"/>
          </a:p>
        </p:txBody>
      </p:sp>
      <p:sp>
        <p:nvSpPr>
          <p:cNvPr id="50" name="Text 36"/>
          <p:cNvSpPr/>
          <p:nvPr/>
        </p:nvSpPr>
        <p:spPr>
          <a:xfrm>
            <a:off x="533400" y="58238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填充地图瓦片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533400" y="6093280"/>
            <a:ext cx="2438400" cy="5443"/>
          </a:xfrm>
          <a:custGeom>
            <a:avLst/>
            <a:gdLst/>
            <a:ahLst/>
            <a:cxnLst/>
            <a:rect l="l" t="t" r="r" b="b"/>
            <a:pathLst>
              <a:path w="2438400" h="5443">
                <a:moveTo>
                  <a:pt x="0" y="0"/>
                </a:moveTo>
                <a:lnTo>
                  <a:pt x="2438400" y="0"/>
                </a:lnTo>
                <a:lnTo>
                  <a:pt x="2438400" y="5443"/>
                </a:lnTo>
                <a:lnTo>
                  <a:pt x="0" y="54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52" name="Text 38"/>
          <p:cNvSpPr/>
          <p:nvPr/>
        </p:nvSpPr>
        <p:spPr>
          <a:xfrm>
            <a:off x="533400" y="6172200"/>
            <a:ext cx="2495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复杂度: </a:t>
            </a:r>
            <a:r>
              <a:rPr lang="en-US" sz="9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O(R²)</a:t>
            </a:r>
            <a:endParaRPr lang="en-US" sz="1600" dirty="0"/>
          </a:p>
        </p:txBody>
      </p:sp>
      <p:sp>
        <p:nvSpPr>
          <p:cNvPr id="53" name="Shape 39"/>
          <p:cNvSpPr/>
          <p:nvPr/>
        </p:nvSpPr>
        <p:spPr>
          <a:xfrm>
            <a:off x="3276600" y="4890408"/>
            <a:ext cx="2743200" cy="1590675"/>
          </a:xfrm>
          <a:custGeom>
            <a:avLst/>
            <a:gdLst/>
            <a:ahLst/>
            <a:cxnLst/>
            <a:rect l="l" t="t" r="r" b="b"/>
            <a:pathLst>
              <a:path w="2743200" h="159067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514482"/>
                </a:lnTo>
                <a:cubicBezTo>
                  <a:pt x="2743200" y="1556562"/>
                  <a:pt x="2709087" y="1590675"/>
                  <a:pt x="2667007" y="1590675"/>
                </a:cubicBezTo>
                <a:lnTo>
                  <a:pt x="76193" y="1590675"/>
                </a:lnTo>
                <a:cubicBezTo>
                  <a:pt x="34113" y="1590675"/>
                  <a:pt x="0" y="1556562"/>
                  <a:pt x="0" y="15144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4" name="Shape 40"/>
          <p:cNvSpPr/>
          <p:nvPr/>
        </p:nvSpPr>
        <p:spPr>
          <a:xfrm>
            <a:off x="3276600" y="489040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5" name="Shape 41"/>
          <p:cNvSpPr/>
          <p:nvPr/>
        </p:nvSpPr>
        <p:spPr>
          <a:xfrm>
            <a:off x="3438525" y="509995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6" name="Text 42"/>
          <p:cNvSpPr/>
          <p:nvPr/>
        </p:nvSpPr>
        <p:spPr>
          <a:xfrm>
            <a:off x="3619500" y="5061858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MST连接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3429000" y="53666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初始化并查集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3429000" y="55952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连接相邻房间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3429000" y="58238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添加额外连接</a:t>
            </a:r>
            <a:endParaRPr lang="en-US" sz="1600" dirty="0"/>
          </a:p>
        </p:txBody>
      </p:sp>
      <p:sp>
        <p:nvSpPr>
          <p:cNvPr id="60" name="Shape 46"/>
          <p:cNvSpPr/>
          <p:nvPr/>
        </p:nvSpPr>
        <p:spPr>
          <a:xfrm>
            <a:off x="3429000" y="6093280"/>
            <a:ext cx="2438400" cy="5443"/>
          </a:xfrm>
          <a:custGeom>
            <a:avLst/>
            <a:gdLst/>
            <a:ahLst/>
            <a:cxnLst/>
            <a:rect l="l" t="t" r="r" b="b"/>
            <a:pathLst>
              <a:path w="2438400" h="5443">
                <a:moveTo>
                  <a:pt x="0" y="0"/>
                </a:moveTo>
                <a:lnTo>
                  <a:pt x="2438400" y="0"/>
                </a:lnTo>
                <a:lnTo>
                  <a:pt x="2438400" y="5443"/>
                </a:lnTo>
                <a:lnTo>
                  <a:pt x="0" y="54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61" name="Text 47"/>
          <p:cNvSpPr/>
          <p:nvPr/>
        </p:nvSpPr>
        <p:spPr>
          <a:xfrm>
            <a:off x="3429000" y="6172200"/>
            <a:ext cx="2495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复杂度: </a:t>
            </a:r>
            <a:r>
              <a:rPr lang="en-US" sz="9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O(R²logR)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6172200" y="4890408"/>
            <a:ext cx="2743200" cy="1590675"/>
          </a:xfrm>
          <a:custGeom>
            <a:avLst/>
            <a:gdLst/>
            <a:ahLst/>
            <a:cxnLst/>
            <a:rect l="l" t="t" r="r" b="b"/>
            <a:pathLst>
              <a:path w="2743200" h="159067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514482"/>
                </a:lnTo>
                <a:cubicBezTo>
                  <a:pt x="2743200" y="1556562"/>
                  <a:pt x="2709087" y="1590675"/>
                  <a:pt x="2667007" y="1590675"/>
                </a:cubicBezTo>
                <a:lnTo>
                  <a:pt x="76193" y="1590675"/>
                </a:lnTo>
                <a:cubicBezTo>
                  <a:pt x="34113" y="1590675"/>
                  <a:pt x="0" y="1556562"/>
                  <a:pt x="0" y="15144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63" name="Shape 49"/>
          <p:cNvSpPr/>
          <p:nvPr/>
        </p:nvSpPr>
        <p:spPr>
          <a:xfrm>
            <a:off x="6172200" y="489040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4" name="Shape 50"/>
          <p:cNvSpPr/>
          <p:nvPr/>
        </p:nvSpPr>
        <p:spPr>
          <a:xfrm>
            <a:off x="6343650" y="509995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45" y="9525"/>
                </a:moveTo>
                <a:lnTo>
                  <a:pt x="43964" y="9525"/>
                </a:lnTo>
                <a:cubicBezTo>
                  <a:pt x="35213" y="9525"/>
                  <a:pt x="27563" y="15508"/>
                  <a:pt x="25479" y="23991"/>
                </a:cubicBezTo>
                <a:lnTo>
                  <a:pt x="417" y="125164"/>
                </a:lnTo>
                <a:cubicBezTo>
                  <a:pt x="-1816" y="134154"/>
                  <a:pt x="5001" y="142875"/>
                  <a:pt x="14288" y="142875"/>
                </a:cubicBezTo>
                <a:lnTo>
                  <a:pt x="66645" y="142875"/>
                </a:lnTo>
                <a:lnTo>
                  <a:pt x="66645" y="123825"/>
                </a:lnTo>
                <a:cubicBezTo>
                  <a:pt x="66645" y="118556"/>
                  <a:pt x="70902" y="114300"/>
                  <a:pt x="76170" y="114300"/>
                </a:cubicBezTo>
                <a:cubicBezTo>
                  <a:pt x="81439" y="114300"/>
                  <a:pt x="85695" y="118556"/>
                  <a:pt x="85695" y="123825"/>
                </a:cubicBezTo>
                <a:lnTo>
                  <a:pt x="85695" y="142875"/>
                </a:lnTo>
                <a:lnTo>
                  <a:pt x="138113" y="142875"/>
                </a:lnTo>
                <a:cubicBezTo>
                  <a:pt x="147399" y="142875"/>
                  <a:pt x="154216" y="134154"/>
                  <a:pt x="151983" y="125164"/>
                </a:cubicBezTo>
                <a:lnTo>
                  <a:pt x="126950" y="23991"/>
                </a:lnTo>
                <a:cubicBezTo>
                  <a:pt x="124837" y="15508"/>
                  <a:pt x="117217" y="9525"/>
                  <a:pt x="108436" y="9525"/>
                </a:cubicBezTo>
                <a:lnTo>
                  <a:pt x="85695" y="9525"/>
                </a:lnTo>
                <a:lnTo>
                  <a:pt x="85695" y="28575"/>
                </a:lnTo>
                <a:cubicBezTo>
                  <a:pt x="85695" y="33844"/>
                  <a:pt x="81439" y="38100"/>
                  <a:pt x="76170" y="38100"/>
                </a:cubicBezTo>
                <a:cubicBezTo>
                  <a:pt x="70902" y="38100"/>
                  <a:pt x="66645" y="33844"/>
                  <a:pt x="66645" y="28575"/>
                </a:cubicBezTo>
                <a:lnTo>
                  <a:pt x="66645" y="9525"/>
                </a:lnTo>
                <a:close/>
                <a:moveTo>
                  <a:pt x="85695" y="66675"/>
                </a:moveTo>
                <a:lnTo>
                  <a:pt x="85695" y="85725"/>
                </a:lnTo>
                <a:cubicBezTo>
                  <a:pt x="85695" y="90994"/>
                  <a:pt x="81439" y="95250"/>
                  <a:pt x="76170" y="95250"/>
                </a:cubicBezTo>
                <a:cubicBezTo>
                  <a:pt x="70902" y="95250"/>
                  <a:pt x="66645" y="90994"/>
                  <a:pt x="66645" y="85725"/>
                </a:cubicBezTo>
                <a:lnTo>
                  <a:pt x="66645" y="66675"/>
                </a:lnTo>
                <a:cubicBezTo>
                  <a:pt x="66645" y="61406"/>
                  <a:pt x="70902" y="57150"/>
                  <a:pt x="76170" y="57150"/>
                </a:cubicBezTo>
                <a:cubicBezTo>
                  <a:pt x="81439" y="57150"/>
                  <a:pt x="85695" y="61406"/>
                  <a:pt x="85695" y="66675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5" name="Text 51"/>
          <p:cNvSpPr/>
          <p:nvPr/>
        </p:nvSpPr>
        <p:spPr>
          <a:xfrm>
            <a:off x="6515100" y="5061858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走廊绘制</a:t>
            </a:r>
            <a:endParaRPr lang="en-US" sz="1600" dirty="0"/>
          </a:p>
        </p:txBody>
      </p:sp>
      <p:sp>
        <p:nvSpPr>
          <p:cNvPr id="66" name="Text 52"/>
          <p:cNvSpPr/>
          <p:nvPr/>
        </p:nvSpPr>
        <p:spPr>
          <a:xfrm>
            <a:off x="6324600" y="53666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L型走廊算法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6324600" y="55952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水平移动先转弯</a:t>
            </a:r>
            <a:endParaRPr lang="en-US" sz="1600" dirty="0"/>
          </a:p>
        </p:txBody>
      </p:sp>
      <p:sp>
        <p:nvSpPr>
          <p:cNvPr id="68" name="Text 54"/>
          <p:cNvSpPr/>
          <p:nvPr/>
        </p:nvSpPr>
        <p:spPr>
          <a:xfrm>
            <a:off x="6324600" y="58238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垂直移动后连接</a:t>
            </a:r>
            <a:endParaRPr lang="en-US" sz="1600" dirty="0"/>
          </a:p>
        </p:txBody>
      </p:sp>
      <p:sp>
        <p:nvSpPr>
          <p:cNvPr id="69" name="Shape 55"/>
          <p:cNvSpPr/>
          <p:nvPr/>
        </p:nvSpPr>
        <p:spPr>
          <a:xfrm>
            <a:off x="6324600" y="6093280"/>
            <a:ext cx="2438400" cy="5443"/>
          </a:xfrm>
          <a:custGeom>
            <a:avLst/>
            <a:gdLst/>
            <a:ahLst/>
            <a:cxnLst/>
            <a:rect l="l" t="t" r="r" b="b"/>
            <a:pathLst>
              <a:path w="2438400" h="5443">
                <a:moveTo>
                  <a:pt x="0" y="0"/>
                </a:moveTo>
                <a:lnTo>
                  <a:pt x="2438400" y="0"/>
                </a:lnTo>
                <a:lnTo>
                  <a:pt x="2438400" y="5443"/>
                </a:lnTo>
                <a:lnTo>
                  <a:pt x="0" y="54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70" name="Text 56"/>
          <p:cNvSpPr/>
          <p:nvPr/>
        </p:nvSpPr>
        <p:spPr>
          <a:xfrm>
            <a:off x="6324600" y="6172200"/>
            <a:ext cx="2495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复杂度: </a:t>
            </a:r>
            <a:r>
              <a:rPr lang="en-US" sz="9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O(R)</a:t>
            </a:r>
            <a:endParaRPr lang="en-US" sz="1600" dirty="0"/>
          </a:p>
        </p:txBody>
      </p:sp>
      <p:sp>
        <p:nvSpPr>
          <p:cNvPr id="71" name="Shape 57"/>
          <p:cNvSpPr/>
          <p:nvPr/>
        </p:nvSpPr>
        <p:spPr>
          <a:xfrm>
            <a:off x="9067801" y="4890408"/>
            <a:ext cx="2743200" cy="1590675"/>
          </a:xfrm>
          <a:custGeom>
            <a:avLst/>
            <a:gdLst/>
            <a:ahLst/>
            <a:cxnLst/>
            <a:rect l="l" t="t" r="r" b="b"/>
            <a:pathLst>
              <a:path w="2743200" h="1590675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1514482"/>
                </a:lnTo>
                <a:cubicBezTo>
                  <a:pt x="2743200" y="1556562"/>
                  <a:pt x="2709087" y="1590675"/>
                  <a:pt x="2667007" y="1590675"/>
                </a:cubicBezTo>
                <a:lnTo>
                  <a:pt x="76193" y="1590675"/>
                </a:lnTo>
                <a:cubicBezTo>
                  <a:pt x="34113" y="1590675"/>
                  <a:pt x="0" y="1556562"/>
                  <a:pt x="0" y="151448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72" name="Shape 58"/>
          <p:cNvSpPr/>
          <p:nvPr/>
        </p:nvSpPr>
        <p:spPr>
          <a:xfrm>
            <a:off x="9067801" y="489040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73" name="Shape 59"/>
          <p:cNvSpPr/>
          <p:nvPr/>
        </p:nvSpPr>
        <p:spPr>
          <a:xfrm>
            <a:off x="9248776" y="509995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74" name="Text 60"/>
          <p:cNvSpPr/>
          <p:nvPr/>
        </p:nvSpPr>
        <p:spPr>
          <a:xfrm>
            <a:off x="9410701" y="5061858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玩家初始化</a:t>
            </a:r>
            <a:endParaRPr lang="en-US" sz="1600" dirty="0"/>
          </a:p>
        </p:txBody>
      </p:sp>
      <p:sp>
        <p:nvSpPr>
          <p:cNvPr id="75" name="Text 61"/>
          <p:cNvSpPr/>
          <p:nvPr/>
        </p:nvSpPr>
        <p:spPr>
          <a:xfrm>
            <a:off x="9220201" y="53666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放置在第一个房间</a:t>
            </a:r>
            <a:endParaRPr lang="en-US" sz="1600" dirty="0"/>
          </a:p>
        </p:txBody>
      </p:sp>
      <p:sp>
        <p:nvSpPr>
          <p:cNvPr id="76" name="Text 62"/>
          <p:cNvSpPr/>
          <p:nvPr/>
        </p:nvSpPr>
        <p:spPr>
          <a:xfrm>
            <a:off x="9220201" y="55952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中心位置更合理</a:t>
            </a:r>
            <a:endParaRPr lang="en-US" sz="1600" dirty="0"/>
          </a:p>
        </p:txBody>
      </p:sp>
      <p:sp>
        <p:nvSpPr>
          <p:cNvPr id="77" name="Text 63"/>
          <p:cNvSpPr/>
          <p:nvPr/>
        </p:nvSpPr>
        <p:spPr>
          <a:xfrm>
            <a:off x="9220201" y="5823858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设置玩家符号'@'</a:t>
            </a:r>
            <a:endParaRPr lang="en-US" sz="1600" dirty="0"/>
          </a:p>
        </p:txBody>
      </p:sp>
      <p:sp>
        <p:nvSpPr>
          <p:cNvPr id="78" name="Shape 64"/>
          <p:cNvSpPr/>
          <p:nvPr/>
        </p:nvSpPr>
        <p:spPr>
          <a:xfrm>
            <a:off x="9220201" y="6093280"/>
            <a:ext cx="2438400" cy="5443"/>
          </a:xfrm>
          <a:custGeom>
            <a:avLst/>
            <a:gdLst/>
            <a:ahLst/>
            <a:cxnLst/>
            <a:rect l="l" t="t" r="r" b="b"/>
            <a:pathLst>
              <a:path w="2438400" h="5443">
                <a:moveTo>
                  <a:pt x="0" y="0"/>
                </a:moveTo>
                <a:lnTo>
                  <a:pt x="2438400" y="0"/>
                </a:lnTo>
                <a:lnTo>
                  <a:pt x="2438400" y="5443"/>
                </a:lnTo>
                <a:lnTo>
                  <a:pt x="0" y="5443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20000"/>
            </a:srgbClr>
          </a:solidFill>
        </p:spPr>
      </p:sp>
      <p:sp>
        <p:nvSpPr>
          <p:cNvPr id="79" name="Text 65"/>
          <p:cNvSpPr/>
          <p:nvPr/>
        </p:nvSpPr>
        <p:spPr>
          <a:xfrm>
            <a:off x="9220201" y="6172200"/>
            <a:ext cx="24955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复杂度: </a:t>
            </a:r>
            <a:r>
              <a:rPr lang="en-US" sz="9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 系统架构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INTERFACE DESIGN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接口与实现分离设计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7" name="Shape 3"/>
          <p:cNvSpPr/>
          <p:nvPr/>
        </p:nvSpPr>
        <p:spPr>
          <a:xfrm>
            <a:off x="400050" y="1371600"/>
            <a:ext cx="5410200" cy="2857500"/>
          </a:xfrm>
          <a:custGeom>
            <a:avLst/>
            <a:gdLst/>
            <a:ahLst/>
            <a:cxnLst/>
            <a:rect l="l" t="t" r="r" b="b"/>
            <a:pathLst>
              <a:path w="5410200" h="2857500">
                <a:moveTo>
                  <a:pt x="38100" y="0"/>
                </a:moveTo>
                <a:lnTo>
                  <a:pt x="5333990" y="0"/>
                </a:lnTo>
                <a:cubicBezTo>
                  <a:pt x="5376080" y="0"/>
                  <a:pt x="5410200" y="34120"/>
                  <a:pt x="5410200" y="76210"/>
                </a:cubicBezTo>
                <a:lnTo>
                  <a:pt x="5410200" y="2781290"/>
                </a:lnTo>
                <a:cubicBezTo>
                  <a:pt x="5410200" y="2823380"/>
                  <a:pt x="5376080" y="2857500"/>
                  <a:pt x="5333990" y="2857500"/>
                </a:cubicBezTo>
                <a:lnTo>
                  <a:pt x="38100" y="2857500"/>
                </a:lnTo>
                <a:cubicBezTo>
                  <a:pt x="17058" y="2857500"/>
                  <a:pt x="0" y="2840442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371600"/>
            <a:ext cx="38100" cy="2857500"/>
          </a:xfrm>
          <a:custGeom>
            <a:avLst/>
            <a:gdLst/>
            <a:ahLst/>
            <a:cxnLst/>
            <a:rect l="l" t="t" r="r" b="b"/>
            <a:pathLst>
              <a:path w="38100" h="2857500">
                <a:moveTo>
                  <a:pt x="38100" y="0"/>
                </a:moveTo>
                <a:lnTo>
                  <a:pt x="38100" y="0"/>
                </a:lnTo>
                <a:lnTo>
                  <a:pt x="38100" y="2857500"/>
                </a:lnTo>
                <a:lnTo>
                  <a:pt x="38100" y="2857500"/>
                </a:lnTo>
                <a:cubicBezTo>
                  <a:pt x="17072" y="2857500"/>
                  <a:pt x="0" y="2840428"/>
                  <a:pt x="0" y="2819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6334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847725" y="1562100"/>
            <a:ext cx="486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设计思想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609600" y="1943100"/>
            <a:ext cx="50863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接口与实现分离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是软件工程的核心设计原则,将"做什么"(接口)与"怎么做"(实现)分离,提高代码的可维护性和可扩展性。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609600" y="2552700"/>
            <a:ext cx="5010150" cy="685800"/>
          </a:xfrm>
          <a:custGeom>
            <a:avLst/>
            <a:gdLst/>
            <a:ahLst/>
            <a:cxnLst/>
            <a:rect l="l" t="t" r="r" b="b"/>
            <a:pathLst>
              <a:path w="5010150" h="685800">
                <a:moveTo>
                  <a:pt x="38103" y="0"/>
                </a:moveTo>
                <a:lnTo>
                  <a:pt x="4972047" y="0"/>
                </a:lnTo>
                <a:cubicBezTo>
                  <a:pt x="4993091" y="0"/>
                  <a:pt x="5010150" y="17059"/>
                  <a:pt x="5010150" y="38103"/>
                </a:cubicBezTo>
                <a:lnTo>
                  <a:pt x="5010150" y="647697"/>
                </a:lnTo>
                <a:cubicBezTo>
                  <a:pt x="5010150" y="668741"/>
                  <a:pt x="4993091" y="685800"/>
                  <a:pt x="49720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762000" y="2667000"/>
            <a:ext cx="4781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 (Interface)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762000" y="2933700"/>
            <a:ext cx="4772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定义"做什么" (What), 在</a:t>
            </a:r>
            <a:r>
              <a:rPr lang="en-US" sz="105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byow.h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中定义</a:t>
            </a:r>
            <a:endParaRPr lang="en-US" sz="1600" dirty="0"/>
          </a:p>
        </p:txBody>
      </p:sp>
      <p:sp>
        <p:nvSpPr>
          <p:cNvPr id="25" name="Shape 11"/>
          <p:cNvSpPr/>
          <p:nvPr/>
        </p:nvSpPr>
        <p:spPr>
          <a:xfrm>
            <a:off x="609600" y="3352800"/>
            <a:ext cx="5010150" cy="685800"/>
          </a:xfrm>
          <a:custGeom>
            <a:avLst/>
            <a:gdLst/>
            <a:ahLst/>
            <a:cxnLst/>
            <a:rect l="l" t="t" r="r" b="b"/>
            <a:pathLst>
              <a:path w="5010150" h="685800">
                <a:moveTo>
                  <a:pt x="38103" y="0"/>
                </a:moveTo>
                <a:lnTo>
                  <a:pt x="4972047" y="0"/>
                </a:lnTo>
                <a:cubicBezTo>
                  <a:pt x="4993091" y="0"/>
                  <a:pt x="5010150" y="17059"/>
                  <a:pt x="5010150" y="38103"/>
                </a:cubicBezTo>
                <a:lnTo>
                  <a:pt x="5010150" y="647697"/>
                </a:lnTo>
                <a:cubicBezTo>
                  <a:pt x="5010150" y="668741"/>
                  <a:pt x="4993091" y="685800"/>
                  <a:pt x="49720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6" name="Text 12"/>
          <p:cNvSpPr/>
          <p:nvPr/>
        </p:nvSpPr>
        <p:spPr>
          <a:xfrm>
            <a:off x="762000" y="3467100"/>
            <a:ext cx="4781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 (Implementation)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762000" y="3733800"/>
            <a:ext cx="4772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定义"怎么做" (How), 在</a:t>
            </a:r>
            <a:r>
              <a:rPr lang="en-US" sz="105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byow.c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中实现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400050" y="4381500"/>
            <a:ext cx="5410200" cy="2324100"/>
          </a:xfrm>
          <a:custGeom>
            <a:avLst/>
            <a:gdLst/>
            <a:ahLst/>
            <a:cxnLst/>
            <a:rect l="l" t="t" r="r" b="b"/>
            <a:pathLst>
              <a:path w="5410200" h="2324100">
                <a:moveTo>
                  <a:pt x="38100" y="0"/>
                </a:moveTo>
                <a:lnTo>
                  <a:pt x="5333993" y="0"/>
                </a:lnTo>
                <a:cubicBezTo>
                  <a:pt x="5376081" y="0"/>
                  <a:pt x="5410200" y="34119"/>
                  <a:pt x="5410200" y="76207"/>
                </a:cubicBezTo>
                <a:lnTo>
                  <a:pt x="5410200" y="2247893"/>
                </a:lnTo>
                <a:cubicBezTo>
                  <a:pt x="5410200" y="2289981"/>
                  <a:pt x="5376081" y="2324100"/>
                  <a:pt x="5333993" y="2324100"/>
                </a:cubicBez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9" name="Shape 15"/>
          <p:cNvSpPr/>
          <p:nvPr/>
        </p:nvSpPr>
        <p:spPr>
          <a:xfrm>
            <a:off x="400050" y="43815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3810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Shape 16"/>
          <p:cNvSpPr/>
          <p:nvPr/>
        </p:nvSpPr>
        <p:spPr>
          <a:xfrm>
            <a:off x="621506" y="4610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1" name="Text 17"/>
          <p:cNvSpPr/>
          <p:nvPr/>
        </p:nvSpPr>
        <p:spPr>
          <a:xfrm>
            <a:off x="847725" y="4572000"/>
            <a:ext cx="486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设计优点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609600" y="49911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838200" y="4953000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代码组织清晰: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接口和实现分离, 结构更明确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609600" y="5334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838200" y="5295900"/>
            <a:ext cx="2143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易于维护: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修改实现不影响接口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609600" y="56769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838200" y="5638800"/>
            <a:ext cx="2295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便于测试: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可以先定义接口再实现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609600" y="6019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838200" y="5981700"/>
            <a:ext cx="2447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隐藏实现细节: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使用者只需关心接口</a:t>
            </a:r>
            <a:endParaRPr lang="en-US" sz="1600" dirty="0"/>
          </a:p>
        </p:txBody>
      </p:sp>
      <p:sp>
        <p:nvSpPr>
          <p:cNvPr id="40" name="Shape 26"/>
          <p:cNvSpPr/>
          <p:nvPr/>
        </p:nvSpPr>
        <p:spPr>
          <a:xfrm>
            <a:off x="6000750" y="1371600"/>
            <a:ext cx="5810250" cy="5334000"/>
          </a:xfrm>
          <a:custGeom>
            <a:avLst/>
            <a:gdLst/>
            <a:ahLst/>
            <a:cxnLst/>
            <a:rect l="l" t="t" r="r" b="b"/>
            <a:pathLst>
              <a:path w="5810250" h="5334000">
                <a:moveTo>
                  <a:pt x="76223" y="0"/>
                </a:moveTo>
                <a:lnTo>
                  <a:pt x="5734027" y="0"/>
                </a:lnTo>
                <a:cubicBezTo>
                  <a:pt x="5776124" y="0"/>
                  <a:pt x="5810250" y="34126"/>
                  <a:pt x="5810250" y="76223"/>
                </a:cubicBezTo>
                <a:lnTo>
                  <a:pt x="5810250" y="5257777"/>
                </a:lnTo>
                <a:cubicBezTo>
                  <a:pt x="5810250" y="5299874"/>
                  <a:pt x="5776124" y="5334000"/>
                  <a:pt x="5734027" y="5334000"/>
                </a:cubicBezTo>
                <a:lnTo>
                  <a:pt x="76223" y="5334000"/>
                </a:lnTo>
                <a:cubicBezTo>
                  <a:pt x="34126" y="5334000"/>
                  <a:pt x="0" y="5299874"/>
                  <a:pt x="0" y="5257777"/>
                </a:cubicBezTo>
                <a:lnTo>
                  <a:pt x="0" y="76223"/>
                </a:lnTo>
                <a:cubicBezTo>
                  <a:pt x="0" y="34154"/>
                  <a:pt x="34154" y="0"/>
                  <a:pt x="76223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1" name="Shape 27"/>
          <p:cNvSpPr/>
          <p:nvPr/>
        </p:nvSpPr>
        <p:spPr>
          <a:xfrm>
            <a:off x="6203156" y="1600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2" name="Text 28"/>
          <p:cNvSpPr/>
          <p:nvPr/>
        </p:nvSpPr>
        <p:spPr>
          <a:xfrm>
            <a:off x="6429375" y="1562100"/>
            <a:ext cx="528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文件组织结构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6210300" y="1943100"/>
            <a:ext cx="5410200" cy="1447800"/>
          </a:xfrm>
          <a:custGeom>
            <a:avLst/>
            <a:gdLst/>
            <a:ahLst/>
            <a:cxnLst/>
            <a:rect l="l" t="t" r="r" b="b"/>
            <a:pathLst>
              <a:path w="5410200" h="1447800">
                <a:moveTo>
                  <a:pt x="38100" y="0"/>
                </a:moveTo>
                <a:lnTo>
                  <a:pt x="5334002" y="0"/>
                </a:lnTo>
                <a:cubicBezTo>
                  <a:pt x="5376057" y="0"/>
                  <a:pt x="5410200" y="34143"/>
                  <a:pt x="5410200" y="76198"/>
                </a:cubicBezTo>
                <a:lnTo>
                  <a:pt x="5410200" y="1371602"/>
                </a:lnTo>
                <a:cubicBezTo>
                  <a:pt x="5410200" y="1413657"/>
                  <a:pt x="5376057" y="1447800"/>
                  <a:pt x="533400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4" name="Shape 30"/>
          <p:cNvSpPr/>
          <p:nvPr/>
        </p:nvSpPr>
        <p:spPr>
          <a:xfrm>
            <a:off x="6210300" y="1943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5" name="Shape 31"/>
          <p:cNvSpPr/>
          <p:nvPr/>
        </p:nvSpPr>
        <p:spPr>
          <a:xfrm>
            <a:off x="6429375" y="2133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46" name="Text 32"/>
          <p:cNvSpPr/>
          <p:nvPr/>
        </p:nvSpPr>
        <p:spPr>
          <a:xfrm>
            <a:off x="6734176" y="2095500"/>
            <a:ext cx="647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byow.h</a:t>
            </a:r>
            <a:endParaRPr lang="en-US" sz="1600" dirty="0"/>
          </a:p>
        </p:txBody>
      </p:sp>
      <p:sp>
        <p:nvSpPr>
          <p:cNvPr id="47" name="Text 33"/>
          <p:cNvSpPr/>
          <p:nvPr/>
        </p:nvSpPr>
        <p:spPr>
          <a:xfrm>
            <a:off x="6381750" y="2438400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接口文件 - 头文件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6381750" y="27051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常量定义 (MAX_WIDTH, MAX_HEIGHT等)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6381750" y="28956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数据结构定义 (Point, Room, DisjointSet等)</a:t>
            </a:r>
            <a:endParaRPr lang="en-US" sz="1600" dirty="0"/>
          </a:p>
        </p:txBody>
      </p:sp>
      <p:sp>
        <p:nvSpPr>
          <p:cNvPr id="50" name="Text 36"/>
          <p:cNvSpPr/>
          <p:nvPr/>
        </p:nvSpPr>
        <p:spPr>
          <a:xfrm>
            <a:off x="6381750" y="30861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函数声明 (createWorld, generateRooms等)</a:t>
            </a:r>
            <a:endParaRPr lang="en-US" sz="1600" dirty="0"/>
          </a:p>
        </p:txBody>
      </p:sp>
      <p:sp>
        <p:nvSpPr>
          <p:cNvPr id="51" name="Shape 37"/>
          <p:cNvSpPr/>
          <p:nvPr/>
        </p:nvSpPr>
        <p:spPr>
          <a:xfrm>
            <a:off x="6210300" y="3505200"/>
            <a:ext cx="5410200" cy="1447800"/>
          </a:xfrm>
          <a:custGeom>
            <a:avLst/>
            <a:gdLst/>
            <a:ahLst/>
            <a:cxnLst/>
            <a:rect l="l" t="t" r="r" b="b"/>
            <a:pathLst>
              <a:path w="5410200" h="1447800">
                <a:moveTo>
                  <a:pt x="38100" y="0"/>
                </a:moveTo>
                <a:lnTo>
                  <a:pt x="5334002" y="0"/>
                </a:lnTo>
                <a:cubicBezTo>
                  <a:pt x="5376057" y="0"/>
                  <a:pt x="5410200" y="34143"/>
                  <a:pt x="5410200" y="76198"/>
                </a:cubicBezTo>
                <a:lnTo>
                  <a:pt x="5410200" y="1371602"/>
                </a:lnTo>
                <a:cubicBezTo>
                  <a:pt x="5410200" y="1413657"/>
                  <a:pt x="5376057" y="1447800"/>
                  <a:pt x="533400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2" name="Shape 38"/>
          <p:cNvSpPr/>
          <p:nvPr/>
        </p:nvSpPr>
        <p:spPr>
          <a:xfrm>
            <a:off x="6210300" y="35052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53" name="Shape 39"/>
          <p:cNvSpPr/>
          <p:nvPr/>
        </p:nvSpPr>
        <p:spPr>
          <a:xfrm>
            <a:off x="6429375" y="3695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54" name="Text 40"/>
          <p:cNvSpPr/>
          <p:nvPr/>
        </p:nvSpPr>
        <p:spPr>
          <a:xfrm>
            <a:off x="6734176" y="3657600"/>
            <a:ext cx="63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byow.c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6381750" y="4000500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 - 所有功能实现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381750" y="42672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工具函数实现 (randomInt, isOverlap等)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6381750" y="44577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数据结构操作 (findSet, unionSets等)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6381750" y="46482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世界生成算法 (generateRooms, connectRooms等)</a:t>
            </a:r>
            <a:endParaRPr lang="en-US" sz="1600" dirty="0"/>
          </a:p>
        </p:txBody>
      </p:sp>
      <p:sp>
        <p:nvSpPr>
          <p:cNvPr id="59" name="Shape 45"/>
          <p:cNvSpPr/>
          <p:nvPr/>
        </p:nvSpPr>
        <p:spPr>
          <a:xfrm>
            <a:off x="6210300" y="5067300"/>
            <a:ext cx="5410200" cy="1447800"/>
          </a:xfrm>
          <a:custGeom>
            <a:avLst/>
            <a:gdLst/>
            <a:ahLst/>
            <a:cxnLst/>
            <a:rect l="l" t="t" r="r" b="b"/>
            <a:pathLst>
              <a:path w="5410200" h="1447800">
                <a:moveTo>
                  <a:pt x="38100" y="0"/>
                </a:moveTo>
                <a:lnTo>
                  <a:pt x="5334002" y="0"/>
                </a:lnTo>
                <a:cubicBezTo>
                  <a:pt x="5376057" y="0"/>
                  <a:pt x="5410200" y="34143"/>
                  <a:pt x="5410200" y="76198"/>
                </a:cubicBezTo>
                <a:lnTo>
                  <a:pt x="5410200" y="1371602"/>
                </a:lnTo>
                <a:cubicBezTo>
                  <a:pt x="5410200" y="1413657"/>
                  <a:pt x="5376057" y="1447800"/>
                  <a:pt x="533400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0" name="Shape 46"/>
          <p:cNvSpPr/>
          <p:nvPr/>
        </p:nvSpPr>
        <p:spPr>
          <a:xfrm>
            <a:off x="6210300" y="50673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61" name="Shape 47"/>
          <p:cNvSpPr/>
          <p:nvPr/>
        </p:nvSpPr>
        <p:spPr>
          <a:xfrm>
            <a:off x="6429375" y="52578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62" name="Text 48"/>
          <p:cNvSpPr/>
          <p:nvPr/>
        </p:nvSpPr>
        <p:spPr>
          <a:xfrm>
            <a:off x="6734176" y="521970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main.c</a:t>
            </a:r>
            <a:endParaRPr lang="en-US" sz="1600" dirty="0"/>
          </a:p>
        </p:txBody>
      </p:sp>
      <p:sp>
        <p:nvSpPr>
          <p:cNvPr id="63" name="Text 49"/>
          <p:cNvSpPr/>
          <p:nvPr/>
        </p:nvSpPr>
        <p:spPr>
          <a:xfrm>
            <a:off x="6381750" y="5562600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主程序 - 游戏入口</a:t>
            </a:r>
            <a:endParaRPr lang="en-US" sz="1600" dirty="0"/>
          </a:p>
        </p:txBody>
      </p:sp>
      <p:sp>
        <p:nvSpPr>
          <p:cNvPr id="64" name="Text 50"/>
          <p:cNvSpPr/>
          <p:nvPr/>
        </p:nvSpPr>
        <p:spPr>
          <a:xfrm>
            <a:off x="6381750" y="58293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主函数入口 (main)</a:t>
            </a:r>
            <a:endParaRPr lang="en-US" sz="1600" dirty="0"/>
          </a:p>
        </p:txBody>
      </p:sp>
      <p:sp>
        <p:nvSpPr>
          <p:cNvPr id="65" name="Text 51"/>
          <p:cNvSpPr/>
          <p:nvPr/>
        </p:nvSpPr>
        <p:spPr>
          <a:xfrm>
            <a:off x="6381750" y="60198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游戏主循环</a:t>
            </a:r>
            <a:endParaRPr lang="en-US" sz="1600" dirty="0"/>
          </a:p>
        </p:txBody>
      </p:sp>
      <p:sp>
        <p:nvSpPr>
          <p:cNvPr id="66" name="Text 52"/>
          <p:cNvSpPr/>
          <p:nvPr/>
        </p:nvSpPr>
        <p:spPr>
          <a:xfrm>
            <a:off x="6381750" y="6210300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调用接口函数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STRUCTURE DEFINITIONS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核心数据结构定义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400050" y="13716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3716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616744" y="15716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790575" y="15240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Point结构</a:t>
            </a:r>
            <a:endParaRPr lang="en-US" sz="1600" dirty="0"/>
          </a:p>
        </p:txBody>
      </p:sp>
      <p:sp>
        <p:nvSpPr>
          <p:cNvPr id="21" name="Shape 7"/>
          <p:cNvSpPr/>
          <p:nvPr/>
        </p:nvSpPr>
        <p:spPr>
          <a:xfrm>
            <a:off x="571500" y="1866900"/>
            <a:ext cx="5276850" cy="1028700"/>
          </a:xfrm>
          <a:custGeom>
            <a:avLst/>
            <a:gdLst/>
            <a:ahLst/>
            <a:cxnLst/>
            <a:rect l="l" t="t" r="r" b="b"/>
            <a:pathLst>
              <a:path w="5276850" h="1028700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990597"/>
                </a:lnTo>
                <a:cubicBezTo>
                  <a:pt x="5276850" y="1011641"/>
                  <a:pt x="5259791" y="1028700"/>
                  <a:pt x="523874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2" name="Text 8"/>
          <p:cNvSpPr/>
          <p:nvPr/>
        </p:nvSpPr>
        <p:spPr>
          <a:xfrm>
            <a:off x="685800" y="1981200"/>
            <a:ext cx="5114925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x;  // X坐标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y;  // Y坐标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Point;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571500" y="29718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表示地图上的坐标点,用于房间位置、玩家位置等。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400050" y="40005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5" name="Shape 11"/>
          <p:cNvSpPr/>
          <p:nvPr/>
        </p:nvSpPr>
        <p:spPr>
          <a:xfrm>
            <a:off x="40005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6" name="Shape 12"/>
          <p:cNvSpPr/>
          <p:nvPr/>
        </p:nvSpPr>
        <p:spPr>
          <a:xfrm>
            <a:off x="606028" y="42005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7" name="Text 13"/>
          <p:cNvSpPr/>
          <p:nvPr/>
        </p:nvSpPr>
        <p:spPr>
          <a:xfrm>
            <a:off x="790575" y="41529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Room结构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571500" y="4495800"/>
            <a:ext cx="5276850" cy="1428750"/>
          </a:xfrm>
          <a:custGeom>
            <a:avLst/>
            <a:gdLst/>
            <a:ahLst/>
            <a:cxnLst/>
            <a:rect l="l" t="t" r="r" b="b"/>
            <a:pathLst>
              <a:path w="5276850" h="1428750">
                <a:moveTo>
                  <a:pt x="38105" y="0"/>
                </a:moveTo>
                <a:lnTo>
                  <a:pt x="5238745" y="0"/>
                </a:lnTo>
                <a:cubicBezTo>
                  <a:pt x="5259790" y="0"/>
                  <a:pt x="5276850" y="17060"/>
                  <a:pt x="5276850" y="38105"/>
                </a:cubicBezTo>
                <a:lnTo>
                  <a:pt x="5276850" y="1390645"/>
                </a:lnTo>
                <a:cubicBezTo>
                  <a:pt x="5276850" y="1411690"/>
                  <a:pt x="5259790" y="1428750"/>
                  <a:pt x="5238745" y="1428750"/>
                </a:cubicBezTo>
                <a:lnTo>
                  <a:pt x="38105" y="1428750"/>
                </a:lnTo>
                <a:cubicBezTo>
                  <a:pt x="17060" y="1428750"/>
                  <a:pt x="0" y="1411690"/>
                  <a:pt x="0" y="1390645"/>
                </a:cubicBezTo>
                <a:lnTo>
                  <a:pt x="0" y="38105"/>
                </a:lnTo>
                <a:cubicBezTo>
                  <a:pt x="0" y="17074"/>
                  <a:pt x="17074" y="0"/>
                  <a:pt x="38105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9" name="Text 15"/>
          <p:cNvSpPr/>
          <p:nvPr/>
        </p:nvSpPr>
        <p:spPr>
          <a:xfrm>
            <a:off x="685800" y="4610100"/>
            <a:ext cx="5114925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id;         // 房间ID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x, y;       // 左上角坐标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w, h;       // 宽度和高度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Point center;   // 中心点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Room;</a:t>
            </a:r>
            <a:endParaRPr lang="en-US" sz="1600" dirty="0"/>
          </a:p>
        </p:txBody>
      </p:sp>
      <p:sp>
        <p:nvSpPr>
          <p:cNvPr id="30" name="Text 16"/>
          <p:cNvSpPr/>
          <p:nvPr/>
        </p:nvSpPr>
        <p:spPr>
          <a:xfrm>
            <a:off x="571500" y="600075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表示一个房间,包含位置、大小和中心点信息。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6210300" y="1371600"/>
            <a:ext cx="5600700" cy="2409825"/>
          </a:xfrm>
          <a:custGeom>
            <a:avLst/>
            <a:gdLst/>
            <a:ahLst/>
            <a:cxnLst/>
            <a:rect l="l" t="t" r="r" b="b"/>
            <a:pathLst>
              <a:path w="5600700" h="2409825">
                <a:moveTo>
                  <a:pt x="38100" y="0"/>
                </a:moveTo>
                <a:lnTo>
                  <a:pt x="5524501" y="0"/>
                </a:lnTo>
                <a:cubicBezTo>
                  <a:pt x="5566585" y="0"/>
                  <a:pt x="5600700" y="34115"/>
                  <a:pt x="5600700" y="76199"/>
                </a:cubicBezTo>
                <a:lnTo>
                  <a:pt x="5600700" y="2333626"/>
                </a:lnTo>
                <a:cubicBezTo>
                  <a:pt x="5600700" y="2375710"/>
                  <a:pt x="5566585" y="2409825"/>
                  <a:pt x="5524501" y="2409825"/>
                </a:cubicBezTo>
                <a:lnTo>
                  <a:pt x="38100" y="2409825"/>
                </a:lnTo>
                <a:cubicBezTo>
                  <a:pt x="17058" y="2409825"/>
                  <a:pt x="0" y="2392767"/>
                  <a:pt x="0" y="2371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2" name="Shape 18"/>
          <p:cNvSpPr/>
          <p:nvPr/>
        </p:nvSpPr>
        <p:spPr>
          <a:xfrm>
            <a:off x="6210300" y="1371600"/>
            <a:ext cx="38100" cy="2409825"/>
          </a:xfrm>
          <a:custGeom>
            <a:avLst/>
            <a:gdLst/>
            <a:ahLst/>
            <a:cxnLst/>
            <a:rect l="l" t="t" r="r" b="b"/>
            <a:pathLst>
              <a:path w="38100" h="2409825">
                <a:moveTo>
                  <a:pt x="38100" y="0"/>
                </a:moveTo>
                <a:lnTo>
                  <a:pt x="38100" y="0"/>
                </a:lnTo>
                <a:lnTo>
                  <a:pt x="38100" y="2409825"/>
                </a:lnTo>
                <a:lnTo>
                  <a:pt x="38100" y="2409825"/>
                </a:lnTo>
                <a:cubicBezTo>
                  <a:pt x="17072" y="2409825"/>
                  <a:pt x="0" y="2392753"/>
                  <a:pt x="0" y="2371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3" name="Shape 19"/>
          <p:cNvSpPr/>
          <p:nvPr/>
        </p:nvSpPr>
        <p:spPr>
          <a:xfrm>
            <a:off x="6405563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34" name="Text 20"/>
          <p:cNvSpPr/>
          <p:nvPr/>
        </p:nvSpPr>
        <p:spPr>
          <a:xfrm>
            <a:off x="6600825" y="1524000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DisjointSet结构</a:t>
            </a:r>
            <a:endParaRPr lang="en-US" sz="1600" dirty="0"/>
          </a:p>
        </p:txBody>
      </p:sp>
      <p:sp>
        <p:nvSpPr>
          <p:cNvPr id="35" name="Shape 21"/>
          <p:cNvSpPr/>
          <p:nvPr/>
        </p:nvSpPr>
        <p:spPr>
          <a:xfrm>
            <a:off x="6381750" y="1866900"/>
            <a:ext cx="5276850" cy="1228725"/>
          </a:xfrm>
          <a:custGeom>
            <a:avLst/>
            <a:gdLst/>
            <a:ahLst/>
            <a:cxnLst/>
            <a:rect l="l" t="t" r="r" b="b"/>
            <a:pathLst>
              <a:path w="5276850" h="1228725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1190622"/>
                </a:lnTo>
                <a:cubicBezTo>
                  <a:pt x="5276850" y="1211666"/>
                  <a:pt x="5259791" y="1228725"/>
                  <a:pt x="5238747" y="1228725"/>
                </a:cubicBezTo>
                <a:lnTo>
                  <a:pt x="38103" y="1228725"/>
                </a:lnTo>
                <a:cubicBezTo>
                  <a:pt x="17059" y="1228725"/>
                  <a:pt x="0" y="1211666"/>
                  <a:pt x="0" y="1190622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6" name="Text 22"/>
          <p:cNvSpPr/>
          <p:nvPr/>
        </p:nvSpPr>
        <p:spPr>
          <a:xfrm>
            <a:off x="6496050" y="1981200"/>
            <a:ext cx="5114925" cy="1000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parent[MAX_ROOMS];  // 父节点数组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rank[MAX_ROOMS];    // 秩数组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count;              // 集合数量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DisjointSet;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6381750" y="3171825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并查集结构,用于高效管理连通性,支持路径压缩和按秩合并。</a:t>
            </a:r>
            <a:endParaRPr lang="en-US" sz="1600" dirty="0"/>
          </a:p>
        </p:txBody>
      </p:sp>
      <p:sp>
        <p:nvSpPr>
          <p:cNvPr id="38" name="Shape 24"/>
          <p:cNvSpPr/>
          <p:nvPr/>
        </p:nvSpPr>
        <p:spPr>
          <a:xfrm>
            <a:off x="6210300" y="3933825"/>
            <a:ext cx="5600700" cy="2543175"/>
          </a:xfrm>
          <a:custGeom>
            <a:avLst/>
            <a:gdLst/>
            <a:ahLst/>
            <a:cxnLst/>
            <a:rect l="l" t="t" r="r" b="b"/>
            <a:pathLst>
              <a:path w="5600700" h="2543175">
                <a:moveTo>
                  <a:pt x="38100" y="0"/>
                </a:moveTo>
                <a:lnTo>
                  <a:pt x="5524506" y="0"/>
                </a:lnTo>
                <a:cubicBezTo>
                  <a:pt x="5566587" y="0"/>
                  <a:pt x="5600700" y="34113"/>
                  <a:pt x="5600700" y="76194"/>
                </a:cubicBezTo>
                <a:lnTo>
                  <a:pt x="5600700" y="2466981"/>
                </a:lnTo>
                <a:cubicBezTo>
                  <a:pt x="5600700" y="2509062"/>
                  <a:pt x="5566587" y="2543175"/>
                  <a:pt x="5524506" y="2543175"/>
                </a:cubicBezTo>
                <a:lnTo>
                  <a:pt x="38100" y="2543175"/>
                </a:lnTo>
                <a:cubicBezTo>
                  <a:pt x="17072" y="2543175"/>
                  <a:pt x="0" y="2526103"/>
                  <a:pt x="0" y="2505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9" name="Shape 25"/>
          <p:cNvSpPr/>
          <p:nvPr/>
        </p:nvSpPr>
        <p:spPr>
          <a:xfrm>
            <a:off x="6210300" y="3933825"/>
            <a:ext cx="38100" cy="2543175"/>
          </a:xfrm>
          <a:custGeom>
            <a:avLst/>
            <a:gdLst/>
            <a:ahLst/>
            <a:cxnLst/>
            <a:rect l="l" t="t" r="r" b="b"/>
            <a:pathLst>
              <a:path w="38100" h="2543175">
                <a:moveTo>
                  <a:pt x="38100" y="0"/>
                </a:moveTo>
                <a:lnTo>
                  <a:pt x="38100" y="0"/>
                </a:lnTo>
                <a:lnTo>
                  <a:pt x="38100" y="2543175"/>
                </a:lnTo>
                <a:lnTo>
                  <a:pt x="38100" y="2543175"/>
                </a:lnTo>
                <a:cubicBezTo>
                  <a:pt x="17072" y="2543175"/>
                  <a:pt x="0" y="2526103"/>
                  <a:pt x="0" y="2505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0" name="Shape 26"/>
          <p:cNvSpPr/>
          <p:nvPr/>
        </p:nvSpPr>
        <p:spPr>
          <a:xfrm>
            <a:off x="6405563" y="4133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41" name="Text 27"/>
          <p:cNvSpPr/>
          <p:nvPr/>
        </p:nvSpPr>
        <p:spPr>
          <a:xfrm>
            <a:off x="6600825" y="4086225"/>
            <a:ext cx="514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World结构</a:t>
            </a:r>
            <a:endParaRPr lang="en-US" sz="1600" dirty="0"/>
          </a:p>
        </p:txBody>
      </p:sp>
      <p:sp>
        <p:nvSpPr>
          <p:cNvPr id="42" name="Shape 28"/>
          <p:cNvSpPr/>
          <p:nvPr/>
        </p:nvSpPr>
        <p:spPr>
          <a:xfrm>
            <a:off x="6381750" y="4429125"/>
            <a:ext cx="5276850" cy="1628775"/>
          </a:xfrm>
          <a:custGeom>
            <a:avLst/>
            <a:gdLst/>
            <a:ahLst/>
            <a:cxnLst/>
            <a:rect l="l" t="t" r="r" b="b"/>
            <a:pathLst>
              <a:path w="5276850" h="1628775">
                <a:moveTo>
                  <a:pt x="38097" y="0"/>
                </a:moveTo>
                <a:lnTo>
                  <a:pt x="5238753" y="0"/>
                </a:lnTo>
                <a:cubicBezTo>
                  <a:pt x="5259793" y="0"/>
                  <a:pt x="5276850" y="17057"/>
                  <a:pt x="5276850" y="38097"/>
                </a:cubicBezTo>
                <a:lnTo>
                  <a:pt x="5276850" y="1590678"/>
                </a:lnTo>
                <a:cubicBezTo>
                  <a:pt x="5276850" y="1611718"/>
                  <a:pt x="5259793" y="1628775"/>
                  <a:pt x="5238753" y="1628775"/>
                </a:cubicBezTo>
                <a:lnTo>
                  <a:pt x="38097" y="1628775"/>
                </a:lnTo>
                <a:cubicBezTo>
                  <a:pt x="17057" y="1628775"/>
                  <a:pt x="0" y="1611718"/>
                  <a:pt x="0" y="159067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3" name="Text 29"/>
          <p:cNvSpPr/>
          <p:nvPr/>
        </p:nvSpPr>
        <p:spPr>
          <a:xfrm>
            <a:off x="6496050" y="4543425"/>
            <a:ext cx="5114925" cy="140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typedef struct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char tiles[MAX_HEIGHT][MAX_WIDTH]; // 地图瓦片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Room rooms[MAX_ROOMS];             // 房间数组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roomCount;                     // 当前房间数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Point playerPos;                   // 玩家位置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long seed;                         // 随机种子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 World;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6381750" y="6134100"/>
            <a:ext cx="534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整个世界的数据结构,包含地图、房间、玩家位置和种子信息。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 功能展示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WORLD GENERATION DEMO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世界生成效果展示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381000" y="1371600"/>
            <a:ext cx="5619750" cy="5105400"/>
          </a:xfrm>
          <a:custGeom>
            <a:avLst/>
            <a:gdLst/>
            <a:ahLst/>
            <a:cxnLst/>
            <a:rect l="l" t="t" r="r" b="b"/>
            <a:pathLst>
              <a:path w="5619750" h="5105400">
                <a:moveTo>
                  <a:pt x="76224" y="0"/>
                </a:moveTo>
                <a:lnTo>
                  <a:pt x="5543526" y="0"/>
                </a:lnTo>
                <a:cubicBezTo>
                  <a:pt x="5585624" y="0"/>
                  <a:pt x="5619750" y="34126"/>
                  <a:pt x="5619750" y="76224"/>
                </a:cubicBezTo>
                <a:lnTo>
                  <a:pt x="5619750" y="5029176"/>
                </a:lnTo>
                <a:cubicBezTo>
                  <a:pt x="5619750" y="5071274"/>
                  <a:pt x="5585624" y="5105400"/>
                  <a:pt x="5543526" y="5105400"/>
                </a:cubicBezTo>
                <a:lnTo>
                  <a:pt x="76224" y="5105400"/>
                </a:lnTo>
                <a:cubicBezTo>
                  <a:pt x="34126" y="5105400"/>
                  <a:pt x="0" y="5071274"/>
                  <a:pt x="0" y="5029176"/>
                </a:cubicBezTo>
                <a:lnTo>
                  <a:pt x="0" y="76224"/>
                </a:lnTo>
                <a:cubicBezTo>
                  <a:pt x="0" y="34155"/>
                  <a:pt x="34155" y="0"/>
                  <a:pt x="76224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5953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Text 5"/>
          <p:cNvSpPr/>
          <p:nvPr/>
        </p:nvSpPr>
        <p:spPr>
          <a:xfrm>
            <a:off x="809625" y="1562100"/>
            <a:ext cx="509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地图渲染示例</a:t>
            </a:r>
            <a:endParaRPr lang="en-US" sz="1600" dirty="0"/>
          </a:p>
        </p:txBody>
      </p:sp>
      <p:sp>
        <p:nvSpPr>
          <p:cNvPr id="20" name="Shape 6"/>
          <p:cNvSpPr/>
          <p:nvPr/>
        </p:nvSpPr>
        <p:spPr>
          <a:xfrm>
            <a:off x="571500" y="1943100"/>
            <a:ext cx="5238750" cy="4038600"/>
          </a:xfrm>
          <a:custGeom>
            <a:avLst/>
            <a:gdLst/>
            <a:ahLst/>
            <a:cxnLst/>
            <a:rect l="l" t="t" r="r" b="b"/>
            <a:pathLst>
              <a:path w="5238750" h="4038600">
                <a:moveTo>
                  <a:pt x="76208" y="0"/>
                </a:moveTo>
                <a:lnTo>
                  <a:pt x="5162542" y="0"/>
                </a:lnTo>
                <a:cubicBezTo>
                  <a:pt x="5204630" y="0"/>
                  <a:pt x="5238750" y="34120"/>
                  <a:pt x="5238750" y="76208"/>
                </a:cubicBezTo>
                <a:lnTo>
                  <a:pt x="5238750" y="3962392"/>
                </a:lnTo>
                <a:cubicBezTo>
                  <a:pt x="5238750" y="4004480"/>
                  <a:pt x="5204630" y="4038600"/>
                  <a:pt x="5162542" y="4038600"/>
                </a:cubicBezTo>
                <a:lnTo>
                  <a:pt x="76208" y="4038600"/>
                </a:lnTo>
                <a:cubicBezTo>
                  <a:pt x="34120" y="4038600"/>
                  <a:pt x="0" y="4004480"/>
                  <a:pt x="0" y="39623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1" name="Text 7"/>
          <p:cNvSpPr/>
          <p:nvPr/>
        </p:nvSpPr>
        <p:spPr>
          <a:xfrm>
            <a:off x="723900" y="209550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BYOW - Seed: 12345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723900" y="228600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Controls: W(Up) A(Left) S(Down) D(Right) Q(Quit)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723900" y="255270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----------------------------------------------------------------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723900" y="2759534"/>
            <a:ext cx="140069" cy="1578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870687" y="2759534"/>
            <a:ext cx="1826334" cy="1578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{{ getTileChar(x, y) }}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2630346" y="2759534"/>
            <a:ext cx="140069" cy="1578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723900" y="293370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----------------------------------------------------------------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571500" y="60960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#</a:t>
            </a:r>
            <a:endParaRPr lang="en-US" sz="1600" dirty="0"/>
          </a:p>
        </p:txBody>
      </p:sp>
      <p:sp>
        <p:nvSpPr>
          <p:cNvPr id="29" name="Text 15"/>
          <p:cNvSpPr/>
          <p:nvPr/>
        </p:nvSpPr>
        <p:spPr>
          <a:xfrm>
            <a:off x="721094" y="6096000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墙壁</a:t>
            </a:r>
            <a:endParaRPr lang="en-US" sz="1600" dirty="0"/>
          </a:p>
        </p:txBody>
      </p:sp>
      <p:sp>
        <p:nvSpPr>
          <p:cNvPr id="30" name="Text 16"/>
          <p:cNvSpPr/>
          <p:nvPr/>
        </p:nvSpPr>
        <p:spPr>
          <a:xfrm>
            <a:off x="2343150" y="60960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Text 17"/>
          <p:cNvSpPr/>
          <p:nvPr/>
        </p:nvSpPr>
        <p:spPr>
          <a:xfrm>
            <a:off x="2492744" y="6096000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地板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4114800" y="60960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@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4264394" y="6096000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6210300" y="1371600"/>
            <a:ext cx="5600700" cy="2514600"/>
          </a:xfrm>
          <a:custGeom>
            <a:avLst/>
            <a:gdLst/>
            <a:ahLst/>
            <a:cxnLst/>
            <a:rect l="l" t="t" r="r" b="b"/>
            <a:pathLst>
              <a:path w="5600700" h="2514600">
                <a:moveTo>
                  <a:pt x="38100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438408"/>
                </a:lnTo>
                <a:cubicBezTo>
                  <a:pt x="5600700" y="2480488"/>
                  <a:pt x="5566588" y="2514600"/>
                  <a:pt x="552450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5" name="Shape 21"/>
          <p:cNvSpPr/>
          <p:nvPr/>
        </p:nvSpPr>
        <p:spPr>
          <a:xfrm>
            <a:off x="6210300" y="13716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6" name="Shape 22"/>
          <p:cNvSpPr/>
          <p:nvPr/>
        </p:nvSpPr>
        <p:spPr>
          <a:xfrm>
            <a:off x="644366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7" name="Text 23"/>
          <p:cNvSpPr/>
          <p:nvPr/>
        </p:nvSpPr>
        <p:spPr>
          <a:xfrm>
            <a:off x="6657975" y="15621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生成参数</a:t>
            </a:r>
            <a:endParaRPr lang="en-US" sz="1600" dirty="0"/>
          </a:p>
        </p:txBody>
      </p:sp>
      <p:sp>
        <p:nvSpPr>
          <p:cNvPr id="38" name="Shape 24"/>
          <p:cNvSpPr/>
          <p:nvPr/>
        </p:nvSpPr>
        <p:spPr>
          <a:xfrm>
            <a:off x="6419850" y="1943100"/>
            <a:ext cx="5200650" cy="381000"/>
          </a:xfrm>
          <a:custGeom>
            <a:avLst/>
            <a:gdLst/>
            <a:ahLst/>
            <a:cxnLst/>
            <a:rect l="l" t="t" r="r" b="b"/>
            <a:pathLst>
              <a:path w="5200650" h="3810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342900"/>
                </a:lnTo>
                <a:cubicBezTo>
                  <a:pt x="5200650" y="363928"/>
                  <a:pt x="5183578" y="381000"/>
                  <a:pt x="51625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9" name="Text 25"/>
          <p:cNvSpPr/>
          <p:nvPr/>
        </p:nvSpPr>
        <p:spPr>
          <a:xfrm>
            <a:off x="6534151" y="2030183"/>
            <a:ext cx="7227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地图尺寸:</a:t>
            </a:r>
            <a:endParaRPr lang="en-US" sz="1600" dirty="0"/>
          </a:p>
        </p:txBody>
      </p:sp>
      <p:sp>
        <p:nvSpPr>
          <p:cNvPr id="40" name="Text 26"/>
          <p:cNvSpPr/>
          <p:nvPr/>
        </p:nvSpPr>
        <p:spPr>
          <a:xfrm>
            <a:off x="7300913" y="2030183"/>
            <a:ext cx="623207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80 × 25</a:t>
            </a:r>
            <a:endParaRPr lang="en-US" sz="1600" dirty="0"/>
          </a:p>
        </p:txBody>
      </p:sp>
      <p:sp>
        <p:nvSpPr>
          <p:cNvPr id="41" name="Shape 27"/>
          <p:cNvSpPr/>
          <p:nvPr/>
        </p:nvSpPr>
        <p:spPr>
          <a:xfrm>
            <a:off x="6419850" y="2400300"/>
            <a:ext cx="5200650" cy="381000"/>
          </a:xfrm>
          <a:custGeom>
            <a:avLst/>
            <a:gdLst/>
            <a:ahLst/>
            <a:cxnLst/>
            <a:rect l="l" t="t" r="r" b="b"/>
            <a:pathLst>
              <a:path w="5200650" h="3810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342900"/>
                </a:lnTo>
                <a:cubicBezTo>
                  <a:pt x="5200650" y="363928"/>
                  <a:pt x="5183578" y="381000"/>
                  <a:pt x="51625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2" name="Text 28"/>
          <p:cNvSpPr/>
          <p:nvPr/>
        </p:nvSpPr>
        <p:spPr>
          <a:xfrm>
            <a:off x="6534151" y="2487383"/>
            <a:ext cx="8751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最大房间数: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7453313" y="2487383"/>
            <a:ext cx="257430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</a:t>
            </a:r>
            <a:endParaRPr lang="en-US" sz="1600" dirty="0"/>
          </a:p>
        </p:txBody>
      </p:sp>
      <p:sp>
        <p:nvSpPr>
          <p:cNvPr id="44" name="Shape 30"/>
          <p:cNvSpPr/>
          <p:nvPr/>
        </p:nvSpPr>
        <p:spPr>
          <a:xfrm>
            <a:off x="6419850" y="2857500"/>
            <a:ext cx="5200650" cy="381000"/>
          </a:xfrm>
          <a:custGeom>
            <a:avLst/>
            <a:gdLst/>
            <a:ahLst/>
            <a:cxnLst/>
            <a:rect l="l" t="t" r="r" b="b"/>
            <a:pathLst>
              <a:path w="5200650" h="3810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342900"/>
                </a:lnTo>
                <a:cubicBezTo>
                  <a:pt x="5200650" y="363928"/>
                  <a:pt x="5183578" y="381000"/>
                  <a:pt x="51625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5" name="Text 31"/>
          <p:cNvSpPr/>
          <p:nvPr/>
        </p:nvSpPr>
        <p:spPr>
          <a:xfrm>
            <a:off x="6534151" y="2944583"/>
            <a:ext cx="7227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房间尺寸: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7300913" y="2944583"/>
            <a:ext cx="85588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4×4 ~ 10×8</a:t>
            </a:r>
            <a:endParaRPr lang="en-US" sz="1600" dirty="0"/>
          </a:p>
        </p:txBody>
      </p:sp>
      <p:sp>
        <p:nvSpPr>
          <p:cNvPr id="47" name="Shape 33"/>
          <p:cNvSpPr/>
          <p:nvPr/>
        </p:nvSpPr>
        <p:spPr>
          <a:xfrm>
            <a:off x="6419850" y="3314700"/>
            <a:ext cx="5200650" cy="381000"/>
          </a:xfrm>
          <a:custGeom>
            <a:avLst/>
            <a:gdLst/>
            <a:ahLst/>
            <a:cxnLst/>
            <a:rect l="l" t="t" r="r" b="b"/>
            <a:pathLst>
              <a:path w="5200650" h="3810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342900"/>
                </a:lnTo>
                <a:cubicBezTo>
                  <a:pt x="5200650" y="363928"/>
                  <a:pt x="5183578" y="381000"/>
                  <a:pt x="51625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8" name="Text 34"/>
          <p:cNvSpPr/>
          <p:nvPr/>
        </p:nvSpPr>
        <p:spPr>
          <a:xfrm>
            <a:off x="6534151" y="3401783"/>
            <a:ext cx="72270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随机算法: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7300913" y="3401783"/>
            <a:ext cx="379639" cy="2013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6210300" y="4038600"/>
            <a:ext cx="5600700" cy="2438400"/>
          </a:xfrm>
          <a:custGeom>
            <a:avLst/>
            <a:gdLst/>
            <a:ahLst/>
            <a:cxnLst/>
            <a:rect l="l" t="t" r="r" b="b"/>
            <a:pathLst>
              <a:path w="5600700" h="2438400">
                <a:moveTo>
                  <a:pt x="381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2362200"/>
                </a:lnTo>
                <a:cubicBezTo>
                  <a:pt x="5600700" y="2404256"/>
                  <a:pt x="5566556" y="2438400"/>
                  <a:pt x="552450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1" name="Shape 37"/>
          <p:cNvSpPr/>
          <p:nvPr/>
        </p:nvSpPr>
        <p:spPr>
          <a:xfrm>
            <a:off x="6210300" y="40386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2" name="Shape 38"/>
          <p:cNvSpPr/>
          <p:nvPr/>
        </p:nvSpPr>
        <p:spPr>
          <a:xfrm>
            <a:off x="6443663" y="426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3" name="Text 39"/>
          <p:cNvSpPr/>
          <p:nvPr/>
        </p:nvSpPr>
        <p:spPr>
          <a:xfrm>
            <a:off x="6657975" y="42291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统计数据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6419850" y="461010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38099" y="0"/>
                </a:moveTo>
                <a:lnTo>
                  <a:pt x="2505076" y="0"/>
                </a:lnTo>
                <a:cubicBezTo>
                  <a:pt x="2526103" y="0"/>
                  <a:pt x="2543175" y="17072"/>
                  <a:pt x="2543175" y="38099"/>
                </a:cubicBezTo>
                <a:lnTo>
                  <a:pt x="2543175" y="685801"/>
                </a:lnTo>
                <a:cubicBezTo>
                  <a:pt x="2543175" y="706828"/>
                  <a:pt x="2526103" y="723900"/>
                  <a:pt x="25050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5" name="Text 41"/>
          <p:cNvSpPr/>
          <p:nvPr/>
        </p:nvSpPr>
        <p:spPr>
          <a:xfrm>
            <a:off x="6362700" y="47244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386513" y="502920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实际房间数</a:t>
            </a:r>
            <a:endParaRPr lang="en-US" sz="1600" dirty="0"/>
          </a:p>
        </p:txBody>
      </p:sp>
      <p:sp>
        <p:nvSpPr>
          <p:cNvPr id="57" name="Shape 43"/>
          <p:cNvSpPr/>
          <p:nvPr/>
        </p:nvSpPr>
        <p:spPr>
          <a:xfrm>
            <a:off x="9077326" y="461010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38099" y="0"/>
                </a:moveTo>
                <a:lnTo>
                  <a:pt x="2505076" y="0"/>
                </a:lnTo>
                <a:cubicBezTo>
                  <a:pt x="2526103" y="0"/>
                  <a:pt x="2543175" y="17072"/>
                  <a:pt x="2543175" y="38099"/>
                </a:cubicBezTo>
                <a:lnTo>
                  <a:pt x="2543175" y="685801"/>
                </a:lnTo>
                <a:cubicBezTo>
                  <a:pt x="2543175" y="706828"/>
                  <a:pt x="2526103" y="723900"/>
                  <a:pt x="25050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8" name="Text 44"/>
          <p:cNvSpPr/>
          <p:nvPr/>
        </p:nvSpPr>
        <p:spPr>
          <a:xfrm>
            <a:off x="9020176" y="47244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14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9043988" y="502920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走廊数量</a:t>
            </a:r>
            <a:endParaRPr lang="en-US" sz="1600" dirty="0"/>
          </a:p>
        </p:txBody>
      </p:sp>
      <p:sp>
        <p:nvSpPr>
          <p:cNvPr id="60" name="Shape 46"/>
          <p:cNvSpPr/>
          <p:nvPr/>
        </p:nvSpPr>
        <p:spPr>
          <a:xfrm>
            <a:off x="6419850" y="544830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38099" y="0"/>
                </a:moveTo>
                <a:lnTo>
                  <a:pt x="2505076" y="0"/>
                </a:lnTo>
                <a:cubicBezTo>
                  <a:pt x="2526103" y="0"/>
                  <a:pt x="2543175" y="17072"/>
                  <a:pt x="2543175" y="38099"/>
                </a:cubicBezTo>
                <a:lnTo>
                  <a:pt x="2543175" y="685801"/>
                </a:lnTo>
                <a:cubicBezTo>
                  <a:pt x="2543175" y="706828"/>
                  <a:pt x="2526103" y="723900"/>
                  <a:pt x="25050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1" name="Text 47"/>
          <p:cNvSpPr/>
          <p:nvPr/>
        </p:nvSpPr>
        <p:spPr>
          <a:xfrm>
            <a:off x="6362700" y="55626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2" name="Text 48"/>
          <p:cNvSpPr/>
          <p:nvPr/>
        </p:nvSpPr>
        <p:spPr>
          <a:xfrm>
            <a:off x="6386513" y="586740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连通性</a:t>
            </a:r>
            <a:endParaRPr lang="en-US" sz="1600" dirty="0"/>
          </a:p>
        </p:txBody>
      </p:sp>
      <p:sp>
        <p:nvSpPr>
          <p:cNvPr id="63" name="Shape 49"/>
          <p:cNvSpPr/>
          <p:nvPr/>
        </p:nvSpPr>
        <p:spPr>
          <a:xfrm>
            <a:off x="9077326" y="5448300"/>
            <a:ext cx="2543175" cy="723900"/>
          </a:xfrm>
          <a:custGeom>
            <a:avLst/>
            <a:gdLst/>
            <a:ahLst/>
            <a:cxnLst/>
            <a:rect l="l" t="t" r="r" b="b"/>
            <a:pathLst>
              <a:path w="2543175" h="723900">
                <a:moveTo>
                  <a:pt x="38099" y="0"/>
                </a:moveTo>
                <a:lnTo>
                  <a:pt x="2505076" y="0"/>
                </a:lnTo>
                <a:cubicBezTo>
                  <a:pt x="2526103" y="0"/>
                  <a:pt x="2543175" y="17072"/>
                  <a:pt x="2543175" y="38099"/>
                </a:cubicBezTo>
                <a:lnTo>
                  <a:pt x="2543175" y="685801"/>
                </a:lnTo>
                <a:cubicBezTo>
                  <a:pt x="2543175" y="706828"/>
                  <a:pt x="2526103" y="723900"/>
                  <a:pt x="2505076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4" name="Text 50"/>
          <p:cNvSpPr/>
          <p:nvPr/>
        </p:nvSpPr>
        <p:spPr>
          <a:xfrm>
            <a:off x="9020176" y="55626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6.2</a:t>
            </a:r>
            <a:endParaRPr lang="en-US" sz="1600" dirty="0"/>
          </a:p>
        </p:txBody>
      </p:sp>
      <p:sp>
        <p:nvSpPr>
          <p:cNvPr id="65" name="Text 51"/>
          <p:cNvSpPr/>
          <p:nvPr/>
        </p:nvSpPr>
        <p:spPr>
          <a:xfrm>
            <a:off x="9043988" y="586740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平均房间大小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PLAYER INTERACTION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玩家交互与移动机制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317500" y="1158875"/>
            <a:ext cx="5127625" cy="3730625"/>
          </a:xfrm>
          <a:custGeom>
            <a:avLst/>
            <a:gdLst/>
            <a:ahLst/>
            <a:cxnLst/>
            <a:rect l="l" t="t" r="r" b="b"/>
            <a:pathLst>
              <a:path w="5127625" h="3730625">
                <a:moveTo>
                  <a:pt x="31750" y="0"/>
                </a:moveTo>
                <a:lnTo>
                  <a:pt x="5095875" y="0"/>
                </a:lnTo>
                <a:cubicBezTo>
                  <a:pt x="5113410" y="0"/>
                  <a:pt x="5127625" y="14215"/>
                  <a:pt x="5127625" y="31750"/>
                </a:cubicBezTo>
                <a:lnTo>
                  <a:pt x="5127625" y="3667130"/>
                </a:lnTo>
                <a:cubicBezTo>
                  <a:pt x="5127625" y="3702197"/>
                  <a:pt x="5099197" y="3730625"/>
                  <a:pt x="5064130" y="3730625"/>
                </a:cubicBezTo>
                <a:lnTo>
                  <a:pt x="63495" y="3730625"/>
                </a:lnTo>
                <a:cubicBezTo>
                  <a:pt x="28428" y="3730625"/>
                  <a:pt x="0" y="3702197"/>
                  <a:pt x="0" y="366713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17500" y="1158875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476250" y="136525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38906" y="19844"/>
                </a:moveTo>
                <a:cubicBezTo>
                  <a:pt x="171772" y="19844"/>
                  <a:pt x="198438" y="46509"/>
                  <a:pt x="198438" y="79375"/>
                </a:cubicBezTo>
                <a:cubicBezTo>
                  <a:pt x="198438" y="112241"/>
                  <a:pt x="171772" y="138906"/>
                  <a:pt x="138906" y="138906"/>
                </a:cubicBezTo>
                <a:lnTo>
                  <a:pt x="59531" y="138906"/>
                </a:lnTo>
                <a:cubicBezTo>
                  <a:pt x="26665" y="138906"/>
                  <a:pt x="0" y="112241"/>
                  <a:pt x="0" y="79375"/>
                </a:cubicBezTo>
                <a:cubicBezTo>
                  <a:pt x="0" y="46509"/>
                  <a:pt x="26665" y="19844"/>
                  <a:pt x="59531" y="19844"/>
                </a:cubicBezTo>
                <a:lnTo>
                  <a:pt x="138906" y="19844"/>
                </a:lnTo>
                <a:close/>
                <a:moveTo>
                  <a:pt x="59531" y="54570"/>
                </a:moveTo>
                <a:cubicBezTo>
                  <a:pt x="55407" y="54570"/>
                  <a:pt x="52090" y="57888"/>
                  <a:pt x="52090" y="62012"/>
                </a:cubicBezTo>
                <a:lnTo>
                  <a:pt x="52090" y="71934"/>
                </a:lnTo>
                <a:lnTo>
                  <a:pt x="42168" y="71934"/>
                </a:lnTo>
                <a:cubicBezTo>
                  <a:pt x="38044" y="71934"/>
                  <a:pt x="34727" y="75251"/>
                  <a:pt x="34727" y="79375"/>
                </a:cubicBezTo>
                <a:cubicBezTo>
                  <a:pt x="34727" y="83499"/>
                  <a:pt x="38044" y="86816"/>
                  <a:pt x="42168" y="86816"/>
                </a:cubicBezTo>
                <a:lnTo>
                  <a:pt x="52090" y="86816"/>
                </a:lnTo>
                <a:lnTo>
                  <a:pt x="52090" y="96738"/>
                </a:lnTo>
                <a:cubicBezTo>
                  <a:pt x="52090" y="100862"/>
                  <a:pt x="55407" y="104180"/>
                  <a:pt x="59531" y="104180"/>
                </a:cubicBezTo>
                <a:cubicBezTo>
                  <a:pt x="63655" y="104180"/>
                  <a:pt x="66973" y="100862"/>
                  <a:pt x="66973" y="96738"/>
                </a:cubicBezTo>
                <a:lnTo>
                  <a:pt x="66973" y="86816"/>
                </a:lnTo>
                <a:lnTo>
                  <a:pt x="76895" y="86816"/>
                </a:lnTo>
                <a:cubicBezTo>
                  <a:pt x="81018" y="86816"/>
                  <a:pt x="84336" y="83499"/>
                  <a:pt x="84336" y="79375"/>
                </a:cubicBezTo>
                <a:cubicBezTo>
                  <a:pt x="84336" y="75251"/>
                  <a:pt x="81018" y="71934"/>
                  <a:pt x="76895" y="71934"/>
                </a:cubicBezTo>
                <a:lnTo>
                  <a:pt x="66973" y="71934"/>
                </a:lnTo>
                <a:lnTo>
                  <a:pt x="66973" y="62012"/>
                </a:lnTo>
                <a:cubicBezTo>
                  <a:pt x="66973" y="57888"/>
                  <a:pt x="63655" y="54570"/>
                  <a:pt x="59531" y="54570"/>
                </a:cubicBezTo>
                <a:close/>
                <a:moveTo>
                  <a:pt x="133945" y="84336"/>
                </a:moveTo>
                <a:cubicBezTo>
                  <a:pt x="128469" y="84336"/>
                  <a:pt x="124023" y="88782"/>
                  <a:pt x="124023" y="94258"/>
                </a:cubicBezTo>
                <a:cubicBezTo>
                  <a:pt x="124023" y="99734"/>
                  <a:pt x="128469" y="104180"/>
                  <a:pt x="133945" y="104180"/>
                </a:cubicBezTo>
                <a:cubicBezTo>
                  <a:pt x="139421" y="104180"/>
                  <a:pt x="143867" y="99734"/>
                  <a:pt x="143867" y="94258"/>
                </a:cubicBezTo>
                <a:cubicBezTo>
                  <a:pt x="143867" y="88782"/>
                  <a:pt x="139421" y="84336"/>
                  <a:pt x="133945" y="84336"/>
                </a:cubicBezTo>
                <a:close/>
                <a:moveTo>
                  <a:pt x="153789" y="54570"/>
                </a:moveTo>
                <a:cubicBezTo>
                  <a:pt x="148313" y="54570"/>
                  <a:pt x="143867" y="59016"/>
                  <a:pt x="143867" y="64492"/>
                </a:cubicBezTo>
                <a:cubicBezTo>
                  <a:pt x="143867" y="69968"/>
                  <a:pt x="148313" y="74414"/>
                  <a:pt x="153789" y="74414"/>
                </a:cubicBezTo>
                <a:cubicBezTo>
                  <a:pt x="159265" y="74414"/>
                  <a:pt x="163711" y="69968"/>
                  <a:pt x="163711" y="64492"/>
                </a:cubicBezTo>
                <a:cubicBezTo>
                  <a:pt x="163711" y="59016"/>
                  <a:pt x="159265" y="54570"/>
                  <a:pt x="153789" y="5457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674688" y="1333500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键盘控制</a:t>
            </a:r>
            <a:endParaRPr lang="en-US" sz="1600" dirty="0"/>
          </a:p>
        </p:txBody>
      </p:sp>
      <p:sp>
        <p:nvSpPr>
          <p:cNvPr id="21" name="Shape 7"/>
          <p:cNvSpPr/>
          <p:nvPr/>
        </p:nvSpPr>
        <p:spPr>
          <a:xfrm>
            <a:off x="476250" y="1651000"/>
            <a:ext cx="2357438" cy="666750"/>
          </a:xfrm>
          <a:custGeom>
            <a:avLst/>
            <a:gdLst/>
            <a:ahLst/>
            <a:cxnLst/>
            <a:rect l="l" t="t" r="r" b="b"/>
            <a:pathLst>
              <a:path w="2357438" h="666750">
                <a:moveTo>
                  <a:pt x="31751" y="0"/>
                </a:moveTo>
                <a:lnTo>
                  <a:pt x="2325687" y="0"/>
                </a:lnTo>
                <a:cubicBezTo>
                  <a:pt x="2343222" y="0"/>
                  <a:pt x="2357438" y="14215"/>
                  <a:pt x="2357438" y="31751"/>
                </a:cubicBezTo>
                <a:lnTo>
                  <a:pt x="2357438" y="634999"/>
                </a:lnTo>
                <a:cubicBezTo>
                  <a:pt x="2357438" y="652535"/>
                  <a:pt x="2343222" y="666750"/>
                  <a:pt x="2325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2" name="Text 8"/>
          <p:cNvSpPr/>
          <p:nvPr/>
        </p:nvSpPr>
        <p:spPr>
          <a:xfrm>
            <a:off x="416719" y="17462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448469" y="2063750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向上移动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2929717" y="1651000"/>
            <a:ext cx="2357438" cy="666750"/>
          </a:xfrm>
          <a:custGeom>
            <a:avLst/>
            <a:gdLst/>
            <a:ahLst/>
            <a:cxnLst/>
            <a:rect l="l" t="t" r="r" b="b"/>
            <a:pathLst>
              <a:path w="2357438" h="666750">
                <a:moveTo>
                  <a:pt x="31751" y="0"/>
                </a:moveTo>
                <a:lnTo>
                  <a:pt x="2325687" y="0"/>
                </a:lnTo>
                <a:cubicBezTo>
                  <a:pt x="2343222" y="0"/>
                  <a:pt x="2357438" y="14215"/>
                  <a:pt x="2357438" y="31751"/>
                </a:cubicBezTo>
                <a:lnTo>
                  <a:pt x="2357438" y="634999"/>
                </a:lnTo>
                <a:cubicBezTo>
                  <a:pt x="2357438" y="652535"/>
                  <a:pt x="2343222" y="666750"/>
                  <a:pt x="2325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5" name="Text 11"/>
          <p:cNvSpPr/>
          <p:nvPr/>
        </p:nvSpPr>
        <p:spPr>
          <a:xfrm>
            <a:off x="2870186" y="17462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2901936" y="2063750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向下移动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476250" y="2413000"/>
            <a:ext cx="2357438" cy="666750"/>
          </a:xfrm>
          <a:custGeom>
            <a:avLst/>
            <a:gdLst/>
            <a:ahLst/>
            <a:cxnLst/>
            <a:rect l="l" t="t" r="r" b="b"/>
            <a:pathLst>
              <a:path w="2357438" h="666750">
                <a:moveTo>
                  <a:pt x="31751" y="0"/>
                </a:moveTo>
                <a:lnTo>
                  <a:pt x="2325687" y="0"/>
                </a:lnTo>
                <a:cubicBezTo>
                  <a:pt x="2343222" y="0"/>
                  <a:pt x="2357438" y="14215"/>
                  <a:pt x="2357438" y="31751"/>
                </a:cubicBezTo>
                <a:lnTo>
                  <a:pt x="2357438" y="634999"/>
                </a:lnTo>
                <a:cubicBezTo>
                  <a:pt x="2357438" y="652535"/>
                  <a:pt x="2343222" y="666750"/>
                  <a:pt x="2325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8" name="Text 14"/>
          <p:cNvSpPr/>
          <p:nvPr/>
        </p:nvSpPr>
        <p:spPr>
          <a:xfrm>
            <a:off x="416719" y="25082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Text 15"/>
          <p:cNvSpPr/>
          <p:nvPr/>
        </p:nvSpPr>
        <p:spPr>
          <a:xfrm>
            <a:off x="448469" y="2825750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向左移动</a:t>
            </a:r>
            <a:endParaRPr lang="en-US" sz="1600" dirty="0"/>
          </a:p>
        </p:txBody>
      </p:sp>
      <p:sp>
        <p:nvSpPr>
          <p:cNvPr id="30" name="Shape 16"/>
          <p:cNvSpPr/>
          <p:nvPr/>
        </p:nvSpPr>
        <p:spPr>
          <a:xfrm>
            <a:off x="2929717" y="2413000"/>
            <a:ext cx="2357438" cy="666750"/>
          </a:xfrm>
          <a:custGeom>
            <a:avLst/>
            <a:gdLst/>
            <a:ahLst/>
            <a:cxnLst/>
            <a:rect l="l" t="t" r="r" b="b"/>
            <a:pathLst>
              <a:path w="2357438" h="666750">
                <a:moveTo>
                  <a:pt x="31751" y="0"/>
                </a:moveTo>
                <a:lnTo>
                  <a:pt x="2325687" y="0"/>
                </a:lnTo>
                <a:cubicBezTo>
                  <a:pt x="2343222" y="0"/>
                  <a:pt x="2357438" y="14215"/>
                  <a:pt x="2357438" y="31751"/>
                </a:cubicBezTo>
                <a:lnTo>
                  <a:pt x="2357438" y="634999"/>
                </a:lnTo>
                <a:cubicBezTo>
                  <a:pt x="2357438" y="652535"/>
                  <a:pt x="2343222" y="666750"/>
                  <a:pt x="2325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1" name="Text 17"/>
          <p:cNvSpPr/>
          <p:nvPr/>
        </p:nvSpPr>
        <p:spPr>
          <a:xfrm>
            <a:off x="2870186" y="25082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2901936" y="2825750"/>
            <a:ext cx="2413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向右移动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476250" y="3175000"/>
            <a:ext cx="4810125" cy="571500"/>
          </a:xfrm>
          <a:custGeom>
            <a:avLst/>
            <a:gdLst/>
            <a:ahLst/>
            <a:cxnLst/>
            <a:rect l="l" t="t" r="r" b="b"/>
            <a:pathLst>
              <a:path w="4810125" h="571500">
                <a:moveTo>
                  <a:pt x="31753" y="0"/>
                </a:moveTo>
                <a:lnTo>
                  <a:pt x="4778372" y="0"/>
                </a:lnTo>
                <a:cubicBezTo>
                  <a:pt x="4795909" y="0"/>
                  <a:pt x="4810125" y="14216"/>
                  <a:pt x="4810125" y="31753"/>
                </a:cubicBezTo>
                <a:lnTo>
                  <a:pt x="4810125" y="539747"/>
                </a:lnTo>
                <a:cubicBezTo>
                  <a:pt x="4810125" y="557284"/>
                  <a:pt x="4795909" y="571500"/>
                  <a:pt x="477837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4" name="Text 20"/>
          <p:cNvSpPr/>
          <p:nvPr/>
        </p:nvSpPr>
        <p:spPr>
          <a:xfrm>
            <a:off x="428625" y="3238500"/>
            <a:ext cx="49053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448469" y="3524250"/>
            <a:ext cx="486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退出游戏</a:t>
            </a:r>
            <a:endParaRPr lang="en-US" sz="1600" dirty="0"/>
          </a:p>
        </p:txBody>
      </p:sp>
      <p:sp>
        <p:nvSpPr>
          <p:cNvPr id="36" name="Shape 22"/>
          <p:cNvSpPr/>
          <p:nvPr/>
        </p:nvSpPr>
        <p:spPr>
          <a:xfrm>
            <a:off x="317500" y="5030809"/>
            <a:ext cx="5127625" cy="3730625"/>
          </a:xfrm>
          <a:custGeom>
            <a:avLst/>
            <a:gdLst/>
            <a:ahLst/>
            <a:cxnLst/>
            <a:rect l="l" t="t" r="r" b="b"/>
            <a:pathLst>
              <a:path w="5127625" h="3730625">
                <a:moveTo>
                  <a:pt x="31750" y="0"/>
                </a:moveTo>
                <a:lnTo>
                  <a:pt x="5095875" y="0"/>
                </a:lnTo>
                <a:cubicBezTo>
                  <a:pt x="5113410" y="0"/>
                  <a:pt x="5127625" y="14215"/>
                  <a:pt x="5127625" y="31750"/>
                </a:cubicBezTo>
                <a:lnTo>
                  <a:pt x="5127625" y="3667130"/>
                </a:lnTo>
                <a:cubicBezTo>
                  <a:pt x="5127625" y="3702197"/>
                  <a:pt x="5099197" y="3730625"/>
                  <a:pt x="5064130" y="3730625"/>
                </a:cubicBezTo>
                <a:lnTo>
                  <a:pt x="63495" y="3730625"/>
                </a:lnTo>
                <a:cubicBezTo>
                  <a:pt x="28428" y="3730625"/>
                  <a:pt x="0" y="3702197"/>
                  <a:pt x="0" y="366713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7" name="Shape 23"/>
          <p:cNvSpPr/>
          <p:nvPr/>
        </p:nvSpPr>
        <p:spPr>
          <a:xfrm>
            <a:off x="317500" y="5030809"/>
            <a:ext cx="5127625" cy="31750"/>
          </a:xfrm>
          <a:custGeom>
            <a:avLst/>
            <a:gdLst/>
            <a:ahLst/>
            <a:cxnLst/>
            <a:rect l="l" t="t" r="r" b="b"/>
            <a:pathLst>
              <a:path w="5127625" h="31750">
                <a:moveTo>
                  <a:pt x="31750" y="0"/>
                </a:moveTo>
                <a:lnTo>
                  <a:pt x="5095875" y="0"/>
                </a:lnTo>
                <a:cubicBezTo>
                  <a:pt x="5113398" y="0"/>
                  <a:pt x="5127625" y="14227"/>
                  <a:pt x="5127625" y="31750"/>
                </a:cubicBezTo>
                <a:lnTo>
                  <a:pt x="51276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8" name="Shape 24"/>
          <p:cNvSpPr/>
          <p:nvPr/>
        </p:nvSpPr>
        <p:spPr>
          <a:xfrm>
            <a:off x="506016" y="523718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19000"/>
                  <a:pt x="109203" y="94258"/>
                  <a:pt x="78662" y="94258"/>
                </a:cubicBezTo>
                <a:lnTo>
                  <a:pt x="60244" y="94258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39" name="Text 25"/>
          <p:cNvSpPr/>
          <p:nvPr/>
        </p:nvSpPr>
        <p:spPr>
          <a:xfrm>
            <a:off x="674688" y="5205434"/>
            <a:ext cx="469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玩家显示</a:t>
            </a:r>
            <a:endParaRPr lang="en-US" sz="1600" dirty="0"/>
          </a:p>
        </p:txBody>
      </p:sp>
      <p:sp>
        <p:nvSpPr>
          <p:cNvPr id="40" name="Text 26"/>
          <p:cNvSpPr/>
          <p:nvPr/>
        </p:nvSpPr>
        <p:spPr>
          <a:xfrm>
            <a:off x="476250" y="5554684"/>
            <a:ext cx="166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645914" y="5522934"/>
            <a:ext cx="1682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符号表示: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在地图上以'@'标记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476250" y="5840434"/>
            <a:ext cx="166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645914" y="5808684"/>
            <a:ext cx="1785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初始位置: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第一个房间的中心点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476250" y="6126184"/>
            <a:ext cx="166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645914" y="6094434"/>
            <a:ext cx="1785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实时更新:</a:t>
            </a: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移动后更新地图显示</a:t>
            </a:r>
            <a:endParaRPr lang="en-US" sz="1600" dirty="0"/>
          </a:p>
        </p:txBody>
      </p:sp>
      <p:sp>
        <p:nvSpPr>
          <p:cNvPr id="46" name="Shape 32"/>
          <p:cNvSpPr/>
          <p:nvPr/>
        </p:nvSpPr>
        <p:spPr>
          <a:xfrm>
            <a:off x="5605145" y="325120"/>
            <a:ext cx="6270625" cy="5247640"/>
          </a:xfrm>
          <a:custGeom>
            <a:avLst/>
            <a:gdLst/>
            <a:ahLst/>
            <a:cxnLst/>
            <a:rect l="l" t="t" r="r" b="b"/>
            <a:pathLst>
              <a:path w="6270625" h="6477000">
                <a:moveTo>
                  <a:pt x="63521" y="0"/>
                </a:moveTo>
                <a:lnTo>
                  <a:pt x="6207104" y="0"/>
                </a:lnTo>
                <a:cubicBezTo>
                  <a:pt x="6242185" y="0"/>
                  <a:pt x="6270625" y="28440"/>
                  <a:pt x="6270625" y="63521"/>
                </a:cubicBezTo>
                <a:lnTo>
                  <a:pt x="6270625" y="6413479"/>
                </a:lnTo>
                <a:cubicBezTo>
                  <a:pt x="6270625" y="6448560"/>
                  <a:pt x="6242185" y="6477000"/>
                  <a:pt x="6207104" y="6477000"/>
                </a:cubicBezTo>
                <a:lnTo>
                  <a:pt x="63521" y="6477000"/>
                </a:lnTo>
                <a:cubicBezTo>
                  <a:pt x="28440" y="6477000"/>
                  <a:pt x="0" y="6448560"/>
                  <a:pt x="0" y="6413479"/>
                </a:cubicBezTo>
                <a:lnTo>
                  <a:pt x="0" y="63521"/>
                </a:lnTo>
                <a:cubicBezTo>
                  <a:pt x="0" y="28463"/>
                  <a:pt x="28463" y="0"/>
                  <a:pt x="63521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7" name="Shape 33"/>
          <p:cNvSpPr/>
          <p:nvPr/>
        </p:nvSpPr>
        <p:spPr>
          <a:xfrm>
            <a:off x="5774106" y="51562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8" name="Text 34"/>
          <p:cNvSpPr/>
          <p:nvPr/>
        </p:nvSpPr>
        <p:spPr>
          <a:xfrm>
            <a:off x="5962622" y="483870"/>
            <a:ext cx="583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玩家移动核心代码</a:t>
            </a:r>
            <a:endParaRPr lang="en-US" sz="1600" dirty="0"/>
          </a:p>
        </p:txBody>
      </p:sp>
      <p:sp>
        <p:nvSpPr>
          <p:cNvPr id="49" name="Shape 35"/>
          <p:cNvSpPr/>
          <p:nvPr/>
        </p:nvSpPr>
        <p:spPr>
          <a:xfrm>
            <a:off x="5780059" y="801370"/>
            <a:ext cx="5937250" cy="4643438"/>
          </a:xfrm>
          <a:custGeom>
            <a:avLst/>
            <a:gdLst/>
            <a:ahLst/>
            <a:cxnLst/>
            <a:rect l="l" t="t" r="r" b="b"/>
            <a:pathLst>
              <a:path w="5937250" h="4643438">
                <a:moveTo>
                  <a:pt x="31750" y="0"/>
                </a:moveTo>
                <a:lnTo>
                  <a:pt x="5873728" y="0"/>
                </a:lnTo>
                <a:cubicBezTo>
                  <a:pt x="5908810" y="0"/>
                  <a:pt x="5937250" y="28440"/>
                  <a:pt x="5937250" y="63522"/>
                </a:cubicBezTo>
                <a:lnTo>
                  <a:pt x="5937250" y="4579915"/>
                </a:lnTo>
                <a:cubicBezTo>
                  <a:pt x="5937250" y="4614998"/>
                  <a:pt x="5908810" y="4643438"/>
                  <a:pt x="5873728" y="4643438"/>
                </a:cubicBezTo>
                <a:lnTo>
                  <a:pt x="31750" y="4643438"/>
                </a:lnTo>
                <a:cubicBezTo>
                  <a:pt x="14215" y="4643438"/>
                  <a:pt x="0" y="4629223"/>
                  <a:pt x="0" y="4611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0" name="Shape 36"/>
          <p:cNvSpPr/>
          <p:nvPr/>
        </p:nvSpPr>
        <p:spPr>
          <a:xfrm>
            <a:off x="5780059" y="801370"/>
            <a:ext cx="31750" cy="4643438"/>
          </a:xfrm>
          <a:custGeom>
            <a:avLst/>
            <a:gdLst/>
            <a:ahLst/>
            <a:cxnLst/>
            <a:rect l="l" t="t" r="r" b="b"/>
            <a:pathLst>
              <a:path w="31750" h="4643438">
                <a:moveTo>
                  <a:pt x="31750" y="0"/>
                </a:moveTo>
                <a:lnTo>
                  <a:pt x="31750" y="0"/>
                </a:lnTo>
                <a:lnTo>
                  <a:pt x="31750" y="4643438"/>
                </a:lnTo>
                <a:lnTo>
                  <a:pt x="31750" y="4643438"/>
                </a:lnTo>
                <a:cubicBezTo>
                  <a:pt x="14227" y="4643438"/>
                  <a:pt x="0" y="4629211"/>
                  <a:pt x="0" y="4611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1" name="Text 37"/>
          <p:cNvSpPr/>
          <p:nvPr/>
        </p:nvSpPr>
        <p:spPr>
          <a:xfrm>
            <a:off x="5922934" y="928370"/>
            <a:ext cx="5722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// 玩家移动函数</a:t>
            </a:r>
            <a:endParaRPr lang="en-US" sz="1600" dirty="0"/>
          </a:p>
        </p:txBody>
      </p:sp>
      <p:sp>
        <p:nvSpPr>
          <p:cNvPr id="52" name="Text 38"/>
          <p:cNvSpPr/>
          <p:nvPr/>
        </p:nvSpPr>
        <p:spPr>
          <a:xfrm>
            <a:off x="5922934" y="1150620"/>
            <a:ext cx="5722938" cy="4167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movePlayer(World* world, char direction)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dx = 0, dy = 0;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switch(direction)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case 'w': dy = -1; break;  // 向上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case 's': dy = 1; break;   // 向下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case 'a': dx = -1; break;  // 向左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case 'd': dx = 1; break;   // 向右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default: return;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newX = world-&gt;playerPos.x + dx;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newY = world-&gt;playerPos.y + dy;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// 碰撞检测: 只能走到地板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char targetTile = world-&gt;tiles[newY][newX];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if (targetTile == TILE_FLOOR || targetTile == TILE_EMPTY)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恢复旧位置的地面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world-&gt;tiles[world-&gt;playerPos.y][world-&gt;playerPos.x] = TILE_FLOOR;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更新玩家位置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world-&gt;playerPos.x = newX;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world-&gt;playerPos.y = newY;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// 设置新位置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world-&gt;tiles[newY][newX] = TILE_PLAYER;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53" name="Shape 39"/>
          <p:cNvSpPr/>
          <p:nvPr/>
        </p:nvSpPr>
        <p:spPr>
          <a:xfrm>
            <a:off x="5605434" y="5745461"/>
            <a:ext cx="6270625" cy="1016000"/>
          </a:xfrm>
          <a:custGeom>
            <a:avLst/>
            <a:gdLst/>
            <a:ahLst/>
            <a:cxnLst/>
            <a:rect l="l" t="t" r="r" b="b"/>
            <a:pathLst>
              <a:path w="6270625" h="1016000">
                <a:moveTo>
                  <a:pt x="63500" y="0"/>
                </a:moveTo>
                <a:lnTo>
                  <a:pt x="6207125" y="0"/>
                </a:lnTo>
                <a:cubicBezTo>
                  <a:pt x="6242172" y="0"/>
                  <a:pt x="6270625" y="28453"/>
                  <a:pt x="6270625" y="63500"/>
                </a:cubicBezTo>
                <a:lnTo>
                  <a:pt x="6270625" y="952500"/>
                </a:lnTo>
                <a:cubicBezTo>
                  <a:pt x="6270625" y="987547"/>
                  <a:pt x="6242172" y="1016000"/>
                  <a:pt x="6207125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4" name="Shape 40"/>
          <p:cNvSpPr/>
          <p:nvPr/>
        </p:nvSpPr>
        <p:spPr>
          <a:xfrm>
            <a:off x="5752278" y="591214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5" name="Text 41"/>
          <p:cNvSpPr/>
          <p:nvPr/>
        </p:nvSpPr>
        <p:spPr>
          <a:xfrm>
            <a:off x="5914997" y="5872461"/>
            <a:ext cx="5905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移动规则</a:t>
            </a:r>
            <a:endParaRPr lang="en-US" sz="1600" dirty="0"/>
          </a:p>
        </p:txBody>
      </p:sp>
      <p:sp>
        <p:nvSpPr>
          <p:cNvPr id="56" name="Shape 42"/>
          <p:cNvSpPr/>
          <p:nvPr/>
        </p:nvSpPr>
        <p:spPr>
          <a:xfrm>
            <a:off x="5732434" y="6158211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7" name="Text 43"/>
          <p:cNvSpPr/>
          <p:nvPr/>
        </p:nvSpPr>
        <p:spPr>
          <a:xfrm>
            <a:off x="5827684" y="6221711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可走位置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5827684" y="6412211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地板 '.' 或空白 ' '</a:t>
            </a:r>
            <a:endParaRPr lang="en-US" sz="1600" dirty="0"/>
          </a:p>
        </p:txBody>
      </p:sp>
      <p:sp>
        <p:nvSpPr>
          <p:cNvPr id="59" name="Shape 45"/>
          <p:cNvSpPr/>
          <p:nvPr/>
        </p:nvSpPr>
        <p:spPr>
          <a:xfrm>
            <a:off x="8787592" y="6158211"/>
            <a:ext cx="2960688" cy="476250"/>
          </a:xfrm>
          <a:custGeom>
            <a:avLst/>
            <a:gdLst/>
            <a:ahLst/>
            <a:cxnLst/>
            <a:rect l="l" t="t" r="r" b="b"/>
            <a:pathLst>
              <a:path w="2960688" h="476250">
                <a:moveTo>
                  <a:pt x="31752" y="0"/>
                </a:moveTo>
                <a:lnTo>
                  <a:pt x="2928936" y="0"/>
                </a:lnTo>
                <a:cubicBezTo>
                  <a:pt x="2946472" y="0"/>
                  <a:pt x="2960687" y="14216"/>
                  <a:pt x="2960687" y="31752"/>
                </a:cubicBezTo>
                <a:lnTo>
                  <a:pt x="2960688" y="444498"/>
                </a:lnTo>
                <a:cubicBezTo>
                  <a:pt x="2960687" y="462034"/>
                  <a:pt x="2946472" y="476250"/>
                  <a:pt x="2928936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0" name="Text 46"/>
          <p:cNvSpPr/>
          <p:nvPr/>
        </p:nvSpPr>
        <p:spPr>
          <a:xfrm>
            <a:off x="8882842" y="6221711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禁止移动</a:t>
            </a:r>
            <a:endParaRPr lang="en-US" sz="1600" dirty="0"/>
          </a:p>
        </p:txBody>
      </p:sp>
      <p:sp>
        <p:nvSpPr>
          <p:cNvPr id="61" name="Text 47"/>
          <p:cNvSpPr/>
          <p:nvPr/>
        </p:nvSpPr>
        <p:spPr>
          <a:xfrm>
            <a:off x="8882842" y="6412211"/>
            <a:ext cx="2825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墙壁 '#' (边界限制)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CODE ANALYSIS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核心代码实现剖析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17500" y="95250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17500" y="1143000"/>
            <a:ext cx="5699125" cy="7866063"/>
          </a:xfrm>
          <a:custGeom>
            <a:avLst/>
            <a:gdLst/>
            <a:ahLst/>
            <a:cxnLst/>
            <a:rect l="l" t="t" r="r" b="b"/>
            <a:pathLst>
              <a:path w="5699125" h="7866063">
                <a:moveTo>
                  <a:pt x="63488" y="0"/>
                </a:moveTo>
                <a:lnTo>
                  <a:pt x="5635637" y="0"/>
                </a:lnTo>
                <a:cubicBezTo>
                  <a:pt x="5670700" y="0"/>
                  <a:pt x="5699125" y="28425"/>
                  <a:pt x="5699125" y="63488"/>
                </a:cubicBezTo>
                <a:lnTo>
                  <a:pt x="5699125" y="7802574"/>
                </a:lnTo>
                <a:cubicBezTo>
                  <a:pt x="5699125" y="7837638"/>
                  <a:pt x="5670700" y="7866063"/>
                  <a:pt x="5635637" y="7866063"/>
                </a:cubicBezTo>
                <a:lnTo>
                  <a:pt x="63488" y="7866063"/>
                </a:lnTo>
                <a:cubicBezTo>
                  <a:pt x="28425" y="7866063"/>
                  <a:pt x="0" y="7837638"/>
                  <a:pt x="0" y="7802574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96094" y="13414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Text 5"/>
          <p:cNvSpPr/>
          <p:nvPr/>
        </p:nvSpPr>
        <p:spPr>
          <a:xfrm>
            <a:off x="658813" y="1301750"/>
            <a:ext cx="527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随机数生成</a:t>
            </a:r>
            <a:endParaRPr lang="en-US" sz="1600" dirty="0"/>
          </a:p>
        </p:txBody>
      </p:sp>
      <p:sp>
        <p:nvSpPr>
          <p:cNvPr id="20" name="Shape 6"/>
          <p:cNvSpPr/>
          <p:nvPr/>
        </p:nvSpPr>
        <p:spPr>
          <a:xfrm>
            <a:off x="492125" y="1619250"/>
            <a:ext cx="5365750" cy="1690688"/>
          </a:xfrm>
          <a:custGeom>
            <a:avLst/>
            <a:gdLst/>
            <a:ahLst/>
            <a:cxnLst/>
            <a:rect l="l" t="t" r="r" b="b"/>
            <a:pathLst>
              <a:path w="5365750" h="1690688">
                <a:moveTo>
                  <a:pt x="31750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1627185"/>
                </a:lnTo>
                <a:cubicBezTo>
                  <a:pt x="5365750" y="1662257"/>
                  <a:pt x="5337319" y="1690688"/>
                  <a:pt x="5302248" y="1690688"/>
                </a:cubicBezTo>
                <a:lnTo>
                  <a:pt x="31750" y="1690688"/>
                </a:lnTo>
                <a:cubicBezTo>
                  <a:pt x="14227" y="1690688"/>
                  <a:pt x="0" y="1676461"/>
                  <a:pt x="0" y="1658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1" name="Shape 7"/>
          <p:cNvSpPr/>
          <p:nvPr/>
        </p:nvSpPr>
        <p:spPr>
          <a:xfrm>
            <a:off x="492125" y="1619250"/>
            <a:ext cx="31750" cy="1690688"/>
          </a:xfrm>
          <a:custGeom>
            <a:avLst/>
            <a:gdLst/>
            <a:ahLst/>
            <a:cxnLst/>
            <a:rect l="l" t="t" r="r" b="b"/>
            <a:pathLst>
              <a:path w="31750" h="1690688">
                <a:moveTo>
                  <a:pt x="31750" y="0"/>
                </a:moveTo>
                <a:lnTo>
                  <a:pt x="31750" y="0"/>
                </a:lnTo>
                <a:lnTo>
                  <a:pt x="31750" y="1690688"/>
                </a:lnTo>
                <a:lnTo>
                  <a:pt x="31750" y="1690688"/>
                </a:lnTo>
                <a:cubicBezTo>
                  <a:pt x="14227" y="1690688"/>
                  <a:pt x="0" y="1676461"/>
                  <a:pt x="0" y="1658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2" name="Text 8"/>
          <p:cNvSpPr/>
          <p:nvPr/>
        </p:nvSpPr>
        <p:spPr>
          <a:xfrm>
            <a:off x="603250" y="1714500"/>
            <a:ext cx="5214938" cy="1500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setSeed(long seed)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currentSeed = seed;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 randomInt(int min, int max)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currentSeed = (currentSeed * 1103515245 + 12345)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    &amp; 0x7fffffff;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return min + (currentSeed % (max - min));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Shape 9"/>
          <p:cNvSpPr/>
          <p:nvPr/>
        </p:nvSpPr>
        <p:spPr>
          <a:xfrm>
            <a:off x="496094" y="3476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53578" y="17859"/>
                </a:moveTo>
                <a:cubicBezTo>
                  <a:pt x="53578" y="12920"/>
                  <a:pt x="57569" y="8930"/>
                  <a:pt x="62508" y="8930"/>
                </a:cubicBezTo>
                <a:lnTo>
                  <a:pt x="80367" y="8930"/>
                </a:lnTo>
                <a:cubicBezTo>
                  <a:pt x="85306" y="8930"/>
                  <a:pt x="89297" y="12920"/>
                  <a:pt x="89297" y="1785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78135" y="44648"/>
                </a:lnTo>
                <a:lnTo>
                  <a:pt x="78135" y="62508"/>
                </a:lnTo>
                <a:lnTo>
                  <a:pt x="111621" y="62508"/>
                </a:lnTo>
                <a:cubicBezTo>
                  <a:pt x="122727" y="62508"/>
                  <a:pt x="131713" y="71493"/>
                  <a:pt x="131713" y="82600"/>
                </a:cubicBezTo>
                <a:lnTo>
                  <a:pt x="131713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16086" y="133945"/>
                </a:lnTo>
                <a:cubicBezTo>
                  <a:pt x="111147" y="133945"/>
                  <a:pt x="107156" y="129955"/>
                  <a:pt x="107156" y="125016"/>
                </a:cubicBezTo>
                <a:lnTo>
                  <a:pt x="107156" y="107156"/>
                </a:lnTo>
                <a:cubicBezTo>
                  <a:pt x="107156" y="102217"/>
                  <a:pt x="111147" y="98227"/>
                  <a:pt x="116086" y="98227"/>
                </a:cubicBezTo>
                <a:lnTo>
                  <a:pt x="118318" y="98227"/>
                </a:lnTo>
                <a:lnTo>
                  <a:pt x="118318" y="82600"/>
                </a:lnTo>
                <a:cubicBezTo>
                  <a:pt x="118318" y="78888"/>
                  <a:pt x="115332" y="75902"/>
                  <a:pt x="111621" y="75902"/>
                </a:cubicBezTo>
                <a:lnTo>
                  <a:pt x="78135" y="75902"/>
                </a:lnTo>
                <a:lnTo>
                  <a:pt x="78135" y="98227"/>
                </a:lnTo>
                <a:lnTo>
                  <a:pt x="80367" y="98227"/>
                </a:lnTo>
                <a:cubicBezTo>
                  <a:pt x="85306" y="98227"/>
                  <a:pt x="89297" y="102217"/>
                  <a:pt x="89297" y="107156"/>
                </a:cubicBezTo>
                <a:lnTo>
                  <a:pt x="89297" y="125016"/>
                </a:lnTo>
                <a:cubicBezTo>
                  <a:pt x="89297" y="129955"/>
                  <a:pt x="85306" y="133945"/>
                  <a:pt x="80367" y="133945"/>
                </a:cubicBezTo>
                <a:lnTo>
                  <a:pt x="62508" y="133945"/>
                </a:lnTo>
                <a:cubicBezTo>
                  <a:pt x="57569" y="133945"/>
                  <a:pt x="53578" y="129955"/>
                  <a:pt x="53578" y="125016"/>
                </a:cubicBezTo>
                <a:lnTo>
                  <a:pt x="53578" y="107156"/>
                </a:lnTo>
                <a:cubicBezTo>
                  <a:pt x="53578" y="102217"/>
                  <a:pt x="57569" y="98227"/>
                  <a:pt x="62508" y="98227"/>
                </a:cubicBezTo>
                <a:lnTo>
                  <a:pt x="64740" y="98227"/>
                </a:lnTo>
                <a:lnTo>
                  <a:pt x="64740" y="75902"/>
                </a:lnTo>
                <a:lnTo>
                  <a:pt x="31254" y="75902"/>
                </a:lnTo>
                <a:cubicBezTo>
                  <a:pt x="27543" y="75902"/>
                  <a:pt x="24557" y="78888"/>
                  <a:pt x="24557" y="82600"/>
                </a:cubicBezTo>
                <a:lnTo>
                  <a:pt x="24557" y="98227"/>
                </a:lnTo>
                <a:lnTo>
                  <a:pt x="26789" y="98227"/>
                </a:lnTo>
                <a:cubicBezTo>
                  <a:pt x="31728" y="98227"/>
                  <a:pt x="35719" y="102217"/>
                  <a:pt x="35719" y="107156"/>
                </a:cubicBezTo>
                <a:lnTo>
                  <a:pt x="35719" y="125016"/>
                </a:lnTo>
                <a:cubicBezTo>
                  <a:pt x="35719" y="129955"/>
                  <a:pt x="31728" y="133945"/>
                  <a:pt x="2678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07156"/>
                </a:lnTo>
                <a:cubicBezTo>
                  <a:pt x="0" y="102217"/>
                  <a:pt x="3990" y="98227"/>
                  <a:pt x="8930" y="98227"/>
                </a:cubicBezTo>
                <a:lnTo>
                  <a:pt x="11162" y="98227"/>
                </a:lnTo>
                <a:lnTo>
                  <a:pt x="11162" y="82600"/>
                </a:lnTo>
                <a:cubicBezTo>
                  <a:pt x="11162" y="71493"/>
                  <a:pt x="20148" y="62508"/>
                  <a:pt x="31254" y="62508"/>
                </a:cubicBezTo>
                <a:lnTo>
                  <a:pt x="64740" y="62508"/>
                </a:lnTo>
                <a:lnTo>
                  <a:pt x="64740" y="44648"/>
                </a:lnTo>
                <a:lnTo>
                  <a:pt x="62508" y="44648"/>
                </a:lnTo>
                <a:cubicBezTo>
                  <a:pt x="57569" y="44648"/>
                  <a:pt x="53578" y="40658"/>
                  <a:pt x="53578" y="35719"/>
                </a:cubicBezTo>
                <a:lnTo>
                  <a:pt x="53578" y="17859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24" name="Text 10"/>
          <p:cNvSpPr/>
          <p:nvPr/>
        </p:nvSpPr>
        <p:spPr>
          <a:xfrm>
            <a:off x="658813" y="3436938"/>
            <a:ext cx="527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并查集实现</a:t>
            </a:r>
            <a:endParaRPr lang="en-US" sz="1600" dirty="0"/>
          </a:p>
        </p:txBody>
      </p:sp>
      <p:sp>
        <p:nvSpPr>
          <p:cNvPr id="25" name="Shape 11"/>
          <p:cNvSpPr/>
          <p:nvPr/>
        </p:nvSpPr>
        <p:spPr>
          <a:xfrm>
            <a:off x="492125" y="3754438"/>
            <a:ext cx="5365750" cy="3690937"/>
          </a:xfrm>
          <a:custGeom>
            <a:avLst/>
            <a:gdLst/>
            <a:ahLst/>
            <a:cxnLst/>
            <a:rect l="l" t="t" r="r" b="b"/>
            <a:pathLst>
              <a:path w="5365750" h="3690937">
                <a:moveTo>
                  <a:pt x="31750" y="0"/>
                </a:moveTo>
                <a:lnTo>
                  <a:pt x="5302266" y="0"/>
                </a:lnTo>
                <a:cubicBezTo>
                  <a:pt x="5337327" y="0"/>
                  <a:pt x="5365750" y="28423"/>
                  <a:pt x="5365750" y="63484"/>
                </a:cubicBezTo>
                <a:lnTo>
                  <a:pt x="5365750" y="3627453"/>
                </a:lnTo>
                <a:cubicBezTo>
                  <a:pt x="5365750" y="3662515"/>
                  <a:pt x="5337327" y="3690938"/>
                  <a:pt x="5302266" y="3690937"/>
                </a:cubicBezTo>
                <a:lnTo>
                  <a:pt x="31750" y="3690937"/>
                </a:lnTo>
                <a:cubicBezTo>
                  <a:pt x="14227" y="3690937"/>
                  <a:pt x="0" y="3676711"/>
                  <a:pt x="0" y="365918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6" name="Shape 12"/>
          <p:cNvSpPr/>
          <p:nvPr/>
        </p:nvSpPr>
        <p:spPr>
          <a:xfrm>
            <a:off x="492125" y="3754438"/>
            <a:ext cx="31750" cy="3690937"/>
          </a:xfrm>
          <a:custGeom>
            <a:avLst/>
            <a:gdLst/>
            <a:ahLst/>
            <a:cxnLst/>
            <a:rect l="l" t="t" r="r" b="b"/>
            <a:pathLst>
              <a:path w="31750" h="3690937">
                <a:moveTo>
                  <a:pt x="31750" y="0"/>
                </a:moveTo>
                <a:lnTo>
                  <a:pt x="31750" y="0"/>
                </a:lnTo>
                <a:lnTo>
                  <a:pt x="31750" y="3690937"/>
                </a:lnTo>
                <a:lnTo>
                  <a:pt x="31750" y="3690937"/>
                </a:lnTo>
                <a:cubicBezTo>
                  <a:pt x="14227" y="3690937"/>
                  <a:pt x="0" y="3676711"/>
                  <a:pt x="0" y="365918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7" name="Text 13"/>
          <p:cNvSpPr/>
          <p:nvPr/>
        </p:nvSpPr>
        <p:spPr>
          <a:xfrm>
            <a:off x="603250" y="3849688"/>
            <a:ext cx="5214938" cy="3500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 findSet(DisjointSet* ds, int 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if (ds-&gt;parent[x] != x)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ds-&gt;parent[x] = findSet(ds, ds-&gt;parent[x]);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return ds-&gt;parent[x];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unionSets(DisjointSet* ds, int x, int y)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rootX = findSet(ds, x);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rootY = findSet(ds, y);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if (rootX != rootY)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(ds-&gt;rank[rootX] &lt; ds-&gt;rank[rootY])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ds-&gt;parent[rootX] = rootY;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 else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ds-&gt;parent[rootY] = rootX;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if (ds-&gt;rank[rootX] == ds-&gt;rank[rootY])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ds-&gt;rank[rootX]++;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6175375" y="298450"/>
            <a:ext cx="5699125" cy="7866063"/>
          </a:xfrm>
          <a:custGeom>
            <a:avLst/>
            <a:gdLst/>
            <a:ahLst/>
            <a:cxnLst/>
            <a:rect l="l" t="t" r="r" b="b"/>
            <a:pathLst>
              <a:path w="5699125" h="7866063">
                <a:moveTo>
                  <a:pt x="63488" y="0"/>
                </a:moveTo>
                <a:lnTo>
                  <a:pt x="5635637" y="0"/>
                </a:lnTo>
                <a:cubicBezTo>
                  <a:pt x="5670700" y="0"/>
                  <a:pt x="5699125" y="28425"/>
                  <a:pt x="5699125" y="63488"/>
                </a:cubicBezTo>
                <a:lnTo>
                  <a:pt x="5699125" y="7802574"/>
                </a:lnTo>
                <a:cubicBezTo>
                  <a:pt x="5699125" y="7837638"/>
                  <a:pt x="5670700" y="7866063"/>
                  <a:pt x="5635637" y="7866063"/>
                </a:cubicBezTo>
                <a:lnTo>
                  <a:pt x="63488" y="7866063"/>
                </a:lnTo>
                <a:cubicBezTo>
                  <a:pt x="28425" y="7866063"/>
                  <a:pt x="0" y="7837638"/>
                  <a:pt x="0" y="7802574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9" name="Shape 15"/>
          <p:cNvSpPr/>
          <p:nvPr/>
        </p:nvSpPr>
        <p:spPr>
          <a:xfrm>
            <a:off x="6362899" y="49688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0367" y="17859"/>
                </a:moveTo>
                <a:lnTo>
                  <a:pt x="98227" y="17859"/>
                </a:lnTo>
                <a:lnTo>
                  <a:pt x="98227" y="133945"/>
                </a:lnTo>
                <a:cubicBezTo>
                  <a:pt x="98227" y="138885"/>
                  <a:pt x="102217" y="142875"/>
                  <a:pt x="107156" y="142875"/>
                </a:cubicBezTo>
                <a:lnTo>
                  <a:pt x="116086" y="142875"/>
                </a:lnTo>
                <a:cubicBezTo>
                  <a:pt x="121025" y="142875"/>
                  <a:pt x="125016" y="138885"/>
                  <a:pt x="125016" y="133945"/>
                </a:cubicBezTo>
                <a:cubicBezTo>
                  <a:pt x="125016" y="129006"/>
                  <a:pt x="121025" y="125016"/>
                  <a:pt x="116086" y="125016"/>
                </a:cubicBezTo>
                <a:lnTo>
                  <a:pt x="116086" y="17859"/>
                </a:lnTo>
                <a:cubicBezTo>
                  <a:pt x="116086" y="8009"/>
                  <a:pt x="108077" y="0"/>
                  <a:pt x="98227" y="0"/>
                </a:cubicBezTo>
                <a:lnTo>
                  <a:pt x="71438" y="0"/>
                </a:lnTo>
                <a:lnTo>
                  <a:pt x="71438" y="0"/>
                </a:lnTo>
                <a:lnTo>
                  <a:pt x="26789" y="0"/>
                </a:lnTo>
                <a:cubicBezTo>
                  <a:pt x="16939" y="0"/>
                  <a:pt x="8930" y="8009"/>
                  <a:pt x="8930" y="17859"/>
                </a:cubicBezTo>
                <a:lnTo>
                  <a:pt x="8930" y="125016"/>
                </a:lnTo>
                <a:cubicBezTo>
                  <a:pt x="3990" y="125016"/>
                  <a:pt x="0" y="129006"/>
                  <a:pt x="0" y="133945"/>
                </a:cubicBezTo>
                <a:cubicBezTo>
                  <a:pt x="0" y="138885"/>
                  <a:pt x="3990" y="142875"/>
                  <a:pt x="8930" y="142875"/>
                </a:cubicBezTo>
                <a:lnTo>
                  <a:pt x="71438" y="142875"/>
                </a:lnTo>
                <a:cubicBezTo>
                  <a:pt x="76377" y="142875"/>
                  <a:pt x="80367" y="138885"/>
                  <a:pt x="80367" y="133945"/>
                </a:cubicBezTo>
                <a:lnTo>
                  <a:pt x="80367" y="17859"/>
                </a:lnTo>
                <a:close/>
                <a:moveTo>
                  <a:pt x="44648" y="71438"/>
                </a:moveTo>
                <a:cubicBezTo>
                  <a:pt x="44648" y="66509"/>
                  <a:pt x="48650" y="62508"/>
                  <a:pt x="53578" y="62508"/>
                </a:cubicBezTo>
                <a:cubicBezTo>
                  <a:pt x="58507" y="62508"/>
                  <a:pt x="62508" y="66509"/>
                  <a:pt x="62508" y="71438"/>
                </a:cubicBezTo>
                <a:cubicBezTo>
                  <a:pt x="62508" y="76366"/>
                  <a:pt x="58507" y="80367"/>
                  <a:pt x="53578" y="80367"/>
                </a:cubicBezTo>
                <a:cubicBezTo>
                  <a:pt x="48650" y="80367"/>
                  <a:pt x="44648" y="76366"/>
                  <a:pt x="44648" y="71438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0" name="Text 16"/>
          <p:cNvSpPr/>
          <p:nvPr/>
        </p:nvSpPr>
        <p:spPr>
          <a:xfrm>
            <a:off x="6516688" y="457200"/>
            <a:ext cx="527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房间生成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6350000" y="774700"/>
            <a:ext cx="5365750" cy="3190875"/>
          </a:xfrm>
          <a:custGeom>
            <a:avLst/>
            <a:gdLst/>
            <a:ahLst/>
            <a:cxnLst/>
            <a:rect l="l" t="t" r="r" b="b"/>
            <a:pathLst>
              <a:path w="5365750" h="3190875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3127377"/>
                </a:lnTo>
                <a:cubicBezTo>
                  <a:pt x="5365750" y="3162446"/>
                  <a:pt x="5337321" y="3190875"/>
                  <a:pt x="5302252" y="3190875"/>
                </a:cubicBezTo>
                <a:lnTo>
                  <a:pt x="31750" y="3190875"/>
                </a:lnTo>
                <a:cubicBezTo>
                  <a:pt x="14215" y="3190875"/>
                  <a:pt x="0" y="3176660"/>
                  <a:pt x="0" y="315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2" name="Shape 18"/>
          <p:cNvSpPr/>
          <p:nvPr/>
        </p:nvSpPr>
        <p:spPr>
          <a:xfrm>
            <a:off x="6350000" y="774700"/>
            <a:ext cx="31750" cy="3190875"/>
          </a:xfrm>
          <a:custGeom>
            <a:avLst/>
            <a:gdLst/>
            <a:ahLst/>
            <a:cxnLst/>
            <a:rect l="l" t="t" r="r" b="b"/>
            <a:pathLst>
              <a:path w="31750" h="3190875">
                <a:moveTo>
                  <a:pt x="31750" y="0"/>
                </a:moveTo>
                <a:lnTo>
                  <a:pt x="31750" y="0"/>
                </a:lnTo>
                <a:lnTo>
                  <a:pt x="31750" y="3190875"/>
                </a:lnTo>
                <a:lnTo>
                  <a:pt x="31750" y="3190875"/>
                </a:lnTo>
                <a:cubicBezTo>
                  <a:pt x="14227" y="3190875"/>
                  <a:pt x="0" y="3176648"/>
                  <a:pt x="0" y="3159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3" name="Text 19"/>
          <p:cNvSpPr/>
          <p:nvPr/>
        </p:nvSpPr>
        <p:spPr>
          <a:xfrm>
            <a:off x="6461125" y="869950"/>
            <a:ext cx="5214938" cy="3000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generateRooms(World* world)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for (int i = 0; i &lt; 50; i++)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(world-&gt;roomCount &gt;= MAX_ROOMS) break;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w = randomInt(4, 10);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h = randomInt(4, 8);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x = randomInt(1, MAX_WIDTH - w - 1);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int y = randomInt(1, MAX_HEIGHT - h - 1);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Room newRoom = { world-&gt;roomCount, x, y, w, h,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         {x + w/2, y + h/2} };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bool failed = false;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for (int j = 0; j &lt; world-&gt;roomCount; j++)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if (isOverlap(newRoom, world-&gt;rooms[j]))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    failed = true; break;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if (!failed) { /* 绘制房间 */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6353969" y="41322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2480" y="8930"/>
                </a:moveTo>
                <a:lnTo>
                  <a:pt x="41216" y="8930"/>
                </a:lnTo>
                <a:cubicBezTo>
                  <a:pt x="33012" y="8930"/>
                  <a:pt x="25840" y="14539"/>
                  <a:pt x="23887" y="22492"/>
                </a:cubicBezTo>
                <a:lnTo>
                  <a:pt x="391" y="117342"/>
                </a:lnTo>
                <a:cubicBezTo>
                  <a:pt x="-1702" y="125769"/>
                  <a:pt x="4688" y="133945"/>
                  <a:pt x="13395" y="133945"/>
                </a:cubicBezTo>
                <a:lnTo>
                  <a:pt x="62480" y="133945"/>
                </a:lnTo>
                <a:lnTo>
                  <a:pt x="62480" y="116086"/>
                </a:lnTo>
                <a:cubicBezTo>
                  <a:pt x="62480" y="111147"/>
                  <a:pt x="66470" y="107156"/>
                  <a:pt x="71410" y="107156"/>
                </a:cubicBezTo>
                <a:cubicBezTo>
                  <a:pt x="76349" y="107156"/>
                  <a:pt x="80339" y="111147"/>
                  <a:pt x="80339" y="116086"/>
                </a:cubicBezTo>
                <a:lnTo>
                  <a:pt x="80339" y="133945"/>
                </a:lnTo>
                <a:lnTo>
                  <a:pt x="129480" y="133945"/>
                </a:lnTo>
                <a:cubicBezTo>
                  <a:pt x="138187" y="133945"/>
                  <a:pt x="144577" y="125769"/>
                  <a:pt x="142484" y="117342"/>
                </a:cubicBezTo>
                <a:lnTo>
                  <a:pt x="119016" y="22492"/>
                </a:lnTo>
                <a:cubicBezTo>
                  <a:pt x="117035" y="14539"/>
                  <a:pt x="109891" y="8930"/>
                  <a:pt x="101659" y="8930"/>
                </a:cubicBezTo>
                <a:lnTo>
                  <a:pt x="80339" y="8930"/>
                </a:lnTo>
                <a:lnTo>
                  <a:pt x="80339" y="26789"/>
                </a:lnTo>
                <a:cubicBezTo>
                  <a:pt x="80339" y="31728"/>
                  <a:pt x="76349" y="35719"/>
                  <a:pt x="71410" y="35719"/>
                </a:cubicBezTo>
                <a:cubicBezTo>
                  <a:pt x="66470" y="35719"/>
                  <a:pt x="62480" y="31728"/>
                  <a:pt x="62480" y="26789"/>
                </a:cubicBezTo>
                <a:lnTo>
                  <a:pt x="62480" y="8930"/>
                </a:lnTo>
                <a:close/>
                <a:moveTo>
                  <a:pt x="80339" y="62508"/>
                </a:moveTo>
                <a:lnTo>
                  <a:pt x="80339" y="80367"/>
                </a:lnTo>
                <a:cubicBezTo>
                  <a:pt x="80339" y="85306"/>
                  <a:pt x="76349" y="89297"/>
                  <a:pt x="71410" y="89297"/>
                </a:cubicBezTo>
                <a:cubicBezTo>
                  <a:pt x="66470" y="89297"/>
                  <a:pt x="62480" y="85306"/>
                  <a:pt x="62480" y="80367"/>
                </a:cubicBezTo>
                <a:lnTo>
                  <a:pt x="62480" y="62508"/>
                </a:lnTo>
                <a:cubicBezTo>
                  <a:pt x="62480" y="57569"/>
                  <a:pt x="66470" y="53578"/>
                  <a:pt x="71410" y="53578"/>
                </a:cubicBezTo>
                <a:cubicBezTo>
                  <a:pt x="76349" y="53578"/>
                  <a:pt x="80339" y="57569"/>
                  <a:pt x="80339" y="62508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5" name="Text 21"/>
          <p:cNvSpPr/>
          <p:nvPr/>
        </p:nvSpPr>
        <p:spPr>
          <a:xfrm>
            <a:off x="6516688" y="4092575"/>
            <a:ext cx="527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走廊绘制</a:t>
            </a:r>
            <a:endParaRPr lang="en-US" sz="1600" dirty="0"/>
          </a:p>
        </p:txBody>
      </p:sp>
      <p:sp>
        <p:nvSpPr>
          <p:cNvPr id="36" name="Shape 22"/>
          <p:cNvSpPr/>
          <p:nvPr/>
        </p:nvSpPr>
        <p:spPr>
          <a:xfrm>
            <a:off x="6350000" y="4410075"/>
            <a:ext cx="5365750" cy="2357438"/>
          </a:xfrm>
          <a:custGeom>
            <a:avLst/>
            <a:gdLst/>
            <a:ahLst/>
            <a:cxnLst/>
            <a:rect l="l" t="t" r="r" b="b"/>
            <a:pathLst>
              <a:path w="5365750" h="2357438">
                <a:moveTo>
                  <a:pt x="31750" y="0"/>
                </a:moveTo>
                <a:lnTo>
                  <a:pt x="5302241" y="0"/>
                </a:lnTo>
                <a:cubicBezTo>
                  <a:pt x="5337316" y="0"/>
                  <a:pt x="5365750" y="28434"/>
                  <a:pt x="5365750" y="63509"/>
                </a:cubicBezTo>
                <a:lnTo>
                  <a:pt x="5365750" y="2293928"/>
                </a:lnTo>
                <a:cubicBezTo>
                  <a:pt x="5365750" y="2329003"/>
                  <a:pt x="5337316" y="2357438"/>
                  <a:pt x="5302241" y="2357438"/>
                </a:cubicBezTo>
                <a:lnTo>
                  <a:pt x="31750" y="2357438"/>
                </a:lnTo>
                <a:cubicBezTo>
                  <a:pt x="14215" y="2357438"/>
                  <a:pt x="0" y="2343223"/>
                  <a:pt x="0" y="2325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7" name="Shape 23"/>
          <p:cNvSpPr/>
          <p:nvPr/>
        </p:nvSpPr>
        <p:spPr>
          <a:xfrm>
            <a:off x="6350000" y="4410075"/>
            <a:ext cx="31750" cy="2357438"/>
          </a:xfrm>
          <a:custGeom>
            <a:avLst/>
            <a:gdLst/>
            <a:ahLst/>
            <a:cxnLst/>
            <a:rect l="l" t="t" r="r" b="b"/>
            <a:pathLst>
              <a:path w="31750" h="2357438">
                <a:moveTo>
                  <a:pt x="31750" y="0"/>
                </a:moveTo>
                <a:lnTo>
                  <a:pt x="31750" y="0"/>
                </a:lnTo>
                <a:lnTo>
                  <a:pt x="31750" y="2357438"/>
                </a:lnTo>
                <a:lnTo>
                  <a:pt x="31750" y="2357438"/>
                </a:lnTo>
                <a:cubicBezTo>
                  <a:pt x="14227" y="2357438"/>
                  <a:pt x="0" y="2343211"/>
                  <a:pt x="0" y="2325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8" name="Text 24"/>
          <p:cNvSpPr/>
          <p:nvPr/>
        </p:nvSpPr>
        <p:spPr>
          <a:xfrm>
            <a:off x="6461125" y="4505325"/>
            <a:ext cx="5214938" cy="2166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void drawCorridor(World* world, Point p1, Point p2)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int x = p1.x, y = p1.y;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while (x != p2.x) {  // 先水平移动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world-&gt;tiles[y][x] = TILE_FLOOR;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x += (p2.x &gt; x) ? 1 : -1;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world-&gt;tiles[y][x] = TILE_FLOOR;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while (y != p2.y) {  // 再垂直移动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world-&gt;tiles[y][x] = TILE_FLOOR;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y += (p2.y &gt; y) ? 1 : -1;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world-&gt;tiles[y][x] = TILE_FLOOR;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2767" y="476673"/>
            <a:ext cx="524256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 总结与收获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6615" y="476635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16200000">
            <a:off x="11188028" y="3985668"/>
            <a:ext cx="922861" cy="2941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4161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9915" y="3924235"/>
            <a:ext cx="1639933" cy="1673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95" dirty="0">
                <a:solidFill>
                  <a:srgbClr val="F6FE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10-09-18:33:56-d3jov50s8jdo4os5dog0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20" y="5272859"/>
            <a:ext cx="174392" cy="483480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10-09-18:33:56-d3jov50s8jdo4os5dog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85" y="5679069"/>
            <a:ext cx="379068" cy="49598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10-09-18:33:56-d3jov50s8jdo4os5doh0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60" y="5679069"/>
            <a:ext cx="379068" cy="4959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10-09-18:33:56-d3jov50s8jdo4os5dohg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065" y="5518560"/>
            <a:ext cx="507072" cy="278253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10-09-18:33:56-d3jov50s8jdo4os5doi0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48" y="5518560"/>
            <a:ext cx="507072" cy="278253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10-09-18:33:56-d3jov50s8jdo4os5doig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70036" y="5680452"/>
            <a:ext cx="363368" cy="709768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10-09-18:33:56-d3jov50s8jdo4os5dojg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61547" y="6019463"/>
            <a:ext cx="1454143" cy="25397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616187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5"/>
          <p:cNvSpPr/>
          <p:nvPr/>
        </p:nvSpPr>
        <p:spPr>
          <a:xfrm>
            <a:off x="2616187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Shape 6"/>
          <p:cNvSpPr/>
          <p:nvPr/>
        </p:nvSpPr>
        <p:spPr>
          <a:xfrm>
            <a:off x="2616187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7"/>
          <p:cNvSpPr/>
          <p:nvPr/>
        </p:nvSpPr>
        <p:spPr>
          <a:xfrm>
            <a:off x="2806685" y="1473455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8"/>
          <p:cNvSpPr/>
          <p:nvPr/>
        </p:nvSpPr>
        <p:spPr>
          <a:xfrm>
            <a:off x="2990835" y="1657581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9"/>
          <p:cNvSpPr/>
          <p:nvPr/>
        </p:nvSpPr>
        <p:spPr>
          <a:xfrm>
            <a:off x="2990835" y="1282980"/>
            <a:ext cx="190499" cy="1904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0"/>
          <p:cNvSpPr/>
          <p:nvPr/>
        </p:nvSpPr>
        <p:spPr>
          <a:xfrm>
            <a:off x="2806685" y="1848056"/>
            <a:ext cx="184149" cy="18412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Shape 11"/>
          <p:cNvSpPr/>
          <p:nvPr/>
        </p:nvSpPr>
        <p:spPr>
          <a:xfrm>
            <a:off x="2990835" y="2032183"/>
            <a:ext cx="190499" cy="190475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21" name="Image 7" descr="https://kimi-img.moonshot.cn/pub/slides/slides_tmpl/image/25-10-09-18:33:56-d3jov50s8jdo4os5doj0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60828" y="495683"/>
            <a:ext cx="12700" cy="5904731"/>
          </a:xfrm>
          <a:prstGeom prst="rect">
            <a:avLst/>
          </a:prstGeom>
        </p:spPr>
      </p:pic>
      <p:pic>
        <p:nvPicPr>
          <p:cNvPr id="22" name="Image 8" descr="https://kimi-img.moonshot.cn/pub/slides/slides_tmpl/image/25-10-09-18:33:56-d3jov50s8jdo4os5dok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0368" y="4172344"/>
            <a:ext cx="2216348" cy="22160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项目核心成果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7" name="Shape 3"/>
          <p:cNvSpPr/>
          <p:nvPr/>
        </p:nvSpPr>
        <p:spPr>
          <a:xfrm>
            <a:off x="400050" y="13716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3716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6334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847725" y="15621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系统实现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609600" y="19431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成功实现基于</a:t>
            </a: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多种数据结构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的随机世界生成系统, 完整支持世界生成、房间连接、玩家交互等核心功能。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609600" y="2590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838200" y="2552700"/>
            <a:ext cx="1695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随机世界生成(基于种子)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609600" y="2933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838200" y="2895600"/>
            <a:ext cx="1704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房间自动连接(MST算法)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09600" y="3276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838200" y="32385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玩家移动与碰撞检测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400050" y="40005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9" name="Shape 15"/>
          <p:cNvSpPr/>
          <p:nvPr/>
        </p:nvSpPr>
        <p:spPr>
          <a:xfrm>
            <a:off x="40005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Shape 16"/>
          <p:cNvSpPr/>
          <p:nvPr/>
        </p:nvSpPr>
        <p:spPr>
          <a:xfrm>
            <a:off x="633413" y="4229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1" name="Text 17"/>
          <p:cNvSpPr/>
          <p:nvPr/>
        </p:nvSpPr>
        <p:spPr>
          <a:xfrm>
            <a:off x="847725" y="41910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数据结构实现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609600" y="45720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完整实现</a:t>
            </a: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图(邻接表)、并查集、队列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等核心数据结构,掌握其原理和应用场景。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609600" y="49720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838200" y="493395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邻接表表示房间连接关系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609600" y="53149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838200" y="5276850"/>
            <a:ext cx="2695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并查集管理连通性(路径压缩+按秩合并)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609600" y="56578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838200" y="5619750"/>
            <a:ext cx="1571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队列支持BFS路径查找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6210300" y="13716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0" name="Shape 26"/>
          <p:cNvSpPr/>
          <p:nvPr/>
        </p:nvSpPr>
        <p:spPr>
          <a:xfrm>
            <a:off x="6210300" y="13716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1" name="Shape 27"/>
          <p:cNvSpPr/>
          <p:nvPr/>
        </p:nvSpPr>
        <p:spPr>
          <a:xfrm>
            <a:off x="6419850" y="1600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2" name="Text 28"/>
          <p:cNvSpPr/>
          <p:nvPr/>
        </p:nvSpPr>
        <p:spPr>
          <a:xfrm>
            <a:off x="6657975" y="15621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算法掌握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6419850" y="19431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</a:t>
            </a: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Kruskal算法、BFS算法、LCG随机数生成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等经典算法,理解其原理和实现细节。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6419850" y="25908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6648451" y="2552700"/>
            <a:ext cx="2105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Kruskal MST算法(并查集优化)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6419850" y="29337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33"/>
          <p:cNvSpPr/>
          <p:nvPr/>
        </p:nvSpPr>
        <p:spPr>
          <a:xfrm>
            <a:off x="6648451" y="2895600"/>
            <a:ext cx="1971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BFS广度优先搜索(最短路径)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6419850" y="32766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6648451" y="32385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LCG线性同余随机数生成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6210300" y="40005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1" name="Shape 37"/>
          <p:cNvSpPr/>
          <p:nvPr/>
        </p:nvSpPr>
        <p:spPr>
          <a:xfrm>
            <a:off x="621030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2" name="Shape 38"/>
          <p:cNvSpPr/>
          <p:nvPr/>
        </p:nvSpPr>
        <p:spPr>
          <a:xfrm>
            <a:off x="6443663" y="4229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3" name="Text 39"/>
          <p:cNvSpPr/>
          <p:nvPr/>
        </p:nvSpPr>
        <p:spPr>
          <a:xfrm>
            <a:off x="6657975" y="41910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54" name="Text 40"/>
          <p:cNvSpPr/>
          <p:nvPr/>
        </p:nvSpPr>
        <p:spPr>
          <a:xfrm>
            <a:off x="6419850" y="45720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</a:t>
            </a: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接口与实现分离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的模块化设计,掌握.h/.c文件组织和多文件编译。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6419850" y="49720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648451" y="4933950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接口文件byow.h(常量、数据结构、函数声明)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6419850" y="53149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6648451" y="5276850"/>
            <a:ext cx="2638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实现文件byow.c(函数实现、算法逻辑)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6419850" y="565785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Text 46"/>
          <p:cNvSpPr/>
          <p:nvPr/>
        </p:nvSpPr>
        <p:spPr>
          <a:xfrm>
            <a:off x="6648451" y="5619750"/>
            <a:ext cx="2305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主程序main.c(游戏入口、主循环)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52116" y="352116"/>
            <a:ext cx="11549389" cy="1760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kern="0" spc="97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52116" y="598596"/>
            <a:ext cx="11646221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数据结构学习收获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52116" y="1056347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</p:spPr>
      </p:sp>
      <p:sp>
        <p:nvSpPr>
          <p:cNvPr id="17" name="Shape 3"/>
          <p:cNvSpPr/>
          <p:nvPr/>
        </p:nvSpPr>
        <p:spPr>
          <a:xfrm>
            <a:off x="369721" y="1267616"/>
            <a:ext cx="5651454" cy="2015861"/>
          </a:xfrm>
          <a:custGeom>
            <a:avLst/>
            <a:gdLst/>
            <a:ahLst/>
            <a:cxnLst/>
            <a:rect l="l" t="t" r="r" b="b"/>
            <a:pathLst>
              <a:path w="5651454" h="2015861">
                <a:moveTo>
                  <a:pt x="35212" y="0"/>
                </a:moveTo>
                <a:lnTo>
                  <a:pt x="5581040" y="0"/>
                </a:lnTo>
                <a:cubicBezTo>
                  <a:pt x="5619929" y="0"/>
                  <a:pt x="5651454" y="31525"/>
                  <a:pt x="5651454" y="70414"/>
                </a:cubicBezTo>
                <a:lnTo>
                  <a:pt x="5651454" y="1945447"/>
                </a:lnTo>
                <a:cubicBezTo>
                  <a:pt x="5651454" y="1984336"/>
                  <a:pt x="5619929" y="2015861"/>
                  <a:pt x="5581040" y="2015861"/>
                </a:cubicBez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69721" y="1267616"/>
            <a:ext cx="35212" cy="2015861"/>
          </a:xfrm>
          <a:custGeom>
            <a:avLst/>
            <a:gdLst/>
            <a:ahLst/>
            <a:cxnLst/>
            <a:rect l="l" t="t" r="r" b="b"/>
            <a:pathLst>
              <a:path w="35212" h="2015861">
                <a:moveTo>
                  <a:pt x="35212" y="0"/>
                </a:moveTo>
                <a:lnTo>
                  <a:pt x="35212" y="0"/>
                </a:lnTo>
                <a:lnTo>
                  <a:pt x="35212" y="2015861"/>
                </a:ln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585392" y="1478885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41264" y="19256"/>
                </a:moveTo>
                <a:cubicBezTo>
                  <a:pt x="41264" y="8631"/>
                  <a:pt x="49894" y="0"/>
                  <a:pt x="60520" y="0"/>
                </a:cubicBezTo>
                <a:lnTo>
                  <a:pt x="68773" y="0"/>
                </a:lnTo>
                <a:cubicBezTo>
                  <a:pt x="74859" y="0"/>
                  <a:pt x="79776" y="4917"/>
                  <a:pt x="79776" y="11004"/>
                </a:cubicBezTo>
                <a:lnTo>
                  <a:pt x="79776" y="165054"/>
                </a:lnTo>
                <a:cubicBezTo>
                  <a:pt x="79776" y="171141"/>
                  <a:pt x="74859" y="176058"/>
                  <a:pt x="68773" y="176058"/>
                </a:cubicBezTo>
                <a:lnTo>
                  <a:pt x="57769" y="176058"/>
                </a:lnTo>
                <a:cubicBezTo>
                  <a:pt x="47522" y="176058"/>
                  <a:pt x="38891" y="169043"/>
                  <a:pt x="36449" y="159552"/>
                </a:cubicBezTo>
                <a:cubicBezTo>
                  <a:pt x="36209" y="159552"/>
                  <a:pt x="36002" y="159552"/>
                  <a:pt x="35762" y="159552"/>
                </a:cubicBezTo>
                <a:cubicBezTo>
                  <a:pt x="20563" y="159552"/>
                  <a:pt x="8253" y="147242"/>
                  <a:pt x="8253" y="132043"/>
                </a:cubicBezTo>
                <a:cubicBezTo>
                  <a:pt x="8253" y="125854"/>
                  <a:pt x="10316" y="120146"/>
                  <a:pt x="13755" y="115538"/>
                </a:cubicBezTo>
                <a:cubicBezTo>
                  <a:pt x="7084" y="110518"/>
                  <a:pt x="2751" y="102540"/>
                  <a:pt x="2751" y="93531"/>
                </a:cubicBezTo>
                <a:cubicBezTo>
                  <a:pt x="2751" y="82905"/>
                  <a:pt x="8803" y="73655"/>
                  <a:pt x="17606" y="69082"/>
                </a:cubicBezTo>
                <a:cubicBezTo>
                  <a:pt x="15164" y="64956"/>
                  <a:pt x="13755" y="60142"/>
                  <a:pt x="13755" y="55018"/>
                </a:cubicBezTo>
                <a:cubicBezTo>
                  <a:pt x="13755" y="39819"/>
                  <a:pt x="26065" y="27509"/>
                  <a:pt x="41264" y="27509"/>
                </a:cubicBezTo>
                <a:lnTo>
                  <a:pt x="41264" y="19256"/>
                </a:lnTo>
                <a:close/>
                <a:moveTo>
                  <a:pt x="134794" y="19256"/>
                </a:moveTo>
                <a:lnTo>
                  <a:pt x="134794" y="27509"/>
                </a:lnTo>
                <a:cubicBezTo>
                  <a:pt x="149993" y="27509"/>
                  <a:pt x="162303" y="39819"/>
                  <a:pt x="162303" y="55018"/>
                </a:cubicBezTo>
                <a:cubicBezTo>
                  <a:pt x="162303" y="60176"/>
                  <a:pt x="160893" y="64990"/>
                  <a:pt x="158452" y="69082"/>
                </a:cubicBezTo>
                <a:cubicBezTo>
                  <a:pt x="167289" y="73655"/>
                  <a:pt x="173307" y="82871"/>
                  <a:pt x="173307" y="93531"/>
                </a:cubicBezTo>
                <a:cubicBezTo>
                  <a:pt x="173307" y="102540"/>
                  <a:pt x="168974" y="110518"/>
                  <a:pt x="162303" y="115538"/>
                </a:cubicBezTo>
                <a:cubicBezTo>
                  <a:pt x="165742" y="120146"/>
                  <a:pt x="167805" y="125854"/>
                  <a:pt x="167805" y="132043"/>
                </a:cubicBezTo>
                <a:cubicBezTo>
                  <a:pt x="167805" y="147242"/>
                  <a:pt x="155495" y="159552"/>
                  <a:pt x="140296" y="159552"/>
                </a:cubicBezTo>
                <a:cubicBezTo>
                  <a:pt x="140055" y="159552"/>
                  <a:pt x="139849" y="159552"/>
                  <a:pt x="139608" y="159552"/>
                </a:cubicBezTo>
                <a:cubicBezTo>
                  <a:pt x="137167" y="169043"/>
                  <a:pt x="128536" y="176058"/>
                  <a:pt x="118289" y="176058"/>
                </a:cubicBezTo>
                <a:lnTo>
                  <a:pt x="107285" y="176058"/>
                </a:lnTo>
                <a:cubicBezTo>
                  <a:pt x="101199" y="176058"/>
                  <a:pt x="96282" y="171141"/>
                  <a:pt x="96282" y="165054"/>
                </a:cubicBezTo>
                <a:lnTo>
                  <a:pt x="96282" y="11004"/>
                </a:lnTo>
                <a:cubicBezTo>
                  <a:pt x="96282" y="4917"/>
                  <a:pt x="101199" y="0"/>
                  <a:pt x="107285" y="0"/>
                </a:cubicBezTo>
                <a:lnTo>
                  <a:pt x="115538" y="0"/>
                </a:lnTo>
                <a:cubicBezTo>
                  <a:pt x="126163" y="0"/>
                  <a:pt x="134794" y="8631"/>
                  <a:pt x="134794" y="19256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783457" y="1443674"/>
            <a:ext cx="5149690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深入理解数据结构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563385" y="1795789"/>
            <a:ext cx="5352156" cy="228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通过实际项目应用,深入理解</a:t>
            </a:r>
            <a:r>
              <a:rPr lang="en-US" sz="111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图、并查集、队列</a:t>
            </a: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等数据结构的原理和应用场景。</a:t>
            </a:r>
            <a:endParaRPr lang="en-US" sz="1600" dirty="0"/>
          </a:p>
        </p:txBody>
      </p:sp>
      <p:sp>
        <p:nvSpPr>
          <p:cNvPr id="22" name="Text 8"/>
          <p:cNvSpPr/>
          <p:nvPr/>
        </p:nvSpPr>
        <p:spPr>
          <a:xfrm>
            <a:off x="563385" y="2165510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751547" y="2130299"/>
            <a:ext cx="1839804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图结构: 邻接表的实现与遍历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563385" y="2482414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Text 11"/>
          <p:cNvSpPr/>
          <p:nvPr/>
        </p:nvSpPr>
        <p:spPr>
          <a:xfrm>
            <a:off x="751547" y="2447203"/>
            <a:ext cx="2121496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并查集: 路径压缩与按秩合并优化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563385" y="2799318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751547" y="2764107"/>
            <a:ext cx="1672549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队列: 链表实现与BFS应用</a:t>
            </a:r>
            <a:endParaRPr lang="en-US" sz="1600" dirty="0"/>
          </a:p>
        </p:txBody>
      </p:sp>
      <p:sp>
        <p:nvSpPr>
          <p:cNvPr id="28" name="Shape 14"/>
          <p:cNvSpPr/>
          <p:nvPr/>
        </p:nvSpPr>
        <p:spPr>
          <a:xfrm>
            <a:off x="6183479" y="1267616"/>
            <a:ext cx="5651454" cy="2015861"/>
          </a:xfrm>
          <a:custGeom>
            <a:avLst/>
            <a:gdLst/>
            <a:ahLst/>
            <a:cxnLst/>
            <a:rect l="l" t="t" r="r" b="b"/>
            <a:pathLst>
              <a:path w="5651454" h="2015861">
                <a:moveTo>
                  <a:pt x="35212" y="0"/>
                </a:moveTo>
                <a:lnTo>
                  <a:pt x="5581040" y="0"/>
                </a:lnTo>
                <a:cubicBezTo>
                  <a:pt x="5619929" y="0"/>
                  <a:pt x="5651454" y="31525"/>
                  <a:pt x="5651454" y="70414"/>
                </a:cubicBezTo>
                <a:lnTo>
                  <a:pt x="5651454" y="1945447"/>
                </a:lnTo>
                <a:cubicBezTo>
                  <a:pt x="5651454" y="1984336"/>
                  <a:pt x="5619929" y="2015861"/>
                  <a:pt x="5581040" y="2015861"/>
                </a:cubicBez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9" name="Shape 15"/>
          <p:cNvSpPr/>
          <p:nvPr/>
        </p:nvSpPr>
        <p:spPr>
          <a:xfrm>
            <a:off x="6183479" y="1267616"/>
            <a:ext cx="35212" cy="2015861"/>
          </a:xfrm>
          <a:custGeom>
            <a:avLst/>
            <a:gdLst/>
            <a:ahLst/>
            <a:cxnLst/>
            <a:rect l="l" t="t" r="r" b="b"/>
            <a:pathLst>
              <a:path w="35212" h="2015861">
                <a:moveTo>
                  <a:pt x="35212" y="0"/>
                </a:moveTo>
                <a:lnTo>
                  <a:pt x="35212" y="0"/>
                </a:lnTo>
                <a:lnTo>
                  <a:pt x="35212" y="2015861"/>
                </a:ln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0" name="Shape 16"/>
          <p:cNvSpPr/>
          <p:nvPr/>
        </p:nvSpPr>
        <p:spPr>
          <a:xfrm>
            <a:off x="6421157" y="1478885"/>
            <a:ext cx="132043" cy="176058"/>
          </a:xfrm>
          <a:custGeom>
            <a:avLst/>
            <a:gdLst/>
            <a:ahLst/>
            <a:cxnLst/>
            <a:rect l="l" t="t" r="r" b="b"/>
            <a:pathLst>
              <a:path w="132043" h="176058">
                <a:moveTo>
                  <a:pt x="100717" y="132043"/>
                </a:moveTo>
                <a:cubicBezTo>
                  <a:pt x="103228" y="124375"/>
                  <a:pt x="108248" y="117429"/>
                  <a:pt x="113922" y="111446"/>
                </a:cubicBezTo>
                <a:cubicBezTo>
                  <a:pt x="125166" y="99617"/>
                  <a:pt x="132043" y="83627"/>
                  <a:pt x="132043" y="66022"/>
                </a:cubicBezTo>
                <a:cubicBezTo>
                  <a:pt x="132043" y="29572"/>
                  <a:pt x="102471" y="0"/>
                  <a:pt x="66022" y="0"/>
                </a:cubicBezTo>
                <a:cubicBezTo>
                  <a:pt x="29572" y="0"/>
                  <a:pt x="0" y="29572"/>
                  <a:pt x="0" y="66022"/>
                </a:cubicBezTo>
                <a:cubicBezTo>
                  <a:pt x="0" y="83627"/>
                  <a:pt x="6877" y="99617"/>
                  <a:pt x="18122" y="111446"/>
                </a:cubicBezTo>
                <a:cubicBezTo>
                  <a:pt x="23795" y="117429"/>
                  <a:pt x="28850" y="124375"/>
                  <a:pt x="31326" y="132043"/>
                </a:cubicBezTo>
                <a:lnTo>
                  <a:pt x="100683" y="132043"/>
                </a:lnTo>
                <a:close/>
                <a:moveTo>
                  <a:pt x="99032" y="148549"/>
                </a:moveTo>
                <a:lnTo>
                  <a:pt x="33011" y="148549"/>
                </a:lnTo>
                <a:lnTo>
                  <a:pt x="33011" y="154051"/>
                </a:lnTo>
                <a:cubicBezTo>
                  <a:pt x="33011" y="169249"/>
                  <a:pt x="45321" y="181560"/>
                  <a:pt x="60520" y="181560"/>
                </a:cubicBezTo>
                <a:lnTo>
                  <a:pt x="71523" y="181560"/>
                </a:lnTo>
                <a:cubicBezTo>
                  <a:pt x="86722" y="181560"/>
                  <a:pt x="99032" y="169249"/>
                  <a:pt x="99032" y="154051"/>
                </a:cubicBezTo>
                <a:lnTo>
                  <a:pt x="99032" y="148549"/>
                </a:lnTo>
                <a:close/>
                <a:moveTo>
                  <a:pt x="63271" y="38513"/>
                </a:moveTo>
                <a:cubicBezTo>
                  <a:pt x="49585" y="38513"/>
                  <a:pt x="38513" y="49585"/>
                  <a:pt x="38513" y="63271"/>
                </a:cubicBezTo>
                <a:cubicBezTo>
                  <a:pt x="38513" y="67844"/>
                  <a:pt x="34833" y="71523"/>
                  <a:pt x="30260" y="71523"/>
                </a:cubicBezTo>
                <a:cubicBezTo>
                  <a:pt x="25687" y="71523"/>
                  <a:pt x="22007" y="67844"/>
                  <a:pt x="22007" y="63271"/>
                </a:cubicBezTo>
                <a:cubicBezTo>
                  <a:pt x="22007" y="40473"/>
                  <a:pt x="40473" y="22007"/>
                  <a:pt x="63271" y="22007"/>
                </a:cubicBezTo>
                <a:cubicBezTo>
                  <a:pt x="67844" y="22007"/>
                  <a:pt x="71523" y="25687"/>
                  <a:pt x="71523" y="30260"/>
                </a:cubicBezTo>
                <a:cubicBezTo>
                  <a:pt x="71523" y="34833"/>
                  <a:pt x="67844" y="38513"/>
                  <a:pt x="63271" y="38513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1" name="Text 17"/>
          <p:cNvSpPr/>
          <p:nvPr/>
        </p:nvSpPr>
        <p:spPr>
          <a:xfrm>
            <a:off x="6597215" y="1443674"/>
            <a:ext cx="5149690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需求驱动的选择方法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6377143" y="1795789"/>
            <a:ext cx="5352156" cy="228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掌握从</a:t>
            </a:r>
            <a:r>
              <a:rPr lang="en-US" sz="111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需求出发</a:t>
            </a: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选择合适数据结构的方法,根据问题特征选择最优方案。</a:t>
            </a:r>
            <a:endParaRPr lang="en-US" sz="1600" dirty="0"/>
          </a:p>
        </p:txBody>
      </p:sp>
      <p:sp>
        <p:nvSpPr>
          <p:cNvPr id="33" name="Text 19"/>
          <p:cNvSpPr/>
          <p:nvPr/>
        </p:nvSpPr>
        <p:spPr>
          <a:xfrm>
            <a:off x="6377143" y="2165510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6565305" y="2130299"/>
            <a:ext cx="161973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分析问题特征和核心需求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6377143" y="2482414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22"/>
          <p:cNvSpPr/>
          <p:nvPr/>
        </p:nvSpPr>
        <p:spPr>
          <a:xfrm>
            <a:off x="6565305" y="2447203"/>
            <a:ext cx="1338039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评估候选方案的优劣</a:t>
            </a:r>
            <a:endParaRPr lang="en-US" sz="1600" dirty="0"/>
          </a:p>
        </p:txBody>
      </p:sp>
      <p:sp>
        <p:nvSpPr>
          <p:cNvPr id="37" name="Text 23"/>
          <p:cNvSpPr/>
          <p:nvPr/>
        </p:nvSpPr>
        <p:spPr>
          <a:xfrm>
            <a:off x="6377143" y="2799318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6565305" y="2764107"/>
            <a:ext cx="1672549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考虑时间/空间复杂度权衡</a:t>
            </a:r>
            <a:endParaRPr lang="en-US" sz="1600" dirty="0"/>
          </a:p>
        </p:txBody>
      </p:sp>
      <p:sp>
        <p:nvSpPr>
          <p:cNvPr id="39" name="Shape 25"/>
          <p:cNvSpPr/>
          <p:nvPr/>
        </p:nvSpPr>
        <p:spPr>
          <a:xfrm>
            <a:off x="369721" y="3421899"/>
            <a:ext cx="5651454" cy="2015861"/>
          </a:xfrm>
          <a:custGeom>
            <a:avLst/>
            <a:gdLst/>
            <a:ahLst/>
            <a:cxnLst/>
            <a:rect l="l" t="t" r="r" b="b"/>
            <a:pathLst>
              <a:path w="5651454" h="2015861">
                <a:moveTo>
                  <a:pt x="35212" y="0"/>
                </a:moveTo>
                <a:lnTo>
                  <a:pt x="5581040" y="0"/>
                </a:lnTo>
                <a:cubicBezTo>
                  <a:pt x="5619929" y="0"/>
                  <a:pt x="5651454" y="31525"/>
                  <a:pt x="5651454" y="70414"/>
                </a:cubicBezTo>
                <a:lnTo>
                  <a:pt x="5651454" y="1945447"/>
                </a:lnTo>
                <a:cubicBezTo>
                  <a:pt x="5651454" y="1984336"/>
                  <a:pt x="5619929" y="2015861"/>
                  <a:pt x="5581040" y="2015861"/>
                </a:cubicBez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40" name="Shape 26"/>
          <p:cNvSpPr/>
          <p:nvPr/>
        </p:nvSpPr>
        <p:spPr>
          <a:xfrm>
            <a:off x="369721" y="3421899"/>
            <a:ext cx="35212" cy="2015861"/>
          </a:xfrm>
          <a:custGeom>
            <a:avLst/>
            <a:gdLst/>
            <a:ahLst/>
            <a:cxnLst/>
            <a:rect l="l" t="t" r="r" b="b"/>
            <a:pathLst>
              <a:path w="35212" h="2015861">
                <a:moveTo>
                  <a:pt x="35212" y="0"/>
                </a:moveTo>
                <a:lnTo>
                  <a:pt x="35212" y="0"/>
                </a:lnTo>
                <a:lnTo>
                  <a:pt x="35212" y="2015861"/>
                </a:ln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1" name="Shape 27"/>
          <p:cNvSpPr/>
          <p:nvPr/>
        </p:nvSpPr>
        <p:spPr>
          <a:xfrm>
            <a:off x="585392" y="3633169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77025" y="0"/>
                </a:moveTo>
                <a:cubicBezTo>
                  <a:pt x="89164" y="0"/>
                  <a:pt x="99032" y="7393"/>
                  <a:pt x="99032" y="16505"/>
                </a:cubicBezTo>
                <a:cubicBezTo>
                  <a:pt x="99032" y="20082"/>
                  <a:pt x="97519" y="23383"/>
                  <a:pt x="94906" y="26099"/>
                </a:cubicBezTo>
                <a:cubicBezTo>
                  <a:pt x="92637" y="28472"/>
                  <a:pt x="90780" y="31360"/>
                  <a:pt x="90780" y="34661"/>
                </a:cubicBezTo>
                <a:cubicBezTo>
                  <a:pt x="90780" y="39819"/>
                  <a:pt x="94975" y="44014"/>
                  <a:pt x="100133" y="44014"/>
                </a:cubicBezTo>
                <a:lnTo>
                  <a:pt x="115538" y="44014"/>
                </a:lnTo>
                <a:cubicBezTo>
                  <a:pt x="124650" y="44014"/>
                  <a:pt x="132043" y="51407"/>
                  <a:pt x="132043" y="60520"/>
                </a:cubicBezTo>
                <a:lnTo>
                  <a:pt x="132043" y="75925"/>
                </a:lnTo>
                <a:cubicBezTo>
                  <a:pt x="132043" y="81083"/>
                  <a:pt x="136238" y="85278"/>
                  <a:pt x="141396" y="85278"/>
                </a:cubicBezTo>
                <a:cubicBezTo>
                  <a:pt x="144663" y="85278"/>
                  <a:pt x="147586" y="83421"/>
                  <a:pt x="149959" y="81152"/>
                </a:cubicBezTo>
                <a:cubicBezTo>
                  <a:pt x="152675" y="78573"/>
                  <a:pt x="155976" y="77025"/>
                  <a:pt x="159552" y="77025"/>
                </a:cubicBezTo>
                <a:cubicBezTo>
                  <a:pt x="168665" y="77025"/>
                  <a:pt x="176058" y="86894"/>
                  <a:pt x="176058" y="99032"/>
                </a:cubicBezTo>
                <a:cubicBezTo>
                  <a:pt x="176058" y="111171"/>
                  <a:pt x="168665" y="121040"/>
                  <a:pt x="159552" y="121040"/>
                </a:cubicBezTo>
                <a:cubicBezTo>
                  <a:pt x="155976" y="121040"/>
                  <a:pt x="152641" y="119527"/>
                  <a:pt x="149959" y="116913"/>
                </a:cubicBezTo>
                <a:cubicBezTo>
                  <a:pt x="147586" y="114644"/>
                  <a:pt x="144697" y="112787"/>
                  <a:pt x="141396" y="112787"/>
                </a:cubicBezTo>
                <a:cubicBezTo>
                  <a:pt x="136238" y="112787"/>
                  <a:pt x="132043" y="116982"/>
                  <a:pt x="132043" y="122140"/>
                </a:cubicBezTo>
                <a:lnTo>
                  <a:pt x="132043" y="159552"/>
                </a:lnTo>
                <a:cubicBezTo>
                  <a:pt x="132043" y="168665"/>
                  <a:pt x="124650" y="176058"/>
                  <a:pt x="115538" y="176058"/>
                </a:cubicBezTo>
                <a:lnTo>
                  <a:pt x="96006" y="176058"/>
                </a:lnTo>
                <a:cubicBezTo>
                  <a:pt x="91605" y="176058"/>
                  <a:pt x="88029" y="172482"/>
                  <a:pt x="88029" y="168080"/>
                </a:cubicBezTo>
                <a:cubicBezTo>
                  <a:pt x="88029" y="164917"/>
                  <a:pt x="90023" y="162131"/>
                  <a:pt x="92568" y="160240"/>
                </a:cubicBezTo>
                <a:cubicBezTo>
                  <a:pt x="96557" y="157248"/>
                  <a:pt x="99032" y="153122"/>
                  <a:pt x="99032" y="148549"/>
                </a:cubicBezTo>
                <a:cubicBezTo>
                  <a:pt x="99032" y="139436"/>
                  <a:pt x="89164" y="132043"/>
                  <a:pt x="77025" y="132043"/>
                </a:cubicBezTo>
                <a:cubicBezTo>
                  <a:pt x="64887" y="132043"/>
                  <a:pt x="55018" y="139436"/>
                  <a:pt x="55018" y="148549"/>
                </a:cubicBezTo>
                <a:cubicBezTo>
                  <a:pt x="55018" y="153122"/>
                  <a:pt x="57494" y="157248"/>
                  <a:pt x="61483" y="160240"/>
                </a:cubicBezTo>
                <a:cubicBezTo>
                  <a:pt x="64027" y="162131"/>
                  <a:pt x="66022" y="164882"/>
                  <a:pt x="66022" y="168080"/>
                </a:cubicBezTo>
                <a:cubicBezTo>
                  <a:pt x="66022" y="172482"/>
                  <a:pt x="62445" y="176058"/>
                  <a:pt x="58044" y="176058"/>
                </a:cubicBezTo>
                <a:lnTo>
                  <a:pt x="16505" y="176058"/>
                </a:lnTo>
                <a:cubicBezTo>
                  <a:pt x="7393" y="176058"/>
                  <a:pt x="0" y="168665"/>
                  <a:pt x="0" y="159552"/>
                </a:cubicBezTo>
                <a:lnTo>
                  <a:pt x="0" y="118014"/>
                </a:lnTo>
                <a:cubicBezTo>
                  <a:pt x="0" y="113612"/>
                  <a:pt x="3576" y="110036"/>
                  <a:pt x="7978" y="110036"/>
                </a:cubicBezTo>
                <a:cubicBezTo>
                  <a:pt x="11141" y="110036"/>
                  <a:pt x="13926" y="112031"/>
                  <a:pt x="15818" y="114575"/>
                </a:cubicBezTo>
                <a:cubicBezTo>
                  <a:pt x="18809" y="118564"/>
                  <a:pt x="22936" y="121040"/>
                  <a:pt x="27509" y="121040"/>
                </a:cubicBezTo>
                <a:cubicBezTo>
                  <a:pt x="36621" y="121040"/>
                  <a:pt x="44014" y="111171"/>
                  <a:pt x="44014" y="99032"/>
                </a:cubicBezTo>
                <a:cubicBezTo>
                  <a:pt x="44014" y="86894"/>
                  <a:pt x="36621" y="77025"/>
                  <a:pt x="27509" y="77025"/>
                </a:cubicBezTo>
                <a:cubicBezTo>
                  <a:pt x="22936" y="77025"/>
                  <a:pt x="18809" y="79501"/>
                  <a:pt x="15818" y="83490"/>
                </a:cubicBezTo>
                <a:cubicBezTo>
                  <a:pt x="13926" y="86034"/>
                  <a:pt x="11176" y="88029"/>
                  <a:pt x="7978" y="88029"/>
                </a:cubicBezTo>
                <a:cubicBezTo>
                  <a:pt x="3576" y="88029"/>
                  <a:pt x="0" y="84453"/>
                  <a:pt x="0" y="80051"/>
                </a:cubicBezTo>
                <a:lnTo>
                  <a:pt x="0" y="60520"/>
                </a:lnTo>
                <a:cubicBezTo>
                  <a:pt x="0" y="51407"/>
                  <a:pt x="7393" y="44014"/>
                  <a:pt x="16505" y="44014"/>
                </a:cubicBezTo>
                <a:lnTo>
                  <a:pt x="53918" y="44014"/>
                </a:lnTo>
                <a:cubicBezTo>
                  <a:pt x="59076" y="44014"/>
                  <a:pt x="63271" y="39819"/>
                  <a:pt x="63271" y="34661"/>
                </a:cubicBezTo>
                <a:cubicBezTo>
                  <a:pt x="63271" y="31395"/>
                  <a:pt x="61414" y="28472"/>
                  <a:pt x="59144" y="26099"/>
                </a:cubicBezTo>
                <a:cubicBezTo>
                  <a:pt x="56565" y="23383"/>
                  <a:pt x="55018" y="20082"/>
                  <a:pt x="55018" y="16505"/>
                </a:cubicBezTo>
                <a:cubicBezTo>
                  <a:pt x="55018" y="7393"/>
                  <a:pt x="64887" y="0"/>
                  <a:pt x="77025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2" name="Text 28"/>
          <p:cNvSpPr/>
          <p:nvPr/>
        </p:nvSpPr>
        <p:spPr>
          <a:xfrm>
            <a:off x="783457" y="3597957"/>
            <a:ext cx="5149690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组合使用多种数据结构</a:t>
            </a:r>
            <a:endParaRPr lang="en-US" sz="1600" dirty="0"/>
          </a:p>
        </p:txBody>
      </p:sp>
      <p:sp>
        <p:nvSpPr>
          <p:cNvPr id="43" name="Text 29"/>
          <p:cNvSpPr/>
          <p:nvPr/>
        </p:nvSpPr>
        <p:spPr>
          <a:xfrm>
            <a:off x="563385" y="3950073"/>
            <a:ext cx="5352156" cy="228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学会</a:t>
            </a:r>
            <a:r>
              <a:rPr lang="en-US" sz="111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组合使用多种数据结构</a:t>
            </a: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解决复杂问题,理解不同数据结构的分工与协作。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563385" y="4319794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751547" y="4284582"/>
            <a:ext cx="1135573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图: 表示连接关系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563385" y="4636698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7" name="Text 33"/>
          <p:cNvSpPr/>
          <p:nvPr/>
        </p:nvSpPr>
        <p:spPr>
          <a:xfrm>
            <a:off x="751547" y="4601486"/>
            <a:ext cx="155811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并查集: 高效检查连通性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563385" y="4953602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9" name="Text 35"/>
          <p:cNvSpPr/>
          <p:nvPr/>
        </p:nvSpPr>
        <p:spPr>
          <a:xfrm>
            <a:off x="751547" y="4918390"/>
            <a:ext cx="1531703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队列: 支持BFS路径查找</a:t>
            </a:r>
            <a:endParaRPr lang="en-US" sz="1600" dirty="0"/>
          </a:p>
        </p:txBody>
      </p:sp>
      <p:sp>
        <p:nvSpPr>
          <p:cNvPr id="50" name="Shape 36"/>
          <p:cNvSpPr/>
          <p:nvPr/>
        </p:nvSpPr>
        <p:spPr>
          <a:xfrm>
            <a:off x="6183479" y="3421899"/>
            <a:ext cx="5651454" cy="2015861"/>
          </a:xfrm>
          <a:custGeom>
            <a:avLst/>
            <a:gdLst/>
            <a:ahLst/>
            <a:cxnLst/>
            <a:rect l="l" t="t" r="r" b="b"/>
            <a:pathLst>
              <a:path w="5651454" h="2015861">
                <a:moveTo>
                  <a:pt x="35212" y="0"/>
                </a:moveTo>
                <a:lnTo>
                  <a:pt x="5581040" y="0"/>
                </a:lnTo>
                <a:cubicBezTo>
                  <a:pt x="5619929" y="0"/>
                  <a:pt x="5651454" y="31525"/>
                  <a:pt x="5651454" y="70414"/>
                </a:cubicBezTo>
                <a:lnTo>
                  <a:pt x="5651454" y="1945447"/>
                </a:lnTo>
                <a:cubicBezTo>
                  <a:pt x="5651454" y="1984336"/>
                  <a:pt x="5619929" y="2015861"/>
                  <a:pt x="5581040" y="2015861"/>
                </a:cubicBez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1" name="Shape 37"/>
          <p:cNvSpPr/>
          <p:nvPr/>
        </p:nvSpPr>
        <p:spPr>
          <a:xfrm>
            <a:off x="6183479" y="3421899"/>
            <a:ext cx="35212" cy="2015861"/>
          </a:xfrm>
          <a:custGeom>
            <a:avLst/>
            <a:gdLst/>
            <a:ahLst/>
            <a:cxnLst/>
            <a:rect l="l" t="t" r="r" b="b"/>
            <a:pathLst>
              <a:path w="35212" h="2015861">
                <a:moveTo>
                  <a:pt x="35212" y="0"/>
                </a:moveTo>
                <a:lnTo>
                  <a:pt x="35212" y="0"/>
                </a:lnTo>
                <a:lnTo>
                  <a:pt x="35212" y="2015861"/>
                </a:lnTo>
                <a:lnTo>
                  <a:pt x="35212" y="2015861"/>
                </a:lnTo>
                <a:cubicBezTo>
                  <a:pt x="15765" y="2015861"/>
                  <a:pt x="0" y="2000097"/>
                  <a:pt x="0" y="1980650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52" name="Shape 38"/>
          <p:cNvSpPr/>
          <p:nvPr/>
        </p:nvSpPr>
        <p:spPr>
          <a:xfrm>
            <a:off x="6399150" y="3633169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22007" y="22007"/>
                </a:moveTo>
                <a:cubicBezTo>
                  <a:pt x="22007" y="15921"/>
                  <a:pt x="17090" y="11004"/>
                  <a:pt x="11004" y="11004"/>
                </a:cubicBezTo>
                <a:cubicBezTo>
                  <a:pt x="4917" y="11004"/>
                  <a:pt x="0" y="15921"/>
                  <a:pt x="0" y="22007"/>
                </a:cubicBezTo>
                <a:lnTo>
                  <a:pt x="0" y="137545"/>
                </a:lnTo>
                <a:cubicBezTo>
                  <a:pt x="0" y="152744"/>
                  <a:pt x="12310" y="165054"/>
                  <a:pt x="27509" y="165054"/>
                </a:cubicBezTo>
                <a:lnTo>
                  <a:pt x="165054" y="165054"/>
                </a:lnTo>
                <a:cubicBezTo>
                  <a:pt x="171141" y="165054"/>
                  <a:pt x="176058" y="160137"/>
                  <a:pt x="176058" y="154051"/>
                </a:cubicBezTo>
                <a:cubicBezTo>
                  <a:pt x="176058" y="147964"/>
                  <a:pt x="171141" y="143047"/>
                  <a:pt x="165054" y="143047"/>
                </a:cubicBezTo>
                <a:lnTo>
                  <a:pt x="27509" y="143047"/>
                </a:lnTo>
                <a:cubicBezTo>
                  <a:pt x="24483" y="143047"/>
                  <a:pt x="22007" y="140571"/>
                  <a:pt x="22007" y="137545"/>
                </a:cubicBezTo>
                <a:lnTo>
                  <a:pt x="22007" y="22007"/>
                </a:lnTo>
                <a:close/>
                <a:moveTo>
                  <a:pt x="161822" y="51786"/>
                </a:moveTo>
                <a:cubicBezTo>
                  <a:pt x="166120" y="47487"/>
                  <a:pt x="166120" y="40507"/>
                  <a:pt x="161822" y="36209"/>
                </a:cubicBezTo>
                <a:cubicBezTo>
                  <a:pt x="157524" y="31910"/>
                  <a:pt x="150543" y="31910"/>
                  <a:pt x="146245" y="36209"/>
                </a:cubicBezTo>
                <a:lnTo>
                  <a:pt x="110036" y="72452"/>
                </a:lnTo>
                <a:lnTo>
                  <a:pt x="90298" y="52749"/>
                </a:lnTo>
                <a:cubicBezTo>
                  <a:pt x="86000" y="48450"/>
                  <a:pt x="79020" y="48450"/>
                  <a:pt x="74721" y="52749"/>
                </a:cubicBezTo>
                <a:lnTo>
                  <a:pt x="41711" y="85759"/>
                </a:lnTo>
                <a:cubicBezTo>
                  <a:pt x="37412" y="90058"/>
                  <a:pt x="37412" y="97038"/>
                  <a:pt x="41711" y="101336"/>
                </a:cubicBezTo>
                <a:cubicBezTo>
                  <a:pt x="46009" y="105635"/>
                  <a:pt x="52989" y="105635"/>
                  <a:pt x="57288" y="101336"/>
                </a:cubicBezTo>
                <a:lnTo>
                  <a:pt x="82527" y="76097"/>
                </a:lnTo>
                <a:lnTo>
                  <a:pt x="102265" y="95835"/>
                </a:lnTo>
                <a:cubicBezTo>
                  <a:pt x="106563" y="100133"/>
                  <a:pt x="113544" y="100133"/>
                  <a:pt x="117842" y="95835"/>
                </a:cubicBezTo>
                <a:lnTo>
                  <a:pt x="161856" y="5182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53" name="Text 39"/>
          <p:cNvSpPr/>
          <p:nvPr/>
        </p:nvSpPr>
        <p:spPr>
          <a:xfrm>
            <a:off x="6597215" y="3597957"/>
            <a:ext cx="5149690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算法复杂度分析</a:t>
            </a:r>
            <a:endParaRPr lang="en-US" sz="1600" dirty="0"/>
          </a:p>
        </p:txBody>
      </p:sp>
      <p:sp>
        <p:nvSpPr>
          <p:cNvPr id="54" name="Text 40"/>
          <p:cNvSpPr/>
          <p:nvPr/>
        </p:nvSpPr>
        <p:spPr>
          <a:xfrm>
            <a:off x="6377143" y="3950073"/>
            <a:ext cx="5352156" cy="228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理解</a:t>
            </a:r>
            <a:r>
              <a:rPr lang="en-US" sz="111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算法复杂度分析</a:t>
            </a: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的重要性和实际应用,能够评估算法性能。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6377143" y="4319794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6" name="Text 42"/>
          <p:cNvSpPr/>
          <p:nvPr/>
        </p:nvSpPr>
        <p:spPr>
          <a:xfrm>
            <a:off x="6565305" y="4284582"/>
            <a:ext cx="1980650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时间复杂度: 评估算法执行效率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6377143" y="4636698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6565305" y="4601486"/>
            <a:ext cx="1698957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空间复杂度: 评估内存占用</a:t>
            </a:r>
            <a:endParaRPr lang="en-US" sz="1600" dirty="0"/>
          </a:p>
        </p:txBody>
      </p:sp>
      <p:sp>
        <p:nvSpPr>
          <p:cNvPr id="59" name="Text 45"/>
          <p:cNvSpPr/>
          <p:nvPr/>
        </p:nvSpPr>
        <p:spPr>
          <a:xfrm>
            <a:off x="6377143" y="4953602"/>
            <a:ext cx="18486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60" name="Text 46"/>
          <p:cNvSpPr/>
          <p:nvPr/>
        </p:nvSpPr>
        <p:spPr>
          <a:xfrm>
            <a:off x="6565305" y="4918390"/>
            <a:ext cx="1980650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优化策略: 路径压缩、按秩合并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352116" y="5576165"/>
            <a:ext cx="11487769" cy="1241207"/>
          </a:xfrm>
          <a:custGeom>
            <a:avLst/>
            <a:gdLst/>
            <a:ahLst/>
            <a:cxnLst/>
            <a:rect l="l" t="t" r="r" b="b"/>
            <a:pathLst>
              <a:path w="11487769" h="1241207">
                <a:moveTo>
                  <a:pt x="70426" y="0"/>
                </a:moveTo>
                <a:lnTo>
                  <a:pt x="11417343" y="0"/>
                </a:lnTo>
                <a:cubicBezTo>
                  <a:pt x="11456238" y="0"/>
                  <a:pt x="11487769" y="31531"/>
                  <a:pt x="11487769" y="70426"/>
                </a:cubicBezTo>
                <a:lnTo>
                  <a:pt x="11487769" y="1170781"/>
                </a:lnTo>
                <a:cubicBezTo>
                  <a:pt x="11487769" y="1209676"/>
                  <a:pt x="11456238" y="1241207"/>
                  <a:pt x="11417343" y="1241207"/>
                </a:cubicBezTo>
                <a:lnTo>
                  <a:pt x="70426" y="1241207"/>
                </a:lnTo>
                <a:cubicBezTo>
                  <a:pt x="31531" y="1241207"/>
                  <a:pt x="0" y="1209676"/>
                  <a:pt x="0" y="1170781"/>
                </a:cubicBezTo>
                <a:lnTo>
                  <a:pt x="0" y="70426"/>
                </a:lnTo>
                <a:cubicBezTo>
                  <a:pt x="0" y="31557"/>
                  <a:pt x="31557" y="0"/>
                  <a:pt x="7042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62" name="Shape 48"/>
          <p:cNvSpPr/>
          <p:nvPr/>
        </p:nvSpPr>
        <p:spPr>
          <a:xfrm>
            <a:off x="561184" y="5787435"/>
            <a:ext cx="154051" cy="176058"/>
          </a:xfrm>
          <a:custGeom>
            <a:avLst/>
            <a:gdLst/>
            <a:ahLst/>
            <a:cxnLst/>
            <a:rect l="l" t="t" r="r" b="b"/>
            <a:pathLst>
              <a:path w="154051" h="176058">
                <a:moveTo>
                  <a:pt x="0" y="74274"/>
                </a:moveTo>
                <a:cubicBezTo>
                  <a:pt x="0" y="51476"/>
                  <a:pt x="18465" y="33011"/>
                  <a:pt x="41264" y="33011"/>
                </a:cubicBezTo>
                <a:lnTo>
                  <a:pt x="44014" y="33011"/>
                </a:lnTo>
                <a:cubicBezTo>
                  <a:pt x="50101" y="33011"/>
                  <a:pt x="55018" y="37928"/>
                  <a:pt x="55018" y="44014"/>
                </a:cubicBezTo>
                <a:cubicBezTo>
                  <a:pt x="55018" y="50101"/>
                  <a:pt x="50101" y="55018"/>
                  <a:pt x="44014" y="55018"/>
                </a:cubicBezTo>
                <a:lnTo>
                  <a:pt x="41264" y="55018"/>
                </a:lnTo>
                <a:cubicBezTo>
                  <a:pt x="30638" y="55018"/>
                  <a:pt x="22007" y="63649"/>
                  <a:pt x="22007" y="74274"/>
                </a:cubicBezTo>
                <a:lnTo>
                  <a:pt x="22007" y="77025"/>
                </a:lnTo>
                <a:lnTo>
                  <a:pt x="44014" y="77025"/>
                </a:lnTo>
                <a:cubicBezTo>
                  <a:pt x="56153" y="77025"/>
                  <a:pt x="66022" y="86894"/>
                  <a:pt x="66022" y="99032"/>
                </a:cubicBezTo>
                <a:lnTo>
                  <a:pt x="66022" y="121040"/>
                </a:lnTo>
                <a:cubicBezTo>
                  <a:pt x="66022" y="133178"/>
                  <a:pt x="56153" y="143047"/>
                  <a:pt x="44014" y="143047"/>
                </a:cubicBezTo>
                <a:lnTo>
                  <a:pt x="22007" y="143047"/>
                </a:lnTo>
                <a:cubicBezTo>
                  <a:pt x="9869" y="143047"/>
                  <a:pt x="0" y="133178"/>
                  <a:pt x="0" y="121040"/>
                </a:cubicBezTo>
                <a:lnTo>
                  <a:pt x="0" y="74274"/>
                </a:lnTo>
                <a:close/>
                <a:moveTo>
                  <a:pt x="88029" y="74274"/>
                </a:moveTo>
                <a:cubicBezTo>
                  <a:pt x="88029" y="51476"/>
                  <a:pt x="106494" y="33011"/>
                  <a:pt x="129292" y="33011"/>
                </a:cubicBezTo>
                <a:lnTo>
                  <a:pt x="132043" y="33011"/>
                </a:lnTo>
                <a:cubicBezTo>
                  <a:pt x="138130" y="33011"/>
                  <a:pt x="143047" y="37928"/>
                  <a:pt x="143047" y="44014"/>
                </a:cubicBezTo>
                <a:cubicBezTo>
                  <a:pt x="143047" y="50101"/>
                  <a:pt x="138130" y="55018"/>
                  <a:pt x="132043" y="55018"/>
                </a:cubicBezTo>
                <a:lnTo>
                  <a:pt x="129292" y="55018"/>
                </a:lnTo>
                <a:cubicBezTo>
                  <a:pt x="118667" y="55018"/>
                  <a:pt x="110036" y="63649"/>
                  <a:pt x="110036" y="74274"/>
                </a:cubicBezTo>
                <a:lnTo>
                  <a:pt x="110036" y="77025"/>
                </a:lnTo>
                <a:lnTo>
                  <a:pt x="132043" y="77025"/>
                </a:lnTo>
                <a:cubicBezTo>
                  <a:pt x="144182" y="77025"/>
                  <a:pt x="154051" y="86894"/>
                  <a:pt x="154051" y="99032"/>
                </a:cubicBezTo>
                <a:lnTo>
                  <a:pt x="154051" y="121040"/>
                </a:lnTo>
                <a:cubicBezTo>
                  <a:pt x="154051" y="133178"/>
                  <a:pt x="144182" y="143047"/>
                  <a:pt x="132043" y="143047"/>
                </a:cubicBezTo>
                <a:lnTo>
                  <a:pt x="110036" y="143047"/>
                </a:lnTo>
                <a:cubicBezTo>
                  <a:pt x="97898" y="143047"/>
                  <a:pt x="88029" y="133178"/>
                  <a:pt x="88029" y="121040"/>
                </a:cubicBezTo>
                <a:lnTo>
                  <a:pt x="88029" y="74274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63" name="Text 49"/>
          <p:cNvSpPr/>
          <p:nvPr/>
        </p:nvSpPr>
        <p:spPr>
          <a:xfrm>
            <a:off x="748246" y="5752223"/>
            <a:ext cx="11003610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关键学习思想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545779" y="6104339"/>
            <a:ext cx="5475396" cy="536976"/>
          </a:xfrm>
          <a:custGeom>
            <a:avLst/>
            <a:gdLst/>
            <a:ahLst/>
            <a:cxnLst/>
            <a:rect l="l" t="t" r="r" b="b"/>
            <a:pathLst>
              <a:path w="5475396" h="536976">
                <a:moveTo>
                  <a:pt x="35212" y="0"/>
                </a:moveTo>
                <a:lnTo>
                  <a:pt x="5404972" y="0"/>
                </a:lnTo>
                <a:cubicBezTo>
                  <a:pt x="5443866" y="0"/>
                  <a:pt x="5475396" y="31530"/>
                  <a:pt x="5475396" y="70424"/>
                </a:cubicBezTo>
                <a:lnTo>
                  <a:pt x="5475396" y="466552"/>
                </a:lnTo>
                <a:cubicBezTo>
                  <a:pt x="5475396" y="505446"/>
                  <a:pt x="5443866" y="536976"/>
                  <a:pt x="5404972" y="536976"/>
                </a:cubicBezTo>
                <a:lnTo>
                  <a:pt x="35212" y="536976"/>
                </a:lnTo>
                <a:cubicBezTo>
                  <a:pt x="15765" y="536976"/>
                  <a:pt x="0" y="521211"/>
                  <a:pt x="0" y="501765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5" name="Shape 51"/>
          <p:cNvSpPr/>
          <p:nvPr/>
        </p:nvSpPr>
        <p:spPr>
          <a:xfrm>
            <a:off x="545779" y="6104339"/>
            <a:ext cx="35212" cy="536976"/>
          </a:xfrm>
          <a:custGeom>
            <a:avLst/>
            <a:gdLst/>
            <a:ahLst/>
            <a:cxnLst/>
            <a:rect l="l" t="t" r="r" b="b"/>
            <a:pathLst>
              <a:path w="35212" h="536976">
                <a:moveTo>
                  <a:pt x="35212" y="0"/>
                </a:moveTo>
                <a:lnTo>
                  <a:pt x="35212" y="0"/>
                </a:lnTo>
                <a:lnTo>
                  <a:pt x="35212" y="536976"/>
                </a:lnTo>
                <a:lnTo>
                  <a:pt x="35212" y="536976"/>
                </a:lnTo>
                <a:cubicBezTo>
                  <a:pt x="15765" y="536976"/>
                  <a:pt x="0" y="521211"/>
                  <a:pt x="0" y="501765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66" name="Text 52"/>
          <p:cNvSpPr/>
          <p:nvPr/>
        </p:nvSpPr>
        <p:spPr>
          <a:xfrm>
            <a:off x="739443" y="6245185"/>
            <a:ext cx="5184901" cy="255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"复杂问题往往需要</a:t>
            </a:r>
            <a:r>
              <a:rPr lang="en-US" sz="125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多种数据结构</a:t>
            </a:r>
            <a:r>
              <a:rPr lang="en-US" sz="12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配合解决。"</a:t>
            </a:r>
            <a:endParaRPr lang="en-US" sz="1600" dirty="0"/>
          </a:p>
        </p:txBody>
      </p:sp>
      <p:sp>
        <p:nvSpPr>
          <p:cNvPr id="67" name="Shape 53"/>
          <p:cNvSpPr/>
          <p:nvPr/>
        </p:nvSpPr>
        <p:spPr>
          <a:xfrm>
            <a:off x="6183479" y="6104339"/>
            <a:ext cx="5475396" cy="536976"/>
          </a:xfrm>
          <a:custGeom>
            <a:avLst/>
            <a:gdLst/>
            <a:ahLst/>
            <a:cxnLst/>
            <a:rect l="l" t="t" r="r" b="b"/>
            <a:pathLst>
              <a:path w="5475396" h="536976">
                <a:moveTo>
                  <a:pt x="35212" y="0"/>
                </a:moveTo>
                <a:lnTo>
                  <a:pt x="5404972" y="0"/>
                </a:lnTo>
                <a:cubicBezTo>
                  <a:pt x="5443866" y="0"/>
                  <a:pt x="5475396" y="31530"/>
                  <a:pt x="5475396" y="70424"/>
                </a:cubicBezTo>
                <a:lnTo>
                  <a:pt x="5475396" y="466552"/>
                </a:lnTo>
                <a:cubicBezTo>
                  <a:pt x="5475396" y="505446"/>
                  <a:pt x="5443866" y="536976"/>
                  <a:pt x="5404972" y="536976"/>
                </a:cubicBezTo>
                <a:lnTo>
                  <a:pt x="35212" y="536976"/>
                </a:lnTo>
                <a:cubicBezTo>
                  <a:pt x="15765" y="536976"/>
                  <a:pt x="0" y="521211"/>
                  <a:pt x="0" y="501765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8" name="Shape 54"/>
          <p:cNvSpPr/>
          <p:nvPr/>
        </p:nvSpPr>
        <p:spPr>
          <a:xfrm>
            <a:off x="6183479" y="6104339"/>
            <a:ext cx="35212" cy="536976"/>
          </a:xfrm>
          <a:custGeom>
            <a:avLst/>
            <a:gdLst/>
            <a:ahLst/>
            <a:cxnLst/>
            <a:rect l="l" t="t" r="r" b="b"/>
            <a:pathLst>
              <a:path w="35212" h="536976">
                <a:moveTo>
                  <a:pt x="35212" y="0"/>
                </a:moveTo>
                <a:lnTo>
                  <a:pt x="35212" y="0"/>
                </a:lnTo>
                <a:lnTo>
                  <a:pt x="35212" y="536976"/>
                </a:lnTo>
                <a:lnTo>
                  <a:pt x="35212" y="536976"/>
                </a:lnTo>
                <a:cubicBezTo>
                  <a:pt x="15765" y="536976"/>
                  <a:pt x="0" y="521211"/>
                  <a:pt x="0" y="501765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69" name="Text 55"/>
          <p:cNvSpPr/>
          <p:nvPr/>
        </p:nvSpPr>
        <p:spPr>
          <a:xfrm>
            <a:off x="6377143" y="6245185"/>
            <a:ext cx="5184901" cy="255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"接口定义了系统的</a:t>
            </a:r>
            <a:r>
              <a:rPr lang="en-US" sz="125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'契约'</a:t>
            </a:r>
            <a:r>
              <a:rPr lang="en-US" sz="12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实现必须遵守这个契约。"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遇到的挑战与解决方案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400050" y="13716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400050" y="13716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Text 5"/>
          <p:cNvSpPr/>
          <p:nvPr/>
        </p:nvSpPr>
        <p:spPr>
          <a:xfrm>
            <a:off x="609600" y="1562100"/>
            <a:ext cx="529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🚪</a:t>
            </a: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挑战一: 房间重叠检测</a:t>
            </a:r>
            <a:endParaRPr lang="en-US" sz="1600" dirty="0"/>
          </a:p>
        </p:txBody>
      </p:sp>
      <p:sp>
        <p:nvSpPr>
          <p:cNvPr id="20" name="Text 6"/>
          <p:cNvSpPr/>
          <p:nvPr/>
        </p:nvSpPr>
        <p:spPr>
          <a:xfrm>
            <a:off x="609600" y="19812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随机生成的房间可能重叠,影响世界美观性和可玩性。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609600" y="234315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通过isOverlap函数实现缓冲距离检测,确保房间之间保持适当间距。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609600" y="2705100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571500"/>
                </a:lnTo>
                <a:cubicBezTo>
                  <a:pt x="5200650" y="592528"/>
                  <a:pt x="5183578" y="609600"/>
                  <a:pt x="51625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3" name="Text 9"/>
          <p:cNvSpPr/>
          <p:nvPr/>
        </p:nvSpPr>
        <p:spPr>
          <a:xfrm>
            <a:off x="723900" y="2819400"/>
            <a:ext cx="5038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关键思路: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在生成新房间前,遍历所有已存在房间,检查是否发生重叠。如果重叠则放弃该房间,重新生成。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400050" y="40005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25" name="Shape 11"/>
          <p:cNvSpPr/>
          <p:nvPr/>
        </p:nvSpPr>
        <p:spPr>
          <a:xfrm>
            <a:off x="40005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26" name="Text 12"/>
          <p:cNvSpPr/>
          <p:nvPr/>
        </p:nvSpPr>
        <p:spPr>
          <a:xfrm>
            <a:off x="609600" y="4191000"/>
            <a:ext cx="529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🔗</a:t>
            </a: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挑战二: 确保世界连通性</a:t>
            </a:r>
            <a:endParaRPr lang="en-US" sz="1600" dirty="0"/>
          </a:p>
        </p:txBody>
      </p:sp>
      <p:sp>
        <p:nvSpPr>
          <p:cNvPr id="27" name="Text 13"/>
          <p:cNvSpPr/>
          <p:nvPr/>
        </p:nvSpPr>
        <p:spPr>
          <a:xfrm>
            <a:off x="609600" y="46101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随机生成的房间可能不连通,玩家无法到达所有房间。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609600" y="497205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使用并查集管理连通分量,采用MST算法连接所有房间。</a:t>
            </a:r>
            <a:endParaRPr lang="en-US" sz="1600" dirty="0"/>
          </a:p>
        </p:txBody>
      </p:sp>
      <p:sp>
        <p:nvSpPr>
          <p:cNvPr id="29" name="Shape 15"/>
          <p:cNvSpPr/>
          <p:nvPr/>
        </p:nvSpPr>
        <p:spPr>
          <a:xfrm>
            <a:off x="609600" y="5334000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571500"/>
                </a:lnTo>
                <a:cubicBezTo>
                  <a:pt x="5200650" y="592528"/>
                  <a:pt x="5183578" y="609600"/>
                  <a:pt x="51625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0" name="Text 16"/>
          <p:cNvSpPr/>
          <p:nvPr/>
        </p:nvSpPr>
        <p:spPr>
          <a:xfrm>
            <a:off x="723900" y="5448300"/>
            <a:ext cx="5038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关键思路: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利用并查集高效检查连通性,使用Kruskal算法生成最小生成树,确保所有房间相互可达且无环。</a:t>
            </a:r>
            <a:endParaRPr lang="en-US" sz="1600" dirty="0"/>
          </a:p>
        </p:txBody>
      </p:sp>
      <p:sp>
        <p:nvSpPr>
          <p:cNvPr id="31" name="Shape 17"/>
          <p:cNvSpPr/>
          <p:nvPr/>
        </p:nvSpPr>
        <p:spPr>
          <a:xfrm>
            <a:off x="6210300" y="13716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2" name="Shape 18"/>
          <p:cNvSpPr/>
          <p:nvPr/>
        </p:nvSpPr>
        <p:spPr>
          <a:xfrm>
            <a:off x="6210300" y="13716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33" name="Text 19"/>
          <p:cNvSpPr/>
          <p:nvPr/>
        </p:nvSpPr>
        <p:spPr>
          <a:xfrm>
            <a:off x="6419850" y="1562100"/>
            <a:ext cx="529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🌱</a:t>
            </a: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挑战三: 确定性随机生成</a:t>
            </a:r>
            <a:endParaRPr lang="en-US" sz="1600" dirty="0"/>
          </a:p>
        </p:txBody>
      </p:sp>
      <p:sp>
        <p:nvSpPr>
          <p:cNvPr id="34" name="Text 20"/>
          <p:cNvSpPr/>
          <p:nvPr/>
        </p:nvSpPr>
        <p:spPr>
          <a:xfrm>
            <a:off x="6419850" y="19812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需要确保相同种子生成相同世界,便于调试和重现。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6419850" y="234315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使用LCG算法,基于种子生成可重复的随机序列。</a:t>
            </a:r>
            <a:endParaRPr lang="en-US" sz="1600" dirty="0"/>
          </a:p>
        </p:txBody>
      </p:sp>
      <p:sp>
        <p:nvSpPr>
          <p:cNvPr id="36" name="Shape 22"/>
          <p:cNvSpPr/>
          <p:nvPr/>
        </p:nvSpPr>
        <p:spPr>
          <a:xfrm>
            <a:off x="6419850" y="2705100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571500"/>
                </a:lnTo>
                <a:cubicBezTo>
                  <a:pt x="5200650" y="592528"/>
                  <a:pt x="5183578" y="609600"/>
                  <a:pt x="51625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7" name="Text 23"/>
          <p:cNvSpPr/>
          <p:nvPr/>
        </p:nvSpPr>
        <p:spPr>
          <a:xfrm>
            <a:off x="6534151" y="2819400"/>
            <a:ext cx="5038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关键思路: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LCG是确定性算法,给定相同的种子,总是产生相同的随机数序列,确保世界生成的可重复性。</a:t>
            </a:r>
            <a:endParaRPr lang="en-US" sz="1600" dirty="0"/>
          </a:p>
        </p:txBody>
      </p:sp>
      <p:sp>
        <p:nvSpPr>
          <p:cNvPr id="38" name="Shape 24"/>
          <p:cNvSpPr/>
          <p:nvPr/>
        </p:nvSpPr>
        <p:spPr>
          <a:xfrm>
            <a:off x="6210300" y="4000500"/>
            <a:ext cx="5600700" cy="2476500"/>
          </a:xfrm>
          <a:custGeom>
            <a:avLst/>
            <a:gdLst/>
            <a:ahLst/>
            <a:cxnLst/>
            <a:rect l="l" t="t" r="r" b="b"/>
            <a:pathLst>
              <a:path w="5600700" h="2476500">
                <a:moveTo>
                  <a:pt x="38100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2400298"/>
                </a:lnTo>
                <a:cubicBezTo>
                  <a:pt x="5600700" y="2442383"/>
                  <a:pt x="5566583" y="2476500"/>
                  <a:pt x="552449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9" name="Shape 25"/>
          <p:cNvSpPr/>
          <p:nvPr/>
        </p:nvSpPr>
        <p:spPr>
          <a:xfrm>
            <a:off x="6210300" y="40005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40" name="Text 26"/>
          <p:cNvSpPr/>
          <p:nvPr/>
        </p:nvSpPr>
        <p:spPr>
          <a:xfrm>
            <a:off x="6419850" y="4191000"/>
            <a:ext cx="529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🎮</a:t>
            </a: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挑战四: 玩家移动碰撞检测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6419850" y="461010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玩家可能穿墙或移动到非法位置,需要合理的碰撞检测机制。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6419850" y="4972050"/>
            <a:ext cx="52768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解决方案:</a:t>
            </a: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检查目标位置瓦片类型,只允许走到地板或空白区域。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6419850" y="5334000"/>
            <a:ext cx="5200650" cy="609600"/>
          </a:xfrm>
          <a:custGeom>
            <a:avLst/>
            <a:gdLst/>
            <a:ahLst/>
            <a:cxnLst/>
            <a:rect l="l" t="t" r="r" b="b"/>
            <a:pathLst>
              <a:path w="5200650" h="609600">
                <a:moveTo>
                  <a:pt x="38100" y="0"/>
                </a:moveTo>
                <a:lnTo>
                  <a:pt x="5162550" y="0"/>
                </a:lnTo>
                <a:cubicBezTo>
                  <a:pt x="5183578" y="0"/>
                  <a:pt x="5200650" y="17072"/>
                  <a:pt x="5200650" y="38100"/>
                </a:cubicBezTo>
                <a:lnTo>
                  <a:pt x="5200650" y="571500"/>
                </a:lnTo>
                <a:cubicBezTo>
                  <a:pt x="5200650" y="592528"/>
                  <a:pt x="5183578" y="609600"/>
                  <a:pt x="51625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4" name="Text 30"/>
          <p:cNvSpPr/>
          <p:nvPr/>
        </p:nvSpPr>
        <p:spPr>
          <a:xfrm>
            <a:off x="6534151" y="5448300"/>
            <a:ext cx="5038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关键思路: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在移动前检查目标位置,如果是墙壁则阻止移动,否则更新玩家位置并刷新地图显示。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62857" y="362857"/>
            <a:ext cx="11529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kern="0" spc="100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5" name="Text 1"/>
          <p:cNvSpPr/>
          <p:nvPr/>
        </p:nvSpPr>
        <p:spPr>
          <a:xfrm>
            <a:off x="362857" y="616857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未来优化与扩展方向</a:t>
            </a:r>
            <a:endParaRPr lang="en-US" sz="1600" dirty="0"/>
          </a:p>
        </p:txBody>
      </p:sp>
      <p:sp>
        <p:nvSpPr>
          <p:cNvPr id="16" name="Shape 2"/>
          <p:cNvSpPr/>
          <p:nvPr/>
        </p:nvSpPr>
        <p:spPr>
          <a:xfrm>
            <a:off x="362857" y="1088571"/>
            <a:ext cx="870857" cy="36286"/>
          </a:xfrm>
          <a:custGeom>
            <a:avLst/>
            <a:gdLst/>
            <a:ahLst/>
            <a:cxnLst/>
            <a:rect l="l" t="t" r="r" b="b"/>
            <a:pathLst>
              <a:path w="870857" h="36286">
                <a:moveTo>
                  <a:pt x="0" y="0"/>
                </a:moveTo>
                <a:lnTo>
                  <a:pt x="870857" y="0"/>
                </a:lnTo>
                <a:lnTo>
                  <a:pt x="870857" y="36286"/>
                </a:lnTo>
                <a:lnTo>
                  <a:pt x="0" y="36286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Shape 3"/>
          <p:cNvSpPr/>
          <p:nvPr/>
        </p:nvSpPr>
        <p:spPr>
          <a:xfrm>
            <a:off x="362857" y="1324429"/>
            <a:ext cx="5642429" cy="3719286"/>
          </a:xfrm>
          <a:custGeom>
            <a:avLst/>
            <a:gdLst/>
            <a:ahLst/>
            <a:cxnLst/>
            <a:rect l="l" t="t" r="r" b="b"/>
            <a:pathLst>
              <a:path w="5642429" h="3719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46722"/>
                </a:lnTo>
                <a:cubicBezTo>
                  <a:pt x="5642429" y="3686798"/>
                  <a:pt x="5609941" y="3719286"/>
                  <a:pt x="5569865" y="3719286"/>
                </a:cubicBezTo>
                <a:lnTo>
                  <a:pt x="72563" y="3719286"/>
                </a:lnTo>
                <a:cubicBezTo>
                  <a:pt x="32488" y="3719286"/>
                  <a:pt x="0" y="3686798"/>
                  <a:pt x="0" y="3646722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18" name="Shape 4"/>
          <p:cNvSpPr/>
          <p:nvPr/>
        </p:nvSpPr>
        <p:spPr>
          <a:xfrm>
            <a:off x="362857" y="1324429"/>
            <a:ext cx="5642429" cy="36286"/>
          </a:xfrm>
          <a:custGeom>
            <a:avLst/>
            <a:gdLst/>
            <a:ahLst/>
            <a:cxnLst/>
            <a:rect l="l" t="t" r="r" b="b"/>
            <a:pathLst>
              <a:path w="5642429" h="36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286"/>
                </a:lnTo>
                <a:lnTo>
                  <a:pt x="0" y="36286"/>
                </a:ln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19" name="Shape 5"/>
          <p:cNvSpPr/>
          <p:nvPr/>
        </p:nvSpPr>
        <p:spPr>
          <a:xfrm>
            <a:off x="566964" y="1560286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90714" y="181429"/>
                </a:moveTo>
                <a:cubicBezTo>
                  <a:pt x="140781" y="181429"/>
                  <a:pt x="181429" y="140781"/>
                  <a:pt x="181429" y="90714"/>
                </a:cubicBezTo>
                <a:cubicBezTo>
                  <a:pt x="181429" y="40648"/>
                  <a:pt x="140781" y="0"/>
                  <a:pt x="90714" y="0"/>
                </a:cubicBezTo>
                <a:cubicBezTo>
                  <a:pt x="40648" y="0"/>
                  <a:pt x="0" y="40648"/>
                  <a:pt x="0" y="90714"/>
                </a:cubicBezTo>
                <a:cubicBezTo>
                  <a:pt x="0" y="140781"/>
                  <a:pt x="40648" y="181429"/>
                  <a:pt x="90714" y="181429"/>
                </a:cubicBezTo>
                <a:close/>
                <a:moveTo>
                  <a:pt x="82210" y="121897"/>
                </a:moveTo>
                <a:lnTo>
                  <a:pt x="82210" y="99219"/>
                </a:lnTo>
                <a:lnTo>
                  <a:pt x="59531" y="99219"/>
                </a:lnTo>
                <a:cubicBezTo>
                  <a:pt x="54818" y="99219"/>
                  <a:pt x="51027" y="95427"/>
                  <a:pt x="51027" y="90714"/>
                </a:cubicBezTo>
                <a:cubicBezTo>
                  <a:pt x="51027" y="86001"/>
                  <a:pt x="54818" y="82210"/>
                  <a:pt x="59531" y="82210"/>
                </a:cubicBezTo>
                <a:lnTo>
                  <a:pt x="82210" y="82210"/>
                </a:lnTo>
                <a:lnTo>
                  <a:pt x="82210" y="59531"/>
                </a:lnTo>
                <a:cubicBezTo>
                  <a:pt x="82210" y="54818"/>
                  <a:pt x="86001" y="51027"/>
                  <a:pt x="90714" y="51027"/>
                </a:cubicBezTo>
                <a:cubicBezTo>
                  <a:pt x="95427" y="51027"/>
                  <a:pt x="99219" y="54818"/>
                  <a:pt x="99219" y="59531"/>
                </a:cubicBezTo>
                <a:lnTo>
                  <a:pt x="99219" y="82210"/>
                </a:lnTo>
                <a:lnTo>
                  <a:pt x="121897" y="82210"/>
                </a:lnTo>
                <a:cubicBezTo>
                  <a:pt x="126610" y="82210"/>
                  <a:pt x="130402" y="86001"/>
                  <a:pt x="130402" y="90714"/>
                </a:cubicBezTo>
                <a:cubicBezTo>
                  <a:pt x="130402" y="95427"/>
                  <a:pt x="126610" y="99219"/>
                  <a:pt x="121897" y="99219"/>
                </a:cubicBezTo>
                <a:lnTo>
                  <a:pt x="99219" y="99219"/>
                </a:lnTo>
                <a:lnTo>
                  <a:pt x="99219" y="121897"/>
                </a:lnTo>
                <a:cubicBezTo>
                  <a:pt x="99219" y="126610"/>
                  <a:pt x="95427" y="130402"/>
                  <a:pt x="90714" y="130402"/>
                </a:cubicBezTo>
                <a:cubicBezTo>
                  <a:pt x="86001" y="130402"/>
                  <a:pt x="82210" y="126610"/>
                  <a:pt x="82210" y="121897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20" name="Text 6"/>
          <p:cNvSpPr/>
          <p:nvPr/>
        </p:nvSpPr>
        <p:spPr>
          <a:xfrm>
            <a:off x="771071" y="1524000"/>
            <a:ext cx="514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功能扩展</a:t>
            </a:r>
            <a:endParaRPr lang="en-US" sz="1600" dirty="0"/>
          </a:p>
        </p:txBody>
      </p:sp>
      <p:sp>
        <p:nvSpPr>
          <p:cNvPr id="21" name="Shape 7"/>
          <p:cNvSpPr/>
          <p:nvPr/>
        </p:nvSpPr>
        <p:spPr>
          <a:xfrm>
            <a:off x="544286" y="1923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2" name="Text 8"/>
          <p:cNvSpPr/>
          <p:nvPr/>
        </p:nvSpPr>
        <p:spPr>
          <a:xfrm>
            <a:off x="689429" y="2032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Web前端可视化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689429" y="2286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实现HTTP服务器和HTML前端界面,提供更友好的用户体验</a:t>
            </a:r>
            <a:endParaRPr lang="en-US" sz="1600" dirty="0"/>
          </a:p>
        </p:txBody>
      </p:sp>
      <p:sp>
        <p:nvSpPr>
          <p:cNvPr id="24" name="Shape 10"/>
          <p:cNvSpPr/>
          <p:nvPr/>
        </p:nvSpPr>
        <p:spPr>
          <a:xfrm>
            <a:off x="544286" y="2685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5" name="Text 11"/>
          <p:cNvSpPr/>
          <p:nvPr/>
        </p:nvSpPr>
        <p:spPr>
          <a:xfrm>
            <a:off x="689429" y="2794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保存/加载功能</a:t>
            </a: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89429" y="3048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支持游戏状态的保存和加载,玩家可以中断游戏后继续</a:t>
            </a:r>
            <a:endParaRPr lang="en-US" sz="1600" dirty="0"/>
          </a:p>
        </p:txBody>
      </p:sp>
      <p:sp>
        <p:nvSpPr>
          <p:cNvPr id="27" name="Shape 13"/>
          <p:cNvSpPr/>
          <p:nvPr/>
        </p:nvSpPr>
        <p:spPr>
          <a:xfrm>
            <a:off x="544286" y="3447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28" name="Text 14"/>
          <p:cNvSpPr/>
          <p:nvPr/>
        </p:nvSpPr>
        <p:spPr>
          <a:xfrm>
            <a:off x="689429" y="3556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游戏机制扩展</a:t>
            </a:r>
            <a:endParaRPr lang="en-US" sz="1600" dirty="0"/>
          </a:p>
        </p:txBody>
      </p:sp>
      <p:sp>
        <p:nvSpPr>
          <p:cNvPr id="29" name="Text 15"/>
          <p:cNvSpPr/>
          <p:nvPr/>
        </p:nvSpPr>
        <p:spPr>
          <a:xfrm>
            <a:off x="689429" y="3810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添加输赢条件、道具系统、敌人AI等,增强游戏性</a:t>
            </a:r>
            <a:endParaRPr lang="en-US" sz="1600" dirty="0"/>
          </a:p>
        </p:txBody>
      </p:sp>
      <p:sp>
        <p:nvSpPr>
          <p:cNvPr id="30" name="Shape 16"/>
          <p:cNvSpPr/>
          <p:nvPr/>
        </p:nvSpPr>
        <p:spPr>
          <a:xfrm>
            <a:off x="544286" y="4209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1" name="Text 17"/>
          <p:cNvSpPr/>
          <p:nvPr/>
        </p:nvSpPr>
        <p:spPr>
          <a:xfrm>
            <a:off x="689429" y="4318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多玩家支持</a:t>
            </a:r>
            <a:endParaRPr lang="en-US" sz="1600" dirty="0"/>
          </a:p>
        </p:txBody>
      </p:sp>
      <p:sp>
        <p:nvSpPr>
          <p:cNvPr id="32" name="Text 18"/>
          <p:cNvSpPr/>
          <p:nvPr/>
        </p:nvSpPr>
        <p:spPr>
          <a:xfrm>
            <a:off x="689429" y="4572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支持多个玩家同时在线,实现实时协作或对战模式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6186714" y="1324429"/>
            <a:ext cx="5642429" cy="3719286"/>
          </a:xfrm>
          <a:custGeom>
            <a:avLst/>
            <a:gdLst/>
            <a:ahLst/>
            <a:cxnLst/>
            <a:rect l="l" t="t" r="r" b="b"/>
            <a:pathLst>
              <a:path w="5642429" h="3719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46722"/>
                </a:lnTo>
                <a:cubicBezTo>
                  <a:pt x="5642429" y="3686798"/>
                  <a:pt x="5609941" y="3719286"/>
                  <a:pt x="5569865" y="3719286"/>
                </a:cubicBezTo>
                <a:lnTo>
                  <a:pt x="72563" y="3719286"/>
                </a:lnTo>
                <a:cubicBezTo>
                  <a:pt x="32488" y="3719286"/>
                  <a:pt x="0" y="3686798"/>
                  <a:pt x="0" y="3646722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34" name="Shape 20"/>
          <p:cNvSpPr/>
          <p:nvPr/>
        </p:nvSpPr>
        <p:spPr>
          <a:xfrm>
            <a:off x="6186714" y="1324429"/>
            <a:ext cx="5642429" cy="36286"/>
          </a:xfrm>
          <a:custGeom>
            <a:avLst/>
            <a:gdLst/>
            <a:ahLst/>
            <a:cxnLst/>
            <a:rect l="l" t="t" r="r" b="b"/>
            <a:pathLst>
              <a:path w="5642429" h="36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286"/>
                </a:lnTo>
                <a:lnTo>
                  <a:pt x="0" y="36286"/>
                </a:ln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5" name="Shape 21"/>
          <p:cNvSpPr/>
          <p:nvPr/>
        </p:nvSpPr>
        <p:spPr>
          <a:xfrm>
            <a:off x="6390822" y="1560286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9" y="40648"/>
                  <a:pt x="181429" y="90714"/>
                </a:cubicBezTo>
                <a:cubicBezTo>
                  <a:pt x="181429" y="140781"/>
                  <a:pt x="140781" y="181429"/>
                  <a:pt x="90714" y="181429"/>
                </a:cubicBezTo>
                <a:cubicBezTo>
                  <a:pt x="40648" y="181429"/>
                  <a:pt x="0" y="140781"/>
                  <a:pt x="0" y="90714"/>
                </a:cubicBezTo>
                <a:close/>
                <a:moveTo>
                  <a:pt x="102054" y="34018"/>
                </a:moveTo>
                <a:cubicBezTo>
                  <a:pt x="102054" y="27760"/>
                  <a:pt x="96973" y="22679"/>
                  <a:pt x="90714" y="22679"/>
                </a:cubicBezTo>
                <a:cubicBezTo>
                  <a:pt x="84456" y="22679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4" y="40276"/>
                  <a:pt x="102054" y="34018"/>
                </a:cubicBezTo>
                <a:close/>
                <a:moveTo>
                  <a:pt x="90714" y="147411"/>
                </a:moveTo>
                <a:cubicBezTo>
                  <a:pt x="103223" y="147411"/>
                  <a:pt x="113393" y="137241"/>
                  <a:pt x="113393" y="124732"/>
                </a:cubicBezTo>
                <a:cubicBezTo>
                  <a:pt x="113393" y="118992"/>
                  <a:pt x="111267" y="113712"/>
                  <a:pt x="107723" y="109743"/>
                </a:cubicBezTo>
                <a:lnTo>
                  <a:pt x="132351" y="60523"/>
                </a:lnTo>
                <a:cubicBezTo>
                  <a:pt x="134441" y="56307"/>
                  <a:pt x="132741" y="51204"/>
                  <a:pt x="128559" y="49113"/>
                </a:cubicBezTo>
                <a:cubicBezTo>
                  <a:pt x="124378" y="47023"/>
                  <a:pt x="119240" y="48723"/>
                  <a:pt x="117149" y="52905"/>
                </a:cubicBezTo>
                <a:lnTo>
                  <a:pt x="92521" y="102124"/>
                </a:lnTo>
                <a:cubicBezTo>
                  <a:pt x="91919" y="102089"/>
                  <a:pt x="91317" y="102054"/>
                  <a:pt x="90714" y="102054"/>
                </a:cubicBezTo>
                <a:cubicBezTo>
                  <a:pt x="78206" y="102054"/>
                  <a:pt x="68036" y="112223"/>
                  <a:pt x="68036" y="124732"/>
                </a:cubicBezTo>
                <a:cubicBezTo>
                  <a:pt x="68036" y="137241"/>
                  <a:pt x="78206" y="147411"/>
                  <a:pt x="90714" y="147411"/>
                </a:cubicBezTo>
                <a:close/>
                <a:moveTo>
                  <a:pt x="62366" y="51027"/>
                </a:moveTo>
                <a:cubicBezTo>
                  <a:pt x="62366" y="44768"/>
                  <a:pt x="57285" y="39688"/>
                  <a:pt x="51027" y="39688"/>
                </a:cubicBezTo>
                <a:cubicBezTo>
                  <a:pt x="44768" y="39688"/>
                  <a:pt x="39688" y="44768"/>
                  <a:pt x="39688" y="51027"/>
                </a:cubicBezTo>
                <a:cubicBezTo>
                  <a:pt x="39688" y="57285"/>
                  <a:pt x="44768" y="62366"/>
                  <a:pt x="51027" y="62366"/>
                </a:cubicBezTo>
                <a:cubicBezTo>
                  <a:pt x="57285" y="62366"/>
                  <a:pt x="62366" y="57285"/>
                  <a:pt x="62366" y="51027"/>
                </a:cubicBezTo>
                <a:close/>
                <a:moveTo>
                  <a:pt x="34018" y="102054"/>
                </a:moveTo>
                <a:cubicBezTo>
                  <a:pt x="40276" y="102054"/>
                  <a:pt x="45357" y="96973"/>
                  <a:pt x="45357" y="90714"/>
                </a:cubicBez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9" y="84456"/>
                  <a:pt x="22679" y="90714"/>
                </a:cubicBezTo>
                <a:cubicBezTo>
                  <a:pt x="22679" y="96973"/>
                  <a:pt x="27760" y="102054"/>
                  <a:pt x="34018" y="102054"/>
                </a:cubicBezTo>
                <a:close/>
                <a:moveTo>
                  <a:pt x="158750" y="90714"/>
                </a:moveTo>
                <a:cubicBezTo>
                  <a:pt x="158750" y="84456"/>
                  <a:pt x="153669" y="79375"/>
                  <a:pt x="147411" y="79375"/>
                </a:cubicBezTo>
                <a:cubicBezTo>
                  <a:pt x="141152" y="79375"/>
                  <a:pt x="136071" y="84456"/>
                  <a:pt x="136071" y="90714"/>
                </a:cubicBezTo>
                <a:cubicBezTo>
                  <a:pt x="136071" y="96973"/>
                  <a:pt x="141152" y="102054"/>
                  <a:pt x="147411" y="102054"/>
                </a:cubicBezTo>
                <a:cubicBezTo>
                  <a:pt x="153669" y="102054"/>
                  <a:pt x="158750" y="96973"/>
                  <a:pt x="158750" y="90714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36" name="Text 22"/>
          <p:cNvSpPr/>
          <p:nvPr/>
        </p:nvSpPr>
        <p:spPr>
          <a:xfrm>
            <a:off x="6594929" y="1524000"/>
            <a:ext cx="514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算法优化</a:t>
            </a:r>
            <a:endParaRPr lang="en-US" sz="1600" dirty="0"/>
          </a:p>
        </p:txBody>
      </p:sp>
      <p:sp>
        <p:nvSpPr>
          <p:cNvPr id="37" name="Shape 23"/>
          <p:cNvSpPr/>
          <p:nvPr/>
        </p:nvSpPr>
        <p:spPr>
          <a:xfrm>
            <a:off x="6368143" y="1923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38" name="Text 24"/>
          <p:cNvSpPr/>
          <p:nvPr/>
        </p:nvSpPr>
        <p:spPr>
          <a:xfrm>
            <a:off x="6513286" y="2032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完整Kruskal实现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6513286" y="2286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使用优先级队列存储所有边,按权重排序后构建MST</a:t>
            </a:r>
            <a:endParaRPr lang="en-US" sz="1600" dirty="0"/>
          </a:p>
        </p:txBody>
      </p:sp>
      <p:sp>
        <p:nvSpPr>
          <p:cNvPr id="40" name="Shape 26"/>
          <p:cNvSpPr/>
          <p:nvPr/>
        </p:nvSpPr>
        <p:spPr>
          <a:xfrm>
            <a:off x="6368143" y="2685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1" name="Text 27"/>
          <p:cNvSpPr/>
          <p:nvPr/>
        </p:nvSpPr>
        <p:spPr>
          <a:xfrm>
            <a:off x="6513286" y="2794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智能走廊生成</a:t>
            </a:r>
            <a:endParaRPr lang="en-US" sz="1600" dirty="0"/>
          </a:p>
        </p:txBody>
      </p:sp>
      <p:sp>
        <p:nvSpPr>
          <p:cNvPr id="42" name="Text 28"/>
          <p:cNvSpPr/>
          <p:nvPr/>
        </p:nvSpPr>
        <p:spPr>
          <a:xfrm>
            <a:off x="6513286" y="3048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优化走廊路径选择,避免穿过其他房间,生成更自然的连接</a:t>
            </a:r>
            <a:endParaRPr lang="en-US" sz="1600" dirty="0"/>
          </a:p>
        </p:txBody>
      </p:sp>
      <p:sp>
        <p:nvSpPr>
          <p:cNvPr id="43" name="Shape 29"/>
          <p:cNvSpPr/>
          <p:nvPr/>
        </p:nvSpPr>
        <p:spPr>
          <a:xfrm>
            <a:off x="6368143" y="3447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4" name="Text 30"/>
          <p:cNvSpPr/>
          <p:nvPr/>
        </p:nvSpPr>
        <p:spPr>
          <a:xfrm>
            <a:off x="6513286" y="3556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更多生成算法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6513286" y="3810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实现洞穴生成、迷宫算法等,提供更多样化的世界类型</a:t>
            </a:r>
            <a:endParaRPr lang="en-US" sz="1600" dirty="0"/>
          </a:p>
        </p:txBody>
      </p:sp>
      <p:sp>
        <p:nvSpPr>
          <p:cNvPr id="46" name="Shape 32"/>
          <p:cNvSpPr/>
          <p:nvPr/>
        </p:nvSpPr>
        <p:spPr>
          <a:xfrm>
            <a:off x="6368143" y="4209143"/>
            <a:ext cx="5279571" cy="653143"/>
          </a:xfrm>
          <a:custGeom>
            <a:avLst/>
            <a:gdLst/>
            <a:ahLst/>
            <a:cxnLst/>
            <a:rect l="l" t="t" r="r" b="b"/>
            <a:pathLst>
              <a:path w="5279571" h="653143">
                <a:moveTo>
                  <a:pt x="36289" y="0"/>
                </a:moveTo>
                <a:lnTo>
                  <a:pt x="5243283" y="0"/>
                </a:lnTo>
                <a:cubicBezTo>
                  <a:pt x="5263324" y="0"/>
                  <a:pt x="5279571" y="16247"/>
                  <a:pt x="5279571" y="36289"/>
                </a:cubicBezTo>
                <a:lnTo>
                  <a:pt x="5279571" y="616854"/>
                </a:lnTo>
                <a:cubicBezTo>
                  <a:pt x="5279571" y="636896"/>
                  <a:pt x="5263324" y="653143"/>
                  <a:pt x="5243283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47" name="Text 33"/>
          <p:cNvSpPr/>
          <p:nvPr/>
        </p:nvSpPr>
        <p:spPr>
          <a:xfrm>
            <a:off x="6513286" y="4318000"/>
            <a:ext cx="5061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A*路径查找</a:t>
            </a:r>
            <a:endParaRPr lang="en-US" sz="1600" dirty="0"/>
          </a:p>
        </p:txBody>
      </p:sp>
      <p:sp>
        <p:nvSpPr>
          <p:cNvPr id="48" name="Text 34"/>
          <p:cNvSpPr/>
          <p:nvPr/>
        </p:nvSpPr>
        <p:spPr>
          <a:xfrm>
            <a:off x="6513286" y="4572000"/>
            <a:ext cx="5052786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使用A*算法替代BFS,支持启发式搜索,提升路径查找效率</a:t>
            </a:r>
            <a:endParaRPr lang="en-US" sz="1600" dirty="0"/>
          </a:p>
        </p:txBody>
      </p:sp>
      <p:sp>
        <p:nvSpPr>
          <p:cNvPr id="49" name="Shape 35"/>
          <p:cNvSpPr/>
          <p:nvPr/>
        </p:nvSpPr>
        <p:spPr>
          <a:xfrm>
            <a:off x="362857" y="5243286"/>
            <a:ext cx="5642429" cy="1614714"/>
          </a:xfrm>
          <a:custGeom>
            <a:avLst/>
            <a:gdLst/>
            <a:ahLst/>
            <a:cxnLst/>
            <a:rect l="l" t="t" r="r" b="b"/>
            <a:pathLst>
              <a:path w="5642429" h="1614714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1542149"/>
                </a:lnTo>
                <a:cubicBezTo>
                  <a:pt x="5642429" y="1582226"/>
                  <a:pt x="5609940" y="1614714"/>
                  <a:pt x="5569863" y="1614714"/>
                </a:cubicBezTo>
                <a:lnTo>
                  <a:pt x="72565" y="1614714"/>
                </a:lnTo>
                <a:cubicBezTo>
                  <a:pt x="32489" y="1614714"/>
                  <a:pt x="0" y="1582226"/>
                  <a:pt x="0" y="154214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50" name="Shape 36"/>
          <p:cNvSpPr/>
          <p:nvPr/>
        </p:nvSpPr>
        <p:spPr>
          <a:xfrm>
            <a:off x="362857" y="5243286"/>
            <a:ext cx="5642429" cy="36286"/>
          </a:xfrm>
          <a:custGeom>
            <a:avLst/>
            <a:gdLst/>
            <a:ahLst/>
            <a:cxnLst/>
            <a:rect l="l" t="t" r="r" b="b"/>
            <a:pathLst>
              <a:path w="5642429" h="36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286"/>
                </a:lnTo>
                <a:lnTo>
                  <a:pt x="0" y="36286"/>
                </a:ln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1" name="Shape 37"/>
          <p:cNvSpPr/>
          <p:nvPr/>
        </p:nvSpPr>
        <p:spPr>
          <a:xfrm>
            <a:off x="566964" y="5479143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45357" y="113393"/>
                </a:moveTo>
                <a:lnTo>
                  <a:pt x="8682" y="113393"/>
                </a:lnTo>
                <a:cubicBezTo>
                  <a:pt x="-142" y="113393"/>
                  <a:pt x="-5563" y="103790"/>
                  <a:pt x="-1028" y="96207"/>
                </a:cubicBezTo>
                <a:lnTo>
                  <a:pt x="17718" y="64953"/>
                </a:lnTo>
                <a:cubicBezTo>
                  <a:pt x="20801" y="59815"/>
                  <a:pt x="26328" y="56696"/>
                  <a:pt x="32317" y="56696"/>
                </a:cubicBezTo>
                <a:lnTo>
                  <a:pt x="65980" y="56696"/>
                </a:lnTo>
                <a:cubicBezTo>
                  <a:pt x="92947" y="11020"/>
                  <a:pt x="133166" y="8717"/>
                  <a:pt x="160061" y="12650"/>
                </a:cubicBezTo>
                <a:cubicBezTo>
                  <a:pt x="164597" y="13324"/>
                  <a:pt x="168140" y="16867"/>
                  <a:pt x="168778" y="21367"/>
                </a:cubicBezTo>
                <a:cubicBezTo>
                  <a:pt x="172711" y="48263"/>
                  <a:pt x="170408" y="88482"/>
                  <a:pt x="124732" y="115448"/>
                </a:cubicBezTo>
                <a:lnTo>
                  <a:pt x="124732" y="149112"/>
                </a:lnTo>
                <a:cubicBezTo>
                  <a:pt x="124732" y="155100"/>
                  <a:pt x="121614" y="160628"/>
                  <a:pt x="116476" y="163711"/>
                </a:cubicBezTo>
                <a:lnTo>
                  <a:pt x="85222" y="182456"/>
                </a:lnTo>
                <a:cubicBezTo>
                  <a:pt x="77674" y="186992"/>
                  <a:pt x="68036" y="181535"/>
                  <a:pt x="68036" y="172747"/>
                </a:cubicBezTo>
                <a:lnTo>
                  <a:pt x="68036" y="136071"/>
                </a:lnTo>
                <a:cubicBezTo>
                  <a:pt x="68036" y="123563"/>
                  <a:pt x="57866" y="113393"/>
                  <a:pt x="45357" y="113393"/>
                </a:cubicBezTo>
                <a:lnTo>
                  <a:pt x="45322" y="113393"/>
                </a:lnTo>
                <a:close/>
                <a:moveTo>
                  <a:pt x="141741" y="56696"/>
                </a:moveTo>
                <a:cubicBezTo>
                  <a:pt x="141741" y="47309"/>
                  <a:pt x="134120" y="39688"/>
                  <a:pt x="124732" y="39688"/>
                </a:cubicBezTo>
                <a:cubicBezTo>
                  <a:pt x="115345" y="39688"/>
                  <a:pt x="107723" y="47309"/>
                  <a:pt x="107723" y="56696"/>
                </a:cubicBezTo>
                <a:cubicBezTo>
                  <a:pt x="107723" y="66084"/>
                  <a:pt x="115345" y="73705"/>
                  <a:pt x="124732" y="73705"/>
                </a:cubicBezTo>
                <a:cubicBezTo>
                  <a:pt x="134120" y="73705"/>
                  <a:pt x="141741" y="66084"/>
                  <a:pt x="141741" y="56696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52" name="Text 38"/>
          <p:cNvSpPr/>
          <p:nvPr/>
        </p:nvSpPr>
        <p:spPr>
          <a:xfrm>
            <a:off x="771071" y="5442857"/>
            <a:ext cx="514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53" name="Shape 39"/>
          <p:cNvSpPr/>
          <p:nvPr/>
        </p:nvSpPr>
        <p:spPr>
          <a:xfrm>
            <a:off x="544286" y="5842000"/>
            <a:ext cx="2585357" cy="834571"/>
          </a:xfrm>
          <a:custGeom>
            <a:avLst/>
            <a:gdLst/>
            <a:ahLst/>
            <a:cxnLst/>
            <a:rect l="l" t="t" r="r" b="b"/>
            <a:pathLst>
              <a:path w="2585357" h="834571">
                <a:moveTo>
                  <a:pt x="36287" y="0"/>
                </a:moveTo>
                <a:lnTo>
                  <a:pt x="2549070" y="0"/>
                </a:lnTo>
                <a:cubicBezTo>
                  <a:pt x="2569111" y="0"/>
                  <a:pt x="2585357" y="16246"/>
                  <a:pt x="2585357" y="36287"/>
                </a:cubicBezTo>
                <a:lnTo>
                  <a:pt x="2585357" y="798284"/>
                </a:lnTo>
                <a:cubicBezTo>
                  <a:pt x="2585357" y="818325"/>
                  <a:pt x="2569111" y="834571"/>
                  <a:pt x="2549070" y="834571"/>
                </a:cubicBezTo>
                <a:lnTo>
                  <a:pt x="36287" y="834571"/>
                </a:lnTo>
                <a:cubicBezTo>
                  <a:pt x="16246" y="834571"/>
                  <a:pt x="0" y="818325"/>
                  <a:pt x="0" y="798284"/>
                </a:cubicBezTo>
                <a:lnTo>
                  <a:pt x="0" y="36287"/>
                </a:lnTo>
                <a:cubicBezTo>
                  <a:pt x="0" y="16260"/>
                  <a:pt x="16260" y="0"/>
                  <a:pt x="3628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4" name="Text 40"/>
          <p:cNvSpPr/>
          <p:nvPr/>
        </p:nvSpPr>
        <p:spPr>
          <a:xfrm>
            <a:off x="689429" y="5950857"/>
            <a:ext cx="2367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内存管理优化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689429" y="6204857"/>
            <a:ext cx="2358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使用内存池、对象复用等技术减少内存分配开销</a:t>
            </a:r>
            <a:endParaRPr lang="en-US" sz="1600" dirty="0"/>
          </a:p>
        </p:txBody>
      </p:sp>
      <p:sp>
        <p:nvSpPr>
          <p:cNvPr id="56" name="Shape 42"/>
          <p:cNvSpPr/>
          <p:nvPr/>
        </p:nvSpPr>
        <p:spPr>
          <a:xfrm>
            <a:off x="3238500" y="5842000"/>
            <a:ext cx="2585357" cy="834571"/>
          </a:xfrm>
          <a:custGeom>
            <a:avLst/>
            <a:gdLst/>
            <a:ahLst/>
            <a:cxnLst/>
            <a:rect l="l" t="t" r="r" b="b"/>
            <a:pathLst>
              <a:path w="2585357" h="834571">
                <a:moveTo>
                  <a:pt x="36287" y="0"/>
                </a:moveTo>
                <a:lnTo>
                  <a:pt x="2549070" y="0"/>
                </a:lnTo>
                <a:cubicBezTo>
                  <a:pt x="2569111" y="0"/>
                  <a:pt x="2585357" y="16246"/>
                  <a:pt x="2585357" y="36287"/>
                </a:cubicBezTo>
                <a:lnTo>
                  <a:pt x="2585357" y="798284"/>
                </a:lnTo>
                <a:cubicBezTo>
                  <a:pt x="2585357" y="818325"/>
                  <a:pt x="2569111" y="834571"/>
                  <a:pt x="2549070" y="834571"/>
                </a:cubicBezTo>
                <a:lnTo>
                  <a:pt x="36287" y="834571"/>
                </a:lnTo>
                <a:cubicBezTo>
                  <a:pt x="16246" y="834571"/>
                  <a:pt x="0" y="818325"/>
                  <a:pt x="0" y="798284"/>
                </a:cubicBezTo>
                <a:lnTo>
                  <a:pt x="0" y="36287"/>
                </a:lnTo>
                <a:cubicBezTo>
                  <a:pt x="0" y="16260"/>
                  <a:pt x="16260" y="0"/>
                  <a:pt x="36287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57" name="Text 43"/>
          <p:cNvSpPr/>
          <p:nvPr/>
        </p:nvSpPr>
        <p:spPr>
          <a:xfrm>
            <a:off x="3383643" y="5950857"/>
            <a:ext cx="2367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大规模世界生成</a:t>
            </a:r>
            <a:endParaRPr lang="en-US" sz="1600" dirty="0"/>
          </a:p>
        </p:txBody>
      </p:sp>
      <p:sp>
        <p:nvSpPr>
          <p:cNvPr id="58" name="Text 44"/>
          <p:cNvSpPr/>
          <p:nvPr/>
        </p:nvSpPr>
        <p:spPr>
          <a:xfrm>
            <a:off x="3383643" y="6204857"/>
            <a:ext cx="2358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优化算法实现,支持更大规模的世界(1000x1000+)</a:t>
            </a:r>
            <a:endParaRPr lang="en-US" sz="1600" dirty="0"/>
          </a:p>
        </p:txBody>
      </p:sp>
      <p:sp>
        <p:nvSpPr>
          <p:cNvPr id="59" name="Shape 45"/>
          <p:cNvSpPr/>
          <p:nvPr/>
        </p:nvSpPr>
        <p:spPr>
          <a:xfrm>
            <a:off x="6186714" y="5243286"/>
            <a:ext cx="5642429" cy="1614714"/>
          </a:xfrm>
          <a:custGeom>
            <a:avLst/>
            <a:gdLst/>
            <a:ahLst/>
            <a:cxnLst/>
            <a:rect l="l" t="t" r="r" b="b"/>
            <a:pathLst>
              <a:path w="5642429" h="1614714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1542149"/>
                </a:lnTo>
                <a:cubicBezTo>
                  <a:pt x="5642429" y="1582226"/>
                  <a:pt x="5609940" y="1614714"/>
                  <a:pt x="5569863" y="1614714"/>
                </a:cubicBezTo>
                <a:lnTo>
                  <a:pt x="72565" y="1614714"/>
                </a:lnTo>
                <a:cubicBezTo>
                  <a:pt x="32489" y="1614714"/>
                  <a:pt x="0" y="1582226"/>
                  <a:pt x="0" y="1542149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A2A2A"/>
          </a:solidFill>
        </p:spPr>
      </p:sp>
      <p:sp>
        <p:nvSpPr>
          <p:cNvPr id="60" name="Shape 46"/>
          <p:cNvSpPr/>
          <p:nvPr/>
        </p:nvSpPr>
        <p:spPr>
          <a:xfrm>
            <a:off x="6186714" y="5243286"/>
            <a:ext cx="5642429" cy="36286"/>
          </a:xfrm>
          <a:custGeom>
            <a:avLst/>
            <a:gdLst/>
            <a:ahLst/>
            <a:cxnLst/>
            <a:rect l="l" t="t" r="r" b="b"/>
            <a:pathLst>
              <a:path w="5642429" h="36286">
                <a:moveTo>
                  <a:pt x="36286" y="0"/>
                </a:moveTo>
                <a:lnTo>
                  <a:pt x="5606143" y="0"/>
                </a:lnTo>
                <a:cubicBezTo>
                  <a:pt x="5626183" y="0"/>
                  <a:pt x="5642429" y="16246"/>
                  <a:pt x="5642429" y="36286"/>
                </a:cubicBezTo>
                <a:lnTo>
                  <a:pt x="5642429" y="36286"/>
                </a:lnTo>
                <a:lnTo>
                  <a:pt x="0" y="36286"/>
                </a:ln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61" name="Shape 47"/>
          <p:cNvSpPr/>
          <p:nvPr/>
        </p:nvSpPr>
        <p:spPr>
          <a:xfrm>
            <a:off x="6390822" y="5479143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81429" y="90714"/>
                </a:moveTo>
                <a:cubicBezTo>
                  <a:pt x="181429" y="91033"/>
                  <a:pt x="181429" y="91352"/>
                  <a:pt x="181429" y="91671"/>
                </a:cubicBezTo>
                <a:cubicBezTo>
                  <a:pt x="181287" y="104605"/>
                  <a:pt x="169522" y="113393"/>
                  <a:pt x="156588" y="113393"/>
                </a:cubicBezTo>
                <a:lnTo>
                  <a:pt x="121897" y="113393"/>
                </a:lnTo>
                <a:cubicBezTo>
                  <a:pt x="112507" y="113393"/>
                  <a:pt x="104888" y="121011"/>
                  <a:pt x="104888" y="130402"/>
                </a:cubicBezTo>
                <a:cubicBezTo>
                  <a:pt x="104888" y="131607"/>
                  <a:pt x="105030" y="132776"/>
                  <a:pt x="105243" y="133910"/>
                </a:cubicBezTo>
                <a:cubicBezTo>
                  <a:pt x="105987" y="137524"/>
                  <a:pt x="107546" y="140997"/>
                  <a:pt x="109070" y="144505"/>
                </a:cubicBezTo>
                <a:cubicBezTo>
                  <a:pt x="111231" y="149395"/>
                  <a:pt x="113357" y="154250"/>
                  <a:pt x="113357" y="159388"/>
                </a:cubicBezTo>
                <a:cubicBezTo>
                  <a:pt x="113357" y="170656"/>
                  <a:pt x="105703" y="180897"/>
                  <a:pt x="94435" y="181358"/>
                </a:cubicBezTo>
                <a:cubicBezTo>
                  <a:pt x="93195" y="181393"/>
                  <a:pt x="91955" y="181429"/>
                  <a:pt x="90679" y="181429"/>
                </a:cubicBezTo>
                <a:cubicBezTo>
                  <a:pt x="40573" y="181429"/>
                  <a:pt x="-35" y="140820"/>
                  <a:pt x="-35" y="90714"/>
                </a:cubicBezTo>
                <a:cubicBezTo>
                  <a:pt x="-35" y="40609"/>
                  <a:pt x="40609" y="0"/>
                  <a:pt x="90714" y="0"/>
                </a:cubicBezTo>
                <a:cubicBezTo>
                  <a:pt x="140820" y="0"/>
                  <a:pt x="181429" y="40609"/>
                  <a:pt x="181429" y="90714"/>
                </a:cubicBezTo>
                <a:close/>
                <a:moveTo>
                  <a:pt x="45357" y="102054"/>
                </a:moveTo>
                <a:cubicBezTo>
                  <a:pt x="45357" y="95795"/>
                  <a:pt x="40276" y="90714"/>
                  <a:pt x="34018" y="90714"/>
                </a:cubicBezTo>
                <a:cubicBezTo>
                  <a:pt x="27760" y="90714"/>
                  <a:pt x="22679" y="95795"/>
                  <a:pt x="22679" y="102054"/>
                </a:cubicBezTo>
                <a:cubicBezTo>
                  <a:pt x="22679" y="108312"/>
                  <a:pt x="27760" y="113393"/>
                  <a:pt x="34018" y="113393"/>
                </a:cubicBezTo>
                <a:cubicBezTo>
                  <a:pt x="40276" y="113393"/>
                  <a:pt x="45357" y="108312"/>
                  <a:pt x="45357" y="102054"/>
                </a:cubicBezTo>
                <a:close/>
                <a:moveTo>
                  <a:pt x="45357" y="68036"/>
                </a:moveTo>
                <a:cubicBezTo>
                  <a:pt x="51615" y="68036"/>
                  <a:pt x="56696" y="62955"/>
                  <a:pt x="56696" y="56696"/>
                </a:cubicBezTo>
                <a:cubicBezTo>
                  <a:pt x="56696" y="50438"/>
                  <a:pt x="51615" y="45357"/>
                  <a:pt x="45357" y="45357"/>
                </a:cubicBezTo>
                <a:cubicBezTo>
                  <a:pt x="39099" y="45357"/>
                  <a:pt x="34018" y="50438"/>
                  <a:pt x="34018" y="56696"/>
                </a:cubicBezTo>
                <a:cubicBezTo>
                  <a:pt x="34018" y="62955"/>
                  <a:pt x="39099" y="68036"/>
                  <a:pt x="45357" y="68036"/>
                </a:cubicBezTo>
                <a:close/>
                <a:moveTo>
                  <a:pt x="102054" y="34018"/>
                </a:moveTo>
                <a:cubicBezTo>
                  <a:pt x="102054" y="27760"/>
                  <a:pt x="96973" y="22679"/>
                  <a:pt x="90714" y="22679"/>
                </a:cubicBezTo>
                <a:cubicBezTo>
                  <a:pt x="84456" y="22679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4" y="40276"/>
                  <a:pt x="102054" y="34018"/>
                </a:cubicBezTo>
                <a:close/>
                <a:moveTo>
                  <a:pt x="136071" y="68036"/>
                </a:moveTo>
                <a:cubicBezTo>
                  <a:pt x="142330" y="68036"/>
                  <a:pt x="147411" y="62955"/>
                  <a:pt x="147411" y="56696"/>
                </a:cubicBezTo>
                <a:cubicBezTo>
                  <a:pt x="147411" y="50438"/>
                  <a:pt x="142330" y="45357"/>
                  <a:pt x="136071" y="45357"/>
                </a:cubicBezTo>
                <a:cubicBezTo>
                  <a:pt x="129813" y="45357"/>
                  <a:pt x="124732" y="50438"/>
                  <a:pt x="124732" y="56696"/>
                </a:cubicBezTo>
                <a:cubicBezTo>
                  <a:pt x="124732" y="62955"/>
                  <a:pt x="129813" y="68036"/>
                  <a:pt x="136071" y="68036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62" name="Text 48"/>
          <p:cNvSpPr/>
          <p:nvPr/>
        </p:nvSpPr>
        <p:spPr>
          <a:xfrm>
            <a:off x="6594929" y="5442857"/>
            <a:ext cx="514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可视化增强</a:t>
            </a:r>
            <a:endParaRPr lang="en-US" sz="1600" dirty="0"/>
          </a:p>
        </p:txBody>
      </p:sp>
      <p:sp>
        <p:nvSpPr>
          <p:cNvPr id="63" name="Shape 49"/>
          <p:cNvSpPr/>
          <p:nvPr/>
        </p:nvSpPr>
        <p:spPr>
          <a:xfrm>
            <a:off x="6368143" y="5842000"/>
            <a:ext cx="2585357" cy="653143"/>
          </a:xfrm>
          <a:custGeom>
            <a:avLst/>
            <a:gdLst/>
            <a:ahLst/>
            <a:cxnLst/>
            <a:rect l="l" t="t" r="r" b="b"/>
            <a:pathLst>
              <a:path w="2585357" h="653143">
                <a:moveTo>
                  <a:pt x="36289" y="0"/>
                </a:moveTo>
                <a:lnTo>
                  <a:pt x="2549069" y="0"/>
                </a:lnTo>
                <a:cubicBezTo>
                  <a:pt x="2569110" y="0"/>
                  <a:pt x="2585357" y="16247"/>
                  <a:pt x="2585357" y="36289"/>
                </a:cubicBezTo>
                <a:lnTo>
                  <a:pt x="2585357" y="616854"/>
                </a:lnTo>
                <a:cubicBezTo>
                  <a:pt x="2585357" y="636896"/>
                  <a:pt x="2569110" y="653143"/>
                  <a:pt x="2549069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4" name="Text 50"/>
          <p:cNvSpPr/>
          <p:nvPr/>
        </p:nvSpPr>
        <p:spPr>
          <a:xfrm>
            <a:off x="6513286" y="5950857"/>
            <a:ext cx="2367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改进UI界面</a:t>
            </a:r>
            <a:endParaRPr lang="en-US" sz="1600" dirty="0"/>
          </a:p>
        </p:txBody>
      </p:sp>
      <p:sp>
        <p:nvSpPr>
          <p:cNvPr id="65" name="Text 51"/>
          <p:cNvSpPr/>
          <p:nvPr/>
        </p:nvSpPr>
        <p:spPr>
          <a:xfrm>
            <a:off x="6513286" y="6204857"/>
            <a:ext cx="2358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使用现代UI框架,提供更美观的界面设计</a:t>
            </a:r>
            <a:endParaRPr lang="en-US" sz="1600" dirty="0"/>
          </a:p>
        </p:txBody>
      </p:sp>
      <p:sp>
        <p:nvSpPr>
          <p:cNvPr id="66" name="Shape 52"/>
          <p:cNvSpPr/>
          <p:nvPr/>
        </p:nvSpPr>
        <p:spPr>
          <a:xfrm>
            <a:off x="9062358" y="5842000"/>
            <a:ext cx="2585357" cy="653143"/>
          </a:xfrm>
          <a:custGeom>
            <a:avLst/>
            <a:gdLst/>
            <a:ahLst/>
            <a:cxnLst/>
            <a:rect l="l" t="t" r="r" b="b"/>
            <a:pathLst>
              <a:path w="2585357" h="653143">
                <a:moveTo>
                  <a:pt x="36289" y="0"/>
                </a:moveTo>
                <a:lnTo>
                  <a:pt x="2549069" y="0"/>
                </a:lnTo>
                <a:cubicBezTo>
                  <a:pt x="2569110" y="0"/>
                  <a:pt x="2585357" y="16247"/>
                  <a:pt x="2585357" y="36289"/>
                </a:cubicBezTo>
                <a:lnTo>
                  <a:pt x="2585357" y="616854"/>
                </a:lnTo>
                <a:cubicBezTo>
                  <a:pt x="2585357" y="636896"/>
                  <a:pt x="2569110" y="653143"/>
                  <a:pt x="2549069" y="653143"/>
                </a:cubicBezTo>
                <a:lnTo>
                  <a:pt x="36289" y="653143"/>
                </a:lnTo>
                <a:cubicBezTo>
                  <a:pt x="16247" y="653143"/>
                  <a:pt x="0" y="636896"/>
                  <a:pt x="0" y="616854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67" name="Text 53"/>
          <p:cNvSpPr/>
          <p:nvPr/>
        </p:nvSpPr>
        <p:spPr>
          <a:xfrm>
            <a:off x="9207501" y="5950857"/>
            <a:ext cx="2367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动画效果</a:t>
            </a:r>
            <a:endParaRPr lang="en-US" sz="1600" dirty="0"/>
          </a:p>
        </p:txBody>
      </p:sp>
      <p:sp>
        <p:nvSpPr>
          <p:cNvPr id="68" name="Text 54"/>
          <p:cNvSpPr/>
          <p:nvPr/>
        </p:nvSpPr>
        <p:spPr>
          <a:xfrm>
            <a:off x="9207501" y="6204857"/>
            <a:ext cx="2358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添加平滑的动画过渡,提升用户体验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8:33:57-d3jov58s8jdo4os5dp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461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8:33:57-d3jov58s8jdo4os5dpc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168" y="617584"/>
            <a:ext cx="69432" cy="19249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8:33:58-d3jov5gs8jdo4os5dpd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413" y="779312"/>
            <a:ext cx="150924" cy="197472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8:33:58-d3jov5gs8jdo4os5dpe0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73" y="779312"/>
            <a:ext cx="150924" cy="197472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8:33:58-d3jov5gs8jdo4os5dpeg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59" y="715411"/>
            <a:ext cx="201887" cy="11078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10-09-18:33:58-d3jov5gs8jdo4os5dpf0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11" y="717097"/>
            <a:ext cx="201887" cy="110785"/>
          </a:xfrm>
          <a:prstGeom prst="rect">
            <a:avLst/>
          </a:prstGeom>
        </p:spPr>
      </p:pic>
      <p:pic>
        <p:nvPicPr>
          <p:cNvPr id="14" name="Image 12" descr="https://kimi-web-img.moonshot.cn/img/www.shutterstock.com/143fd5a564b95258dfd5c06bee416d6247f68d09.jpg"/>
          <p:cNvPicPr>
            <a:picLocks noChangeAspect="1"/>
          </p:cNvPicPr>
          <p:nvPr/>
        </p:nvPicPr>
        <p:blipFill>
          <a:blip r:embed="rId12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5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4500">
                  <a:alpha val="20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95000"/>
                </a:srgbClr>
              </a:gs>
            </a:gsLst>
            <a:lin ang="2700000" scaled="1"/>
          </a:gradFill>
        </p:spPr>
      </p:sp>
      <p:sp>
        <p:nvSpPr>
          <p:cNvPr id="16" name="Text 1"/>
          <p:cNvSpPr/>
          <p:nvPr/>
        </p:nvSpPr>
        <p:spPr>
          <a:xfrm>
            <a:off x="4038600" y="838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谢谢聆听</a:t>
            </a:r>
            <a:endParaRPr lang="en-US" sz="1600" dirty="0"/>
          </a:p>
        </p:txBody>
      </p:sp>
      <p:sp>
        <p:nvSpPr>
          <p:cNvPr id="17" name="Shape 2"/>
          <p:cNvSpPr/>
          <p:nvPr/>
        </p:nvSpPr>
        <p:spPr>
          <a:xfrm>
            <a:off x="5181600" y="20574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4500"/>
          </a:solidFill>
        </p:spPr>
      </p:sp>
      <p:sp>
        <p:nvSpPr>
          <p:cNvPr id="18" name="Text 3"/>
          <p:cNvSpPr/>
          <p:nvPr/>
        </p:nvSpPr>
        <p:spPr>
          <a:xfrm>
            <a:off x="3782531" y="2514600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8C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 Your Own World</a:t>
            </a:r>
            <a:endParaRPr lang="en-US" sz="1600" dirty="0"/>
          </a:p>
        </p:txBody>
      </p:sp>
      <p:sp>
        <p:nvSpPr>
          <p:cNvPr id="19" name="Text 4"/>
          <p:cNvSpPr/>
          <p:nvPr/>
        </p:nvSpPr>
        <p:spPr>
          <a:xfrm>
            <a:off x="4305300" y="3200400"/>
            <a:ext cx="35814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D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 Your Knowledge!</a:t>
            </a:r>
            <a:endParaRPr lang="en-US" sz="1600" dirty="0"/>
          </a:p>
        </p:txBody>
      </p:sp>
      <p:pic>
        <p:nvPicPr>
          <p:cNvPr id="30" name="Image 6" descr="https://kimi-img.moonshot.cn/pub/slides/slides_tmpl/image/25-10-09-18:33:58-d3jov5gs8jdo4os5dpg0.sv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7205" y="6019463"/>
            <a:ext cx="69432" cy="192493"/>
          </a:xfrm>
          <a:prstGeom prst="rect">
            <a:avLst/>
          </a:prstGeom>
        </p:spPr>
      </p:pic>
      <p:pic>
        <p:nvPicPr>
          <p:cNvPr id="31" name="Image 7" descr="https://kimi-img.moonshot.cn/pub/slides/slides_tmpl/image/25-10-09-18:33:58-d3jov5gs8jdo4os5dpfg.sv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8451" y="6181191"/>
            <a:ext cx="150924" cy="197472"/>
          </a:xfrm>
          <a:prstGeom prst="rect">
            <a:avLst/>
          </a:prstGeom>
        </p:spPr>
      </p:pic>
      <p:pic>
        <p:nvPicPr>
          <p:cNvPr id="32" name="Image 8" descr="https://kimi-img.moonshot.cn/pub/slides/slides_tmpl/image/25-10-09-18:33:58-d3jov5gs8jdo4os5dpgg.sv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6211" y="6181191"/>
            <a:ext cx="150924" cy="197472"/>
          </a:xfrm>
          <a:prstGeom prst="rect">
            <a:avLst/>
          </a:prstGeom>
        </p:spPr>
      </p:pic>
      <p:pic>
        <p:nvPicPr>
          <p:cNvPr id="33" name="Image 9" descr="https://kimi-img.moonshot.cn/pub/slides/slides_tmpl/image/25-10-09-18:33:58-d3jov5gs8jdo4os5dphg.sv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4496" y="6117289"/>
            <a:ext cx="201887" cy="110785"/>
          </a:xfrm>
          <a:prstGeom prst="rect">
            <a:avLst/>
          </a:prstGeom>
        </p:spPr>
      </p:pic>
      <p:pic>
        <p:nvPicPr>
          <p:cNvPr id="34" name="Image 10" descr="https://kimi-img.moonshot.cn/pub/slides/slides_tmpl/image/25-10-09-18:33:58-d3jov5gs8jdo4os5dpi0.sv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6248" y="6118976"/>
            <a:ext cx="201887" cy="110785"/>
          </a:xfrm>
          <a:prstGeom prst="rect">
            <a:avLst/>
          </a:prstGeom>
        </p:spPr>
      </p:pic>
      <p:pic>
        <p:nvPicPr>
          <p:cNvPr id="35" name="Image 11" descr="https://kimi-img.moonshot.cn/pub/slides/slides_tmpl/image/25-10-09-18:33:58-d3jov5gs8jdo4os5dpig.sv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3944" y="6375016"/>
            <a:ext cx="3003535" cy="12699"/>
          </a:xfrm>
          <a:prstGeom prst="rect">
            <a:avLst/>
          </a:prstGeom>
        </p:spPr>
      </p:pic>
      <p:sp>
        <p:nvSpPr>
          <p:cNvPr id="36" name="Shape 7"/>
          <p:cNvSpPr/>
          <p:nvPr/>
        </p:nvSpPr>
        <p:spPr>
          <a:xfrm>
            <a:off x="2768544" y="4724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4500"/>
          </a:solidFill>
        </p:spPr>
      </p:sp>
      <p:sp>
        <p:nvSpPr>
          <p:cNvPr id="37" name="Shape 8"/>
          <p:cNvSpPr/>
          <p:nvPr/>
        </p:nvSpPr>
        <p:spPr>
          <a:xfrm>
            <a:off x="3009050" y="4962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9"/>
          <p:cNvSpPr/>
          <p:nvPr/>
        </p:nvSpPr>
        <p:spPr>
          <a:xfrm>
            <a:off x="1781175" y="5638800"/>
            <a:ext cx="2733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45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图结构</a:t>
            </a:r>
            <a:endParaRPr lang="en-US" sz="1600" dirty="0"/>
          </a:p>
        </p:txBody>
      </p:sp>
      <p:sp>
        <p:nvSpPr>
          <p:cNvPr id="39" name="Text 10"/>
          <p:cNvSpPr/>
          <p:nvPr/>
        </p:nvSpPr>
        <p:spPr>
          <a:xfrm>
            <a:off x="1790700" y="5981700"/>
            <a:ext cx="2714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邻接表表示连接关系</a:t>
            </a:r>
            <a:endParaRPr lang="en-US" sz="1600" dirty="0"/>
          </a:p>
        </p:txBody>
      </p:sp>
      <p:sp>
        <p:nvSpPr>
          <p:cNvPr id="40" name="Shape 11"/>
          <p:cNvSpPr/>
          <p:nvPr/>
        </p:nvSpPr>
        <p:spPr>
          <a:xfrm>
            <a:off x="5714915" y="4724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8C00"/>
          </a:solidFill>
        </p:spPr>
      </p:sp>
      <p:sp>
        <p:nvSpPr>
          <p:cNvPr id="41" name="Shape 12"/>
          <p:cNvSpPr/>
          <p:nvPr/>
        </p:nvSpPr>
        <p:spPr>
          <a:xfrm>
            <a:off x="5937562" y="49625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34125" y="53578"/>
                </a:moveTo>
                <a:cubicBezTo>
                  <a:pt x="224861" y="53578"/>
                  <a:pt x="215875" y="56090"/>
                  <a:pt x="208006" y="60666"/>
                </a:cubicBezTo>
                <a:cubicBezTo>
                  <a:pt x="199188" y="51736"/>
                  <a:pt x="188919" y="44258"/>
                  <a:pt x="177589" y="38621"/>
                </a:cubicBezTo>
                <a:cubicBezTo>
                  <a:pt x="193328" y="25226"/>
                  <a:pt x="213364" y="17859"/>
                  <a:pt x="234125" y="17859"/>
                </a:cubicBezTo>
                <a:cubicBezTo>
                  <a:pt x="282346" y="17859"/>
                  <a:pt x="321469" y="56927"/>
                  <a:pt x="321469" y="105203"/>
                </a:cubicBezTo>
                <a:cubicBezTo>
                  <a:pt x="321469" y="128364"/>
                  <a:pt x="312260" y="150577"/>
                  <a:pt x="295908" y="166929"/>
                </a:cubicBezTo>
                <a:lnTo>
                  <a:pt x="256226" y="206611"/>
                </a:lnTo>
                <a:cubicBezTo>
                  <a:pt x="239874" y="222963"/>
                  <a:pt x="217661" y="232172"/>
                  <a:pt x="194500" y="232172"/>
                </a:cubicBezTo>
                <a:cubicBezTo>
                  <a:pt x="146279" y="232172"/>
                  <a:pt x="107156" y="193104"/>
                  <a:pt x="107156" y="144828"/>
                </a:cubicBezTo>
                <a:cubicBezTo>
                  <a:pt x="107156" y="143991"/>
                  <a:pt x="107156" y="143154"/>
                  <a:pt x="107212" y="142317"/>
                </a:cubicBezTo>
                <a:cubicBezTo>
                  <a:pt x="107491" y="132438"/>
                  <a:pt x="115695" y="124681"/>
                  <a:pt x="125574" y="124960"/>
                </a:cubicBezTo>
                <a:cubicBezTo>
                  <a:pt x="135452" y="125239"/>
                  <a:pt x="143210" y="133443"/>
                  <a:pt x="142931" y="143321"/>
                </a:cubicBezTo>
                <a:cubicBezTo>
                  <a:pt x="142931" y="143824"/>
                  <a:pt x="142931" y="144326"/>
                  <a:pt x="142931" y="144773"/>
                </a:cubicBezTo>
                <a:cubicBezTo>
                  <a:pt x="142931" y="173292"/>
                  <a:pt x="166036" y="196397"/>
                  <a:pt x="194556" y="196397"/>
                </a:cubicBezTo>
                <a:cubicBezTo>
                  <a:pt x="208229" y="196397"/>
                  <a:pt x="221345" y="190984"/>
                  <a:pt x="231056" y="181273"/>
                </a:cubicBezTo>
                <a:lnTo>
                  <a:pt x="270737" y="141591"/>
                </a:lnTo>
                <a:cubicBezTo>
                  <a:pt x="280392" y="131936"/>
                  <a:pt x="285862" y="118765"/>
                  <a:pt x="285862" y="105091"/>
                </a:cubicBezTo>
                <a:cubicBezTo>
                  <a:pt x="285862" y="76572"/>
                  <a:pt x="262756" y="53467"/>
                  <a:pt x="234237" y="53467"/>
                </a:cubicBezTo>
                <a:close/>
                <a:moveTo>
                  <a:pt x="153591" y="96720"/>
                </a:moveTo>
                <a:cubicBezTo>
                  <a:pt x="152530" y="96273"/>
                  <a:pt x="151470" y="95659"/>
                  <a:pt x="150521" y="94990"/>
                </a:cubicBezTo>
                <a:cubicBezTo>
                  <a:pt x="143489" y="91362"/>
                  <a:pt x="135452" y="89297"/>
                  <a:pt x="127025" y="89297"/>
                </a:cubicBezTo>
                <a:cubicBezTo>
                  <a:pt x="113351" y="89297"/>
                  <a:pt x="100236" y="94710"/>
                  <a:pt x="90525" y="104422"/>
                </a:cubicBezTo>
                <a:lnTo>
                  <a:pt x="50843" y="144103"/>
                </a:lnTo>
                <a:cubicBezTo>
                  <a:pt x="41188" y="153758"/>
                  <a:pt x="35719" y="166929"/>
                  <a:pt x="35719" y="180603"/>
                </a:cubicBezTo>
                <a:cubicBezTo>
                  <a:pt x="35719" y="209122"/>
                  <a:pt x="58824" y="232228"/>
                  <a:pt x="87344" y="232228"/>
                </a:cubicBezTo>
                <a:cubicBezTo>
                  <a:pt x="96552" y="232228"/>
                  <a:pt x="105538" y="229772"/>
                  <a:pt x="113407" y="225196"/>
                </a:cubicBezTo>
                <a:cubicBezTo>
                  <a:pt x="122225" y="234125"/>
                  <a:pt x="132494" y="241604"/>
                  <a:pt x="143880" y="247241"/>
                </a:cubicBezTo>
                <a:cubicBezTo>
                  <a:pt x="128141" y="260579"/>
                  <a:pt x="108161" y="268002"/>
                  <a:pt x="87344" y="268002"/>
                </a:cubicBezTo>
                <a:cubicBezTo>
                  <a:pt x="39123" y="268002"/>
                  <a:pt x="0" y="228935"/>
                  <a:pt x="0" y="180659"/>
                </a:cubicBezTo>
                <a:cubicBezTo>
                  <a:pt x="0" y="157497"/>
                  <a:pt x="9209" y="135285"/>
                  <a:pt x="25561" y="118932"/>
                </a:cubicBezTo>
                <a:lnTo>
                  <a:pt x="65243" y="79251"/>
                </a:lnTo>
                <a:cubicBezTo>
                  <a:pt x="81595" y="62898"/>
                  <a:pt x="103808" y="53690"/>
                  <a:pt x="126969" y="53690"/>
                </a:cubicBezTo>
                <a:cubicBezTo>
                  <a:pt x="175301" y="53690"/>
                  <a:pt x="214313" y="93092"/>
                  <a:pt x="214313" y="141256"/>
                </a:cubicBezTo>
                <a:cubicBezTo>
                  <a:pt x="214313" y="141982"/>
                  <a:pt x="214313" y="142708"/>
                  <a:pt x="214313" y="143433"/>
                </a:cubicBezTo>
                <a:cubicBezTo>
                  <a:pt x="214089" y="153312"/>
                  <a:pt x="205885" y="161069"/>
                  <a:pt x="196007" y="160846"/>
                </a:cubicBezTo>
                <a:cubicBezTo>
                  <a:pt x="186128" y="160623"/>
                  <a:pt x="178371" y="152419"/>
                  <a:pt x="178594" y="142540"/>
                </a:cubicBezTo>
                <a:cubicBezTo>
                  <a:pt x="178594" y="142094"/>
                  <a:pt x="178594" y="141703"/>
                  <a:pt x="178594" y="141256"/>
                </a:cubicBezTo>
                <a:cubicBezTo>
                  <a:pt x="178594" y="122448"/>
                  <a:pt x="168548" y="105928"/>
                  <a:pt x="153591" y="968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13"/>
          <p:cNvSpPr/>
          <p:nvPr/>
        </p:nvSpPr>
        <p:spPr>
          <a:xfrm>
            <a:off x="4727547" y="5638800"/>
            <a:ext cx="2733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8C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并查集</a:t>
            </a:r>
            <a:endParaRPr lang="en-US" sz="1600" dirty="0"/>
          </a:p>
        </p:txBody>
      </p:sp>
      <p:sp>
        <p:nvSpPr>
          <p:cNvPr id="43" name="Text 14"/>
          <p:cNvSpPr/>
          <p:nvPr/>
        </p:nvSpPr>
        <p:spPr>
          <a:xfrm>
            <a:off x="4737072" y="5981700"/>
            <a:ext cx="2714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高效管理连通性</a:t>
            </a:r>
            <a:endParaRPr lang="en-US" sz="1600" dirty="0"/>
          </a:p>
        </p:txBody>
      </p:sp>
      <p:sp>
        <p:nvSpPr>
          <p:cNvPr id="44" name="Shape 15"/>
          <p:cNvSpPr/>
          <p:nvPr/>
        </p:nvSpPr>
        <p:spPr>
          <a:xfrm>
            <a:off x="8661372" y="4724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45" name="Shape 16"/>
          <p:cNvSpPr/>
          <p:nvPr/>
        </p:nvSpPr>
        <p:spPr>
          <a:xfrm>
            <a:off x="8901878" y="4962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46" name="Text 17"/>
          <p:cNvSpPr/>
          <p:nvPr/>
        </p:nvSpPr>
        <p:spPr>
          <a:xfrm>
            <a:off x="7673919" y="5638800"/>
            <a:ext cx="2733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D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BFS算法</a:t>
            </a:r>
            <a:endParaRPr lang="en-US" sz="1600" dirty="0"/>
          </a:p>
        </p:txBody>
      </p:sp>
      <p:sp>
        <p:nvSpPr>
          <p:cNvPr id="47" name="Text 18"/>
          <p:cNvSpPr/>
          <p:nvPr/>
        </p:nvSpPr>
        <p:spPr>
          <a:xfrm>
            <a:off x="7683444" y="5981700"/>
            <a:ext cx="2714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最短路径查找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12910</Words>
  <Application>WPS 演示</Application>
  <PresentationFormat>On-screen Show (16:9)</PresentationFormat>
  <Paragraphs>1349</Paragraphs>
  <Slides>27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MiSans</vt:lpstr>
      <vt:lpstr>MiSans</vt:lpstr>
      <vt:lpstr>阿里妈妈数黑体</vt:lpstr>
      <vt:lpstr>阿里妈妈数黑体</vt:lpstr>
      <vt:lpstr>Calibri</vt:lpstr>
      <vt:lpstr>微软雅黑</vt:lpstr>
      <vt:lpstr>Arial Unicode MS</vt:lpstr>
      <vt:lpstr>等线</vt:lpstr>
      <vt:lpstr>微软雅黑</vt:lpstr>
      <vt:lpstr>Liter</vt:lpstr>
      <vt:lpstr>Liter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BYOW数据结构课程项目答辩</dc:title>
  <dc:creator>Kimi</dc:creator>
  <dc:subject>BYOW数据结构课程项目答辩</dc:subject>
  <cp:lastModifiedBy>邢佳乐</cp:lastModifiedBy>
  <cp:revision>3</cp:revision>
  <dcterms:created xsi:type="dcterms:W3CDTF">2026-01-03T05:47:00Z</dcterms:created>
  <dcterms:modified xsi:type="dcterms:W3CDTF">2026-01-03T06:50:25Z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YOW数据结构课程项目答辩","ContentProducer":"001191110108MACG2KBH8F10000","ProduceID":"19b82354-3c02-8be8-8000-0000385c529b","ReservedCode1":"","ContentPropagator":"001191110108MACG2KBH8F20000","PropagateID":"19b82354-3c02-8be8-8000-0000385c529b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A46C23EBA56D4C0EB554F8B1BD68026B_12</vt:lpwstr>
  </property>
</Properties>
</file>